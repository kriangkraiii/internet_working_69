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82" r:id="rId12"/>
    <p:sldId id="266" r:id="rId13"/>
    <p:sldId id="267" r:id="rId14"/>
    <p:sldId id="268" r:id="rId15"/>
    <p:sldId id="269" r:id="rId16"/>
    <p:sldId id="270" r:id="rId17"/>
    <p:sldId id="271" r:id="rId18"/>
    <p:sldId id="272" r:id="rId19"/>
    <p:sldId id="273" r:id="rId20"/>
    <p:sldId id="281" r:id="rId21"/>
    <p:sldId id="274" r:id="rId22"/>
    <p:sldId id="275" r:id="rId23"/>
    <p:sldId id="276" r:id="rId24"/>
    <p:sldId id="277" r:id="rId25"/>
    <p:sldId id="278" r:id="rId26"/>
    <p:sldId id="279" r:id="rId27"/>
    <p:sldId id="28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3"/>
    <p:restoredTop sz="94610"/>
  </p:normalViewPr>
  <p:slideViewPr>
    <p:cSldViewPr snapToGrid="0" snapToObjects="1">
      <p:cViewPr varScale="1">
        <p:scale>
          <a:sx n="169" d="100"/>
          <a:sy n="169" d="100"/>
        </p:scale>
        <p:origin x="216"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975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~20 วินาที] สวัสดีครับ/ค่ะ กลุ่ม 9 นำเสนอหัวข้อ Introduction to Automation Tools จาก CCNP Enterprise Core บทที่ 29 เราจะพาดูทั้งทฤษฎีของ EEM, เครื่องมือแบบ Agent-based และ Agentless จากนั้นสาธิตบนแลบ Cisco Modeling Labs (DevNet Sandbox) จริง พร้อมจำลองปัญหาและแก้ไข ปิดท้ายด้วยการเปรียบเทียบและทิศทางในอนาคต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วินาที] การนำเสนอแบ่งเป็น 5 ส่วนตามที่กำหนด โดยส่วนที่ 3 (สาธิตและแก้ปัญหา) ใช้เวลามากที่สุดประมาณ 40% ผู้นำเสนอแต่ละส่วนสามารถแบ่งตามสมาชิก 4 คนได้ เช่น คนที่ 1 ส่วนที่ 1–2, คนที่ 2–3 ส่วนที่ 3, คนที่ 4 ส่วนที่ 4–5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[ส่วนที่ 1 · ~40 วินาที] ปัญหาหลักของการตั้งค่าด้วยมือมี 4 ข้อ: งานซ้ำ, human error/drift, ตอบสนองช้า และตรวจสอบย้อนหลังยาก ตำราบทที่ 29 ยกตัวอย่างงานที่ควร automate เช่น device name/IP, QoS, ACL, username/password, SNMP และ compliance Gartner (ก.ย. 2024) คาดว่าภายในปี 2026 องค์กร 30% จะ automate งานเครือข่ายเกินครึ่ง จากไม่ถึง 10% ในกลางปี 2023 เป้าหมายของเครื่องมือจึงเป็น ความเร็ว ความสม่ำเสมอ การตอบสนองอัตโนมัติ และการตรวจสอบได้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วินาที] แบ่งเครื่องมือเป็น 3 กลุ่ม: (1) On-box คือ EEM ที่ทำงานภายในอุปกรณ์ ไม่ต้องพึ่ง server; (2) Agent-based คือ Puppet, Chef, SaltStack ต้องติดตั้ง agent/minion แล้ว agent จะติดต่อ server เพื่อดึง desired state (pull) — Salt ใช้ ZeroMQ event bus พอร์ต 4505/4506; (3) Agentless คือ Ansible, Puppet Bolt, Salt SSH ส่งคำสั่งผ่าน SSH/WinRM จาก control node (push) เหมาะกับ router/switch เพราะติดตั้ง agent ไม่ได้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วินาที] EEM ประกอบด้วย 3 ชั้น: Event Detector (เช่น syslog, cli, timer, interface, snmp, track) ตรวจจับเหตุการณ์จาก subsystem ของ IOS, EEM Server รับ event แล้วจับคู่กับ policy ที่ลงทะเบียนไว้ และ Policy Director สั่งรัน action ของ Applet หรือ Tcl policy ตัวอย่าง applet (ปรับจาก Example 29-1): ถ้าเจอ syslog ว่า Loopback0 down ให้สั่ง no shutdown แล้วส่ง syslog แจ้ง หมายเหตุ: ตัวอย่างในตำราสั่ง shutdown แล้ว no shutdown ซึ่งจะสร้าง syslog “down” ซ้ำและทำให้ applet ถูกเรียกซ้ำ เราจึงตัด shutdown ออก จุดที่มักพลาด: action label เรียงแบบตัวอักษร, ต้องมี enable ก่อน, และ maxrun ค่าเริ่มต้น 20 วินาที</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วินาที] เครื่องมือแบบ agent-based ทำงานเป็นรอบ: (1) agent ส่ง facts ให้ server (2) server compile manifests เป็น catalog (3) agent apply เฉพาะส่วนที่ต่าง (idempotent) (4) ส่ง report เก็บใน PuppetDB ทำให้ตรวจ drift และแก้กลับอัตโนมัติได้ ทำซ้ำทุก 30 นาทีผ่าน HTTPS 8140 และใช้ certificate ยืนยันตัวตนทั้งสองฝั่ง Chef ใช้แนวคิดเดียวกัน (cookbook/recipe, Ohai, knife upload) ส่วน SaltStack ใช้ master/minion ผ่าน ZeroMQ มี grains (ข้อมูลเครื่อง) และ pillars (ข้อมูลลับที่ส่งให้เฉพาะ minion ที่กำหนด) และมี beacon/reactor สำหรับงานแบบ event-driven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วินาที] สำหรับอุปกรณ์เครือข่าย Ansible ไม่ได้ copy Python ไปรันบนปลายทางเหมือน server แต่ module ทำงานบน control node แล้วใช้ connection plugin network_cli เปิด SSH ค้างไว้หนึ่ง session ต่อ host เพื่อส่งคำสั่ง IOS หัวใจคือ idempotency: โมดูลอ่าน running-config เทียบกับ desired state แล้วส่งเฉพาะส่วนที่ขาด ถ้าตรงแล้วจะไม่ส่งอะไร ผลจึงเป็น ok ศัพท์จากตำรา: playbook ประกอบด้วย play และ play ประกอบด้วย task ที่เรียก module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วินาที] เครื่องมือ automation ไม่มี RFC ของตัวเอง แต่พึ่งมาตรฐานเปิด: SSHv2 (RFC 4251–4254) เป็น transport, Syslog (RFC 5424) เป็นแหล่ง event, และ model-driven API คือ NETCONF (RFC 6241), YANG 1.1 (RFC 7950), RESTCONF (RFC 8040) ภาษาที่ใช้เขียนคือ YAML 1.2.2 สถานะปี 2026: EEM ล่าสุดคือ 4.0, ansible-core 2.21 (พ.ค. 2026), Salt 3008 LTS, Chef Infra Client 19 LTS Puppet: ปลายปี 2024 Perforce ย้าย binary ไปอยู่หลัง EULA ชุมชนจึง fork เป็น OpenVox (ม.ค. 2025) และ 3 ก.พ. 2026 Cisco เปลี่ยนชื่อ DevNet เป็น CCNA/CCNP/CCIE Automation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วินาที] ตัวอย่าง Ansible ในตำรา (Example 29-14) ใช้ connection: local และใส่ username/password ในทุก task ซึ่งเลิกใช้แล้ว ปัจจุบันใช้ network_cli, เก็บ credential ใน inventory ที่เข้ารหัสด้วย ansible-vault, เรียกโมดูลด้วยชื่อเต็ม (FQCN) และใช้ resource modules ที่ idempotent EEM 4.0 เพิ่ม SMTP ผ่าน TLS, การกำหนด CPU/memory threshold, IPv6 routing event detector และสถิติการรันของ policy แนวโน้มคือ event-driven ระดับเครือข่ายและ model-driven API แทนการ parse CLI สไลด์ต้นฉบับเขียน ansible-docs ซึ่งคำสั่งจริงคือ ansible-doc และ YAML ย่อมาจาก YAML Ain’t Markup Language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[ส่วนที่ 3 · ~40 วินาที] แลบรันบน Cisco Modeling Labs ของ DevNet Sandbox (import จากไฟล์ demo-lab/grp9-automation-lab.yaml): router Cisco IOSv 2 ตัว และ Ubuntu 1 เครื่องเป็น control node ของ Ansible และรับ syslog เข้าจาก Mac ผ่าน VPN ด้วย SSH แยกเครือข่ายจัดการ (MGMT 192.168.100.0/24) ออกจากลิงก์ข้อมูล R1–R2 (10.12.12.0/30) ที่รัน OSPF area 0 และมี Loopback เป็น router-id เหตุที่ไม่ใช้ Packet Tracer: ไม่รองรับ event manager และไม่สามารถให้ Ansible ภายนอกเชื่อมต่อได้ (ขั้นตอนตั้งแลบทั้งหมดอยู่ใน demo-lab/RUNBOOK.md)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วินาที] Agentless ไม่ได้แปลว่าไม่ต้องเตรียมอะไร — อุปกรณ์ต้องเปิด SSH ให้ได้ก่อน ขั้นตอน: ตั้ง domain name แล้วสร้าง RSA key 2048 bit (ไม่มี key = SSH ไม่ทำงาน), บังคับ SSHv2, สร้าง user privilege 15 ให้ Ansible เข้า privileged EXEC ได้ทันที, จำกัด VTY ให้รับเฉพาะ SSH และเปิด archive log config เพื่อบันทึกทุกคำสั่งที่ Ansible ส่งเข้ามา ส่ง syslog ไปยัง automation host ก่อนรันให้ตรวจด้วย show ip ssh และ show crypto key mypubkey rsa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วินาที] inventory กำหนดกลุ่ม routers พร้อมตัวแปรต่อเครื่อง (router-id, IP ลิงก์) และตัวแปรกลุ่มที่บอก Ansible ว่าใช้ network_cli กับ cisco.ios.ios รหัสผ่านเก็บใน vault ที่เข้ารหัส playbook มี 4 task: (1) ตั้ง IP ด้วย resource module ios_l3_interfaces (2) เปิด interface ด้วย ios_interfaces enabled: true (3) ตั้ง OSPF ด้วย ios_config ภายใต้ parents: router ospf 1 (4) ตรวจว่า neighbor เป็น FULL ด้วย ios_command + wait_for (ลองซ้ำ 12 ครั้ง ห่างกัน 5 วินาที) และข้ามตอน dry-run เหตุที่ไม่ใช้ ios_config สั่ง no shutdown: running-config ไม่แสดง no shutdown โมดูลจึงคิดว่าต่างและส่งซ้ำทุกรอบ</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วินาที · live] 1) ansible-inventory --graph ยืนยันว่า Ansible เห็น R1, R2 ในกลุ่ม routers 2) --check -v คือ dry-run: เห็นรายการ commands ที่จะส่ง แต่ยังไม่แตะอุปกรณ์ (task ตรวจ neighbor ถูกข้าม) 3) รันจริง: changed=3 บนทั้งสอง router (ok=4 รวม task ตรวจสอบ) 4) รันซ้ำ: changed=0 = idempotent — นี่คือความต่างสำคัญจากการเขียน script ส่งคำสั่งตรง ๆ (-J = --ask-vault-password; ช่องว่างใน PLAY RECAP ถูกย่อให้พอดีสไลด์)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วินาที · live] ตรวจบน R1: show ip ospf neighbor ต้องเห็น 2.2.2.2 สถานะ FULL, show ip route ospf ต้องเห็น O 2.2.2.2 [110/2] (AD 110, cost = Gi0/1 1 + Loopback 1) show archive log config all แสดงคำสั่งที่ Ansible ส่งผ่าน admin@vty0 และ syslog CONFIG_I บอก IP ต้นทาง 192.168.100.10 ถ้าใช้ Packet Capture ของ CML บนลิงก์ MGMT แล้วเปิดไฟล์ใน Wireshark ด้วย filter tcp.port == 22 จะเห็นเพียง SSH session จาก control node — ไม่มี port ของ agent (show ip route ospf ใช้ | begin Gateway เพื่อข้ามคำอธิบาย Codes; admin@vty1 เพราะ vty0 ถูก session อื่นใช้อยู่)</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วินาที · live] applet OSPF-NBR-DOWN ใช้ syslog event detector จับข้อความ OSPF-5-ADJCHG ที่เปลี่ยนจาก FULL เป็น DOWN ratelimit 60 กันไม่ให้ทำงานซ้ำภายใน 60 วินาทีเมื่อลิงก์ flap action: enable → เขียน show ip ospf neighbor ลงไฟล์ใหม่ (redirect) แล้วต่อท้ายด้วย show ip route ospf (append) ใน flash0: → ส่ง syslog ระดับ critical ไปยัง automation host ตรวจการลงทะเบียนด้วย show event manager policy registered เปิด debug event manager action cli เพื่อดูว่าแต่ละ action ทำงานอย่างไร หลังเกิดเหตุ show event manager history events ต้องแสดงสถานะ success และเปิดไฟล์ด้วย more flash0:ospf-ev.txt (ตาราง policy registered ตัดคอลัมน์ Time Registered ออกเพื่อให้พอดี)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วินาที · live] วิธีจำลอง: บน R2 สั่ง crypto key zeroize rsa (หรือเริ่ม R2 ใหม่โดยไม่สร้าง key) อาการ: playbook ล้มเหลวเฉพาะ R2 ด้วยข้อความ Unable to connect to port 22 วิเคราะห์ไล่ทีละชั้น: ping ผ่านแสดงว่า Layer 3 ปกติ → nc -zv ได้ Connection refused แสดงว่าไม่มีบริการฟังที่ port 22 (ถ้าเป็นปัญหาเส้นทางจะเป็น timeout) → บน R2 show ip ssh บอก SSH Disabled และไม่มี RSA key แก้: crypto key generate rsa modulus 2048 จะเห็น %SSH-5-ENABLED → ตรวจซ้ำด้วย nc และรัน playbook ใหม่จน failed=0 (changed=0 เพราะ config OSPF เดิมบน R2 ยังอยู่ ถ้าเป็นเครื่องใหม่จริงจะเห็น changed=3) ขั้นสำคัญที่เจอจริงตอนซ้อม: key ใหม่ทำให้ host key ของ R2 เปลี่ยน ถ้าไม่ลบด้วย ssh-keygen -R จะเจอ host key mismatch (กลไกกัน MITM) บทเรียน: ทำ checklist ของ Day-0 และให้ Ansible ตรวจ precondition ก่อนเสมอ</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วินาที · live] จำลอง network failure โดย shutdown Gi0/1 บน R2 Control plane: R2 เห็น interface down จึงล้าง adjacency ทันที แต่ใน emulator ลิงก์ฝั่ง R1 ยัง up จึงต้องรอ Dead timer 40 วินาที (4 เท่าของ Hello 10 วินาที) เมื่อหมดเวลา R1 เปลี่ยน neighbor เป็น DOWN สร้าง Router LSA ใหม่ รัน SPF และถอน route 2.2.2.2 ออกจาก routing table syslog ADJCHG นี้ทำให้ EEM จาก Demo 2 ทำงาน: เก็บ neighbor ทันที แล้วรอ 6 วินาที เพราะ IOS หน่วง SPF ประมาณ 5 วินาที (SPF throttle) ก่อนถอน route วินิจฉัย: neighbor ว่าง, route ไม่มีในตาราง, ospf interface brief แสดง Nbrs 0/0 → ตรวจฝั่ง R2 พบ administratively down แก้: no shutdown → adjacency ผ่าน INIT, 2-WAY, EXSTART, EXCHANGE, LOADING จนเป็น FULL → route กลับมาและ ping จาก loopback สำเร็จ ถ้าถูกถามเรื่องการตรวจจับให้เร็วขึ้น: ใช้ BFD (RFC 5880) ร่วมกับ OSPF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วินาที] สรุปวิธีคิดเวลาแก้ปัญหา automation: ไล่จากชั้นล่างขึ้นบน — network (ping), transport (port 22), authentication, inventory แล้วจึงดู logic ของ playbook ฝั่ง EEM ให้ตรวจว่า policy ลงทะเบียนแล้วหรือไม่ pattern ตรงกับข้อความ syslog จริงหรือไม่ แล้วใช้ debug event manager action cli ดูผลของแต่ละ action ฝั่ง OSPF ใช้ show ip ospf interface brief และ debug ip ospf adj หาพารามิเตอร์ที่ไม่ตรงกัน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[ส่วนที่ 4 · ~80 วินาที] เปรียบเทียบ 6 ทางเลือก: EEM ทำงานในอุปกรณ์แบบ event-driven ไม่ต้องมี server; Ansible เป็น agentless push ผ่าน SSH และต่อยอดเป็น event-driven ได้; Puppet และ Chef เป็น agent-based pull ทุก 30 นาที เหมาะกับการบังคับ compliance; SaltStack ใช้ ZeroMQ ทำงานเร็วและมี event bus; ทางเลือกอื่นคือเขียน Python เอง (Netmiko/Nornir) ยืดหยุ่นที่สุดแต่ต้องจัดการ idempotency และ error handling เอง ตารางต่อยอดจาก Table 29-7 ในตำรา โดยเพิ่ม EEM, transport/port, idempotency และ Python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วินาที] คะแนนเป็นการประเมินเชิงคุณภาพของกลุ่มในบริบทเครือข่ายองค์กร (ยิ่งมากยิ่งดี) EEM ขยายขนาดไม่ได้และผูกกับ Cisco แต่ไม่มีค่าใช้จ่ายและปลอดภัยเพราะไม่เปิดช่องทางเพิ่ม; Ansible สมดุลที่สุดสำหรับงานเครือข่าย; Puppet/Chef ขยายได้ดีแต่ซับซ้อนและรองรับอุปกรณ์เครือข่ายน้อย และมีค่า license (Perforce ปรับเงื่อนไขปี 2025, Chef 19 ใช้ license key); SaltStack เร็วและ event-driven แต่ต้องดูแล master ให้ปลอดภัย (เช่น CVE-2020-11651 ปี 2020) ข้อสรุป: ใช้ร่วมกันได้ — Ansible จัดการ desired state และ EEM เฝ้าระวังในอุปกรณ์</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[ส่วนที่ 5 · ~60 วินาที] แนวโน้ม 3–5 ปี: (1) event-driven แบบวงปิด — สิ่งที่ EEM ทำในเครื่องเดียว จะขยายเป็นทั้งเครือข่ายผ่าน Event-Driven Ansible (2) model-driven — ใช้ YANG ผ่าน NETCONF/RESTCONF/gNMI และ streaming telemetry แทน screen-scraping (3) AI ช่วยงาน — Gartner คาดว่าภายในปี 2026 องค์กร 50% จะใช้ AI automate งาน day-2 แต่ต้องมีคนอนุมัติ (4) NetDevOps — เก็บ config เป็นโค้ด ทดสอบก่อน deploy (5) Zero Trust และ cloud — automation ทำให้ policy ความปลอดภัยสม่ำเสมอทุกจุด</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วินาที] ข้อคิดสำคัญ: automation ขยายผลทั้งสิ่งถูกและผิด ถ้าไม่เข้าใจ protocol ก็เขียน automation ที่ปลอดภัยไม่ได้ เราใช้ความรู้ OSPF (Dead timer, LSA, SPF) อธิบาย Troubleshooting #2 และต้องรู้ output ที่ถูกต้องเพื่อเขียน wait_for ทักษะที่ตลาดต้องการคือ YAML, Git, Python, API และ YANG และ Cisco ยกระดับ DevNet เป็น CCNA/CCNP/CCIE Automation ตั้งแต่ 3 ก.พ. 2026</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วินาที + Q&amp;A 5 นาที] สรุป 3 ข้อ: EEM คือ automation บนอุปกรณ์, เลือก agent-based หรือ agentless ตามชนิดปลายทาง, และเครื่องมือใช้ร่วมกันได้ แต่วิศวกรยังต้องเข้าใจ control plane เพื่อวิเคราะห์ปัญหา ขอบคุณครับ/ค่ะ เปิดรับคำถาม (สไลด์ถัดไปเป็น backup สำหรับตอบคำถาม)</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ใช้ตอนตอบคำถาม ไม่ต้องนำเสนอ</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รายการอ้างอิง (ข้อมูลเวอร์ชันและสถานะเครื่องมือตรวจสอบ ณ กันยายน 2026)</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2" name="Text 0"/>
          <p:cNvSpPr txBox="1"/>
          <p:nvPr/>
        </p:nvSpPr>
        <p:spPr>
          <a:xfrm>
            <a:off x="731520" y="777240"/>
            <a:ext cx="6400800" cy="274320"/>
          </a:xfrm>
          <a:prstGeom prst="rect">
            <a:avLst/>
          </a:prstGeom>
          <a:noFill/>
          <a:ln/>
        </p:spPr>
        <p:txBody>
          <a:bodyPr wrap="square" lIns="0" tIns="0" rIns="0" bIns="0" rtlCol="0" anchor="t"/>
          <a:lstStyle/>
          <a:p>
            <a:pPr marL="0" indent="0">
              <a:buNone/>
            </a:pPr>
            <a:r>
              <a:rPr lang="en-US" sz="1200" b="1" kern="0" spc="200" dirty="0">
                <a:solidFill>
                  <a:srgbClr val="D9BE82"/>
                </a:solidFill>
                <a:latin typeface="Tahoma" pitchFamily="34" charset="0"/>
                <a:ea typeface="Tahoma" pitchFamily="34" charset="-122"/>
                <a:cs typeface="Tahoma" pitchFamily="34" charset="-120"/>
              </a:rPr>
              <a:t>CAPSTONE PROJECT  ·  PART I</a:t>
            </a:r>
            <a:endParaRPr lang="en-US" sz="1200" dirty="0"/>
          </a:p>
        </p:txBody>
      </p:sp>
      <p:sp>
        <p:nvSpPr>
          <p:cNvPr id="3" name="Text 1"/>
          <p:cNvSpPr txBox="1"/>
          <p:nvPr/>
        </p:nvSpPr>
        <p:spPr>
          <a:xfrm>
            <a:off x="731520" y="1069848"/>
            <a:ext cx="6400800" cy="292608"/>
          </a:xfrm>
          <a:prstGeom prst="rect">
            <a:avLst/>
          </a:prstGeom>
          <a:noFill/>
          <a:ln/>
        </p:spPr>
        <p:txBody>
          <a:bodyPr wrap="square" lIns="0" tIns="0" rIns="0" bIns="0" rtlCol="0" anchor="t"/>
          <a:lstStyle/>
          <a:p>
            <a:pPr marL="0" indent="0">
              <a:buNone/>
            </a:pPr>
            <a:r>
              <a:rPr lang="en-US" sz="1500" dirty="0">
                <a:solidFill>
                  <a:srgbClr val="C9D3E0"/>
                </a:solidFill>
                <a:latin typeface="Tahoma" pitchFamily="34" charset="0"/>
                <a:ea typeface="Tahoma" pitchFamily="34" charset="-122"/>
                <a:cs typeface="Tahoma" pitchFamily="34" charset="-120"/>
              </a:rPr>
              <a:t>CP353301 Internetworking</a:t>
            </a:r>
            <a:endParaRPr lang="en-US" sz="1500" dirty="0"/>
          </a:p>
        </p:txBody>
      </p:sp>
      <p:sp>
        <p:nvSpPr>
          <p:cNvPr id="4" name="Text 2"/>
          <p:cNvSpPr txBox="1"/>
          <p:nvPr/>
        </p:nvSpPr>
        <p:spPr>
          <a:xfrm>
            <a:off x="731520" y="1691640"/>
            <a:ext cx="6858000" cy="1600200"/>
          </a:xfrm>
          <a:prstGeom prst="rect">
            <a:avLst/>
          </a:prstGeom>
          <a:noFill/>
          <a:ln/>
        </p:spPr>
        <p:txBody>
          <a:bodyPr wrap="square" lIns="0" tIns="0" rIns="0" bIns="0" rtlCol="0" anchor="ctr"/>
          <a:lstStyle/>
          <a:p>
            <a:pPr marL="0" indent="0">
              <a:buNone/>
            </a:pPr>
            <a:r>
              <a:rPr lang="en-US" sz="4600" b="1" dirty="0">
                <a:solidFill>
                  <a:srgbClr val="FFFFFF"/>
                </a:solidFill>
                <a:latin typeface="Tahoma" pitchFamily="34" charset="0"/>
                <a:ea typeface="Tahoma" pitchFamily="34" charset="-122"/>
                <a:cs typeface="Tahoma" pitchFamily="34" charset="-120"/>
              </a:rPr>
              <a:t>Introduction to</a:t>
            </a:r>
            <a:endParaRPr lang="en-US" sz="4600" dirty="0"/>
          </a:p>
          <a:p>
            <a:pPr marL="0" indent="0">
              <a:buNone/>
            </a:pPr>
            <a:r>
              <a:rPr lang="en-US" sz="4600" b="1" dirty="0">
                <a:solidFill>
                  <a:srgbClr val="FFFFFF"/>
                </a:solidFill>
                <a:latin typeface="Tahoma" pitchFamily="34" charset="0"/>
                <a:ea typeface="Tahoma" pitchFamily="34" charset="-122"/>
                <a:cs typeface="Tahoma" pitchFamily="34" charset="-120"/>
              </a:rPr>
              <a:t>Automation Tools</a:t>
            </a:r>
            <a:endParaRPr lang="en-US" sz="4600" dirty="0"/>
          </a:p>
        </p:txBody>
      </p:sp>
      <p:sp>
        <p:nvSpPr>
          <p:cNvPr id="5" name="Shape 3"/>
          <p:cNvSpPr/>
          <p:nvPr/>
        </p:nvSpPr>
        <p:spPr>
          <a:xfrm>
            <a:off x="731520" y="3520440"/>
            <a:ext cx="2386584" cy="384048"/>
          </a:xfrm>
          <a:prstGeom prst="roundRect">
            <a:avLst>
              <a:gd name="adj" fmla="val 50000"/>
            </a:avLst>
          </a:prstGeom>
          <a:solidFill>
            <a:srgbClr val="13233F"/>
          </a:solidFill>
          <a:ln w="12700">
            <a:solidFill>
              <a:srgbClr val="D9BE82"/>
            </a:solidFill>
            <a:prstDash val="solid"/>
          </a:ln>
        </p:spPr>
        <p:txBody>
          <a:bodyPr/>
          <a:lstStyle/>
          <a:p>
            <a:endParaRPr lang="en-TH"/>
          </a:p>
        </p:txBody>
      </p:sp>
      <p:sp>
        <p:nvSpPr>
          <p:cNvPr id="6" name="Text 4"/>
          <p:cNvSpPr txBox="1"/>
          <p:nvPr/>
        </p:nvSpPr>
        <p:spPr>
          <a:xfrm>
            <a:off x="731520" y="3520440"/>
            <a:ext cx="2386584" cy="384048"/>
          </a:xfrm>
          <a:prstGeom prst="rect">
            <a:avLst/>
          </a:prstGeom>
          <a:noFill/>
          <a:ln/>
        </p:spPr>
        <p:txBody>
          <a:bodyPr wrap="square" lIns="0" tIns="0" rIns="0" bIns="0" rtlCol="0" anchor="ctr"/>
          <a:lstStyle/>
          <a:p>
            <a:pPr marL="0" indent="0" algn="ctr">
              <a:buNone/>
            </a:pPr>
            <a:r>
              <a:rPr lang="en-US" sz="1300" dirty="0">
                <a:solidFill>
                  <a:srgbClr val="FFFFFF"/>
                </a:solidFill>
                <a:latin typeface="Tahoma" pitchFamily="34" charset="0"/>
                <a:ea typeface="Tahoma" pitchFamily="34" charset="-122"/>
                <a:cs typeface="Tahoma" pitchFamily="34" charset="-120"/>
              </a:rPr>
              <a:t>Embedded Event Manager</a:t>
            </a:r>
            <a:endParaRPr lang="en-US" sz="1300" dirty="0"/>
          </a:p>
        </p:txBody>
      </p:sp>
      <p:sp>
        <p:nvSpPr>
          <p:cNvPr id="7" name="Shape 5"/>
          <p:cNvSpPr/>
          <p:nvPr/>
        </p:nvSpPr>
        <p:spPr>
          <a:xfrm>
            <a:off x="3255264" y="3520440"/>
            <a:ext cx="1330452" cy="384048"/>
          </a:xfrm>
          <a:prstGeom prst="roundRect">
            <a:avLst>
              <a:gd name="adj" fmla="val 50000"/>
            </a:avLst>
          </a:prstGeom>
          <a:solidFill>
            <a:srgbClr val="13233F"/>
          </a:solidFill>
          <a:ln w="12700">
            <a:solidFill>
              <a:srgbClr val="D9BE82"/>
            </a:solidFill>
            <a:prstDash val="solid"/>
          </a:ln>
        </p:spPr>
        <p:txBody>
          <a:bodyPr/>
          <a:lstStyle/>
          <a:p>
            <a:endParaRPr lang="en-TH"/>
          </a:p>
        </p:txBody>
      </p:sp>
      <p:sp>
        <p:nvSpPr>
          <p:cNvPr id="8" name="Text 6"/>
          <p:cNvSpPr txBox="1"/>
          <p:nvPr/>
        </p:nvSpPr>
        <p:spPr>
          <a:xfrm>
            <a:off x="3255264" y="3520440"/>
            <a:ext cx="1330452" cy="384048"/>
          </a:xfrm>
          <a:prstGeom prst="rect">
            <a:avLst/>
          </a:prstGeom>
          <a:noFill/>
          <a:ln/>
        </p:spPr>
        <p:txBody>
          <a:bodyPr wrap="square" lIns="0" tIns="0" rIns="0" bIns="0" rtlCol="0" anchor="ctr"/>
          <a:lstStyle/>
          <a:p>
            <a:pPr marL="0" indent="0" algn="ctr">
              <a:buNone/>
            </a:pPr>
            <a:r>
              <a:rPr lang="en-US" sz="1300" dirty="0">
                <a:solidFill>
                  <a:srgbClr val="FFFFFF"/>
                </a:solidFill>
                <a:latin typeface="Tahoma" pitchFamily="34" charset="0"/>
                <a:ea typeface="Tahoma" pitchFamily="34" charset="-122"/>
                <a:cs typeface="Tahoma" pitchFamily="34" charset="-120"/>
              </a:rPr>
              <a:t>Agent-Based</a:t>
            </a:r>
            <a:endParaRPr lang="en-US" sz="1300" dirty="0"/>
          </a:p>
        </p:txBody>
      </p:sp>
      <p:sp>
        <p:nvSpPr>
          <p:cNvPr id="9" name="Shape 7"/>
          <p:cNvSpPr/>
          <p:nvPr/>
        </p:nvSpPr>
        <p:spPr>
          <a:xfrm>
            <a:off x="4722876" y="3520440"/>
            <a:ext cx="1138428" cy="384048"/>
          </a:xfrm>
          <a:prstGeom prst="roundRect">
            <a:avLst>
              <a:gd name="adj" fmla="val 50000"/>
            </a:avLst>
          </a:prstGeom>
          <a:solidFill>
            <a:srgbClr val="13233F"/>
          </a:solidFill>
          <a:ln w="12700">
            <a:solidFill>
              <a:srgbClr val="D9BE82"/>
            </a:solidFill>
            <a:prstDash val="solid"/>
          </a:ln>
        </p:spPr>
        <p:txBody>
          <a:bodyPr/>
          <a:lstStyle/>
          <a:p>
            <a:endParaRPr lang="en-TH"/>
          </a:p>
        </p:txBody>
      </p:sp>
      <p:sp>
        <p:nvSpPr>
          <p:cNvPr id="10" name="Text 8"/>
          <p:cNvSpPr txBox="1"/>
          <p:nvPr/>
        </p:nvSpPr>
        <p:spPr>
          <a:xfrm>
            <a:off x="4722876" y="3520440"/>
            <a:ext cx="1138428" cy="384048"/>
          </a:xfrm>
          <a:prstGeom prst="rect">
            <a:avLst/>
          </a:prstGeom>
          <a:noFill/>
          <a:ln/>
        </p:spPr>
        <p:txBody>
          <a:bodyPr wrap="square" lIns="0" tIns="0" rIns="0" bIns="0" rtlCol="0" anchor="ctr"/>
          <a:lstStyle/>
          <a:p>
            <a:pPr marL="0" indent="0" algn="ctr">
              <a:buNone/>
            </a:pPr>
            <a:r>
              <a:rPr lang="en-US" sz="1300" dirty="0">
                <a:solidFill>
                  <a:srgbClr val="FFFFFF"/>
                </a:solidFill>
                <a:latin typeface="Tahoma" pitchFamily="34" charset="0"/>
                <a:ea typeface="Tahoma" pitchFamily="34" charset="-122"/>
                <a:cs typeface="Tahoma" pitchFamily="34" charset="-120"/>
              </a:rPr>
              <a:t>Agentless</a:t>
            </a:r>
            <a:endParaRPr lang="en-US" sz="1300" dirty="0"/>
          </a:p>
        </p:txBody>
      </p:sp>
      <p:sp>
        <p:nvSpPr>
          <p:cNvPr id="11" name="Text 9"/>
          <p:cNvSpPr txBox="1"/>
          <p:nvPr/>
        </p:nvSpPr>
        <p:spPr>
          <a:xfrm>
            <a:off x="731520" y="4069080"/>
            <a:ext cx="6858000" cy="365760"/>
          </a:xfrm>
          <a:prstGeom prst="rect">
            <a:avLst/>
          </a:prstGeom>
          <a:noFill/>
          <a:ln/>
        </p:spPr>
        <p:txBody>
          <a:bodyPr wrap="square" lIns="0" tIns="0" rIns="0" bIns="0" rtlCol="0" anchor="t"/>
          <a:lstStyle/>
          <a:p>
            <a:pPr marL="0" indent="0">
              <a:buNone/>
            </a:pPr>
            <a:r>
              <a:rPr lang="en-US" sz="1600" dirty="0">
                <a:solidFill>
                  <a:srgbClr val="C9D3E0"/>
                </a:solidFill>
                <a:latin typeface="Tahoma" pitchFamily="34" charset="0"/>
                <a:ea typeface="Tahoma" pitchFamily="34" charset="-122"/>
                <a:cs typeface="Tahoma" pitchFamily="34" charset="-120"/>
              </a:rPr>
              <a:t>ทฤษฎีเชิงลึก  ·  สาธิต CLI จริง  ·  Troubleshooting  ·  แนวโน้มอนาคต</a:t>
            </a:r>
            <a:endParaRPr lang="en-US" sz="1600" dirty="0"/>
          </a:p>
        </p:txBody>
      </p:sp>
      <p:sp>
        <p:nvSpPr>
          <p:cNvPr id="12" name="Text 10"/>
          <p:cNvSpPr txBox="1"/>
          <p:nvPr/>
        </p:nvSpPr>
        <p:spPr>
          <a:xfrm>
            <a:off x="731520" y="4983480"/>
            <a:ext cx="6766560" cy="1005840"/>
          </a:xfrm>
          <a:prstGeom prst="rect">
            <a:avLst/>
          </a:prstGeom>
          <a:noFill/>
          <a:ln/>
        </p:spPr>
        <p:txBody>
          <a:bodyPr wrap="square" lIns="0" tIns="0" rIns="0" bIns="0" rtlCol="0" anchor="t"/>
          <a:lstStyle/>
          <a:p>
            <a:pPr marL="0" indent="0">
              <a:spcAft>
                <a:spcPts val="400"/>
              </a:spcAft>
              <a:buNone/>
            </a:pPr>
            <a:r>
              <a:rPr lang="en-US" sz="1300" b="1" dirty="0">
                <a:solidFill>
                  <a:srgbClr val="FFFFFF"/>
                </a:solidFill>
                <a:latin typeface="Tahoma" pitchFamily="34" charset="0"/>
                <a:ea typeface="Tahoma" pitchFamily="34" charset="-122"/>
                <a:cs typeface="Tahoma" pitchFamily="34" charset="-120"/>
              </a:rPr>
              <a:t>กลุ่ม 9  —  หัวข้อที่ 9: Automation</a:t>
            </a:r>
            <a:endParaRPr lang="en-US" sz="1300" dirty="0"/>
          </a:p>
          <a:p>
            <a:pPr marL="0" indent="0">
              <a:spcAft>
                <a:spcPts val="400"/>
              </a:spcAft>
              <a:buNone/>
            </a:pPr>
            <a:r>
              <a:rPr lang="en-US" sz="1300" dirty="0">
                <a:solidFill>
                  <a:srgbClr val="C9D3E0"/>
                </a:solidFill>
                <a:latin typeface="Tahoma" pitchFamily="34" charset="0"/>
                <a:ea typeface="Tahoma" pitchFamily="34" charset="-122"/>
                <a:cs typeface="Tahoma" pitchFamily="34" charset="-120"/>
              </a:rPr>
              <a:t>อ้างอิง CCNP Enterprise: Core Networking, Chapter 29</a:t>
            </a:r>
            <a:endParaRPr lang="en-US" sz="1300" dirty="0"/>
          </a:p>
          <a:p>
            <a:pPr marL="0" indent="0">
              <a:spcAft>
                <a:spcPts val="400"/>
              </a:spcAft>
              <a:buNone/>
            </a:pPr>
            <a:r>
              <a:rPr lang="en-US" sz="1300" dirty="0">
                <a:solidFill>
                  <a:srgbClr val="C9D3E0"/>
                </a:solidFill>
                <a:latin typeface="Tahoma" pitchFamily="34" charset="0"/>
                <a:ea typeface="Tahoma" pitchFamily="34" charset="-122"/>
                <a:cs typeface="Tahoma" pitchFamily="34" charset="-120"/>
              </a:rPr>
              <a:t>มหาวิทยาลัยขอนแก่น  ·  17 กันยายน 2569</a:t>
            </a:r>
            <a:endParaRPr lang="en-US" sz="1300" dirty="0"/>
          </a:p>
        </p:txBody>
      </p:sp>
      <p:sp>
        <p:nvSpPr>
          <p:cNvPr id="13" name="Shape 11"/>
          <p:cNvSpPr/>
          <p:nvPr/>
        </p:nvSpPr>
        <p:spPr>
          <a:xfrm>
            <a:off x="7863840" y="777240"/>
            <a:ext cx="3657600" cy="5303520"/>
          </a:xfrm>
          <a:prstGeom prst="roundRect">
            <a:avLst>
              <a:gd name="adj" fmla="val 2500"/>
            </a:avLst>
          </a:prstGeom>
          <a:solidFill>
            <a:srgbClr val="1B2F4F"/>
          </a:solidFill>
          <a:ln w="12700">
            <a:solidFill>
              <a:srgbClr val="1B2F4F"/>
            </a:solidFill>
            <a:prstDash val="solid"/>
          </a:ln>
        </p:spPr>
        <p:txBody>
          <a:bodyPr/>
          <a:lstStyle/>
          <a:p>
            <a:endParaRPr lang="en-TH"/>
          </a:p>
        </p:txBody>
      </p:sp>
      <p:sp>
        <p:nvSpPr>
          <p:cNvPr id="14" name="Text 12"/>
          <p:cNvSpPr txBox="1"/>
          <p:nvPr/>
        </p:nvSpPr>
        <p:spPr>
          <a:xfrm>
            <a:off x="8183880" y="1024128"/>
            <a:ext cx="3017520" cy="365760"/>
          </a:xfrm>
          <a:prstGeom prst="rect">
            <a:avLst/>
          </a:prstGeom>
          <a:noFill/>
          <a:ln/>
        </p:spPr>
        <p:txBody>
          <a:bodyPr wrap="square" lIns="0" tIns="0" rIns="0" bIns="0" rtlCol="0" anchor="t"/>
          <a:lstStyle/>
          <a:p>
            <a:pPr marL="0" indent="0">
              <a:buNone/>
            </a:pPr>
            <a:r>
              <a:rPr lang="en-US" sz="1700" b="1" dirty="0">
                <a:solidFill>
                  <a:srgbClr val="D9BE82"/>
                </a:solidFill>
                <a:latin typeface="Tahoma" pitchFamily="34" charset="0"/>
                <a:ea typeface="Tahoma" pitchFamily="34" charset="-122"/>
                <a:cs typeface="Tahoma" pitchFamily="34" charset="-120"/>
              </a:rPr>
              <a:t>สมาชิกกลุ่ม</a:t>
            </a:r>
            <a:endParaRPr lang="en-US" sz="1700" dirty="0"/>
          </a:p>
        </p:txBody>
      </p:sp>
      <p:sp>
        <p:nvSpPr>
          <p:cNvPr id="15" name="Shape 13"/>
          <p:cNvSpPr/>
          <p:nvPr/>
        </p:nvSpPr>
        <p:spPr>
          <a:xfrm>
            <a:off x="8183880" y="1737360"/>
            <a:ext cx="512064" cy="512064"/>
          </a:xfrm>
          <a:prstGeom prst="ellipse">
            <a:avLst/>
          </a:prstGeom>
          <a:solidFill>
            <a:srgbClr val="1B2F4F"/>
          </a:solidFill>
          <a:ln w="12700">
            <a:solidFill>
              <a:srgbClr val="D9BE82"/>
            </a:solidFill>
            <a:prstDash val="solid"/>
          </a:ln>
        </p:spPr>
        <p:txBody>
          <a:bodyPr/>
          <a:lstStyle/>
          <a:p>
            <a:endParaRPr lang="en-TH"/>
          </a:p>
        </p:txBody>
      </p:sp>
      <p:sp>
        <p:nvSpPr>
          <p:cNvPr id="16" name="Text 14"/>
          <p:cNvSpPr txBox="1"/>
          <p:nvPr/>
        </p:nvSpPr>
        <p:spPr>
          <a:xfrm>
            <a:off x="8183880" y="1737360"/>
            <a:ext cx="512064" cy="512064"/>
          </a:xfrm>
          <a:prstGeom prst="rect">
            <a:avLst/>
          </a:prstGeom>
          <a:noFill/>
          <a:ln/>
        </p:spPr>
        <p:txBody>
          <a:bodyPr wrap="square" lIns="0" tIns="0" rIns="0" bIns="0" rtlCol="0" anchor="ctr"/>
          <a:lstStyle/>
          <a:p>
            <a:pPr marL="0" indent="0" algn="ctr">
              <a:buNone/>
            </a:pPr>
            <a:r>
              <a:rPr lang="en-US" sz="1300" b="1" dirty="0">
                <a:solidFill>
                  <a:srgbClr val="D9BE82"/>
                </a:solidFill>
                <a:latin typeface="Tahoma" pitchFamily="34" charset="0"/>
                <a:ea typeface="Tahoma" pitchFamily="34" charset="-122"/>
                <a:cs typeface="Tahoma" pitchFamily="34" charset="-120"/>
              </a:rPr>
              <a:t>01</a:t>
            </a:r>
            <a:endParaRPr lang="en-US" sz="1300" dirty="0"/>
          </a:p>
        </p:txBody>
      </p:sp>
      <p:sp>
        <p:nvSpPr>
          <p:cNvPr id="17" name="Text 15"/>
          <p:cNvSpPr txBox="1"/>
          <p:nvPr/>
        </p:nvSpPr>
        <p:spPr>
          <a:xfrm>
            <a:off x="8869680" y="1691640"/>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Tahoma" pitchFamily="34" charset="0"/>
                <a:ea typeface="Tahoma" pitchFamily="34" charset="-122"/>
                <a:cs typeface="Tahoma" pitchFamily="34" charset="-120"/>
              </a:rPr>
              <a:t>นายเกรียงไกร ประเสริฐ</a:t>
            </a:r>
            <a:endParaRPr lang="en-US" sz="1400" dirty="0"/>
          </a:p>
        </p:txBody>
      </p:sp>
      <p:sp>
        <p:nvSpPr>
          <p:cNvPr id="18" name="Text 16"/>
          <p:cNvSpPr txBox="1"/>
          <p:nvPr/>
        </p:nvSpPr>
        <p:spPr>
          <a:xfrm>
            <a:off x="8869680" y="2057400"/>
            <a:ext cx="2560320" cy="292608"/>
          </a:xfrm>
          <a:prstGeom prst="rect">
            <a:avLst/>
          </a:prstGeom>
          <a:noFill/>
          <a:ln/>
        </p:spPr>
        <p:txBody>
          <a:bodyPr wrap="square" lIns="0" tIns="0" rIns="0" bIns="0" rtlCol="0" anchor="ctr"/>
          <a:lstStyle/>
          <a:p>
            <a:pPr marL="0" indent="0">
              <a:buNone/>
            </a:pPr>
            <a:r>
              <a:rPr lang="en-US" sz="1200" dirty="0">
                <a:solidFill>
                  <a:srgbClr val="C9D3E0"/>
                </a:solidFill>
                <a:latin typeface="Tahoma" pitchFamily="34" charset="0"/>
                <a:ea typeface="Tahoma" pitchFamily="34" charset="-122"/>
                <a:cs typeface="Tahoma" pitchFamily="34" charset="-120"/>
              </a:rPr>
              <a:t>รหัสนักศึกษา 663380616-4</a:t>
            </a:r>
            <a:endParaRPr lang="en-US" sz="1200" dirty="0"/>
          </a:p>
        </p:txBody>
      </p:sp>
      <p:sp>
        <p:nvSpPr>
          <p:cNvPr id="19" name="Shape 17"/>
          <p:cNvSpPr/>
          <p:nvPr/>
        </p:nvSpPr>
        <p:spPr>
          <a:xfrm>
            <a:off x="8183880" y="2816352"/>
            <a:ext cx="512064" cy="512064"/>
          </a:xfrm>
          <a:prstGeom prst="ellipse">
            <a:avLst/>
          </a:prstGeom>
          <a:solidFill>
            <a:srgbClr val="1B2F4F"/>
          </a:solidFill>
          <a:ln w="12700">
            <a:solidFill>
              <a:srgbClr val="D9BE82"/>
            </a:solidFill>
            <a:prstDash val="solid"/>
          </a:ln>
        </p:spPr>
        <p:txBody>
          <a:bodyPr/>
          <a:lstStyle/>
          <a:p>
            <a:endParaRPr lang="en-TH"/>
          </a:p>
        </p:txBody>
      </p:sp>
      <p:sp>
        <p:nvSpPr>
          <p:cNvPr id="20" name="Text 18"/>
          <p:cNvSpPr txBox="1"/>
          <p:nvPr/>
        </p:nvSpPr>
        <p:spPr>
          <a:xfrm>
            <a:off x="8183880" y="2816352"/>
            <a:ext cx="512064" cy="512064"/>
          </a:xfrm>
          <a:prstGeom prst="rect">
            <a:avLst/>
          </a:prstGeom>
          <a:noFill/>
          <a:ln/>
        </p:spPr>
        <p:txBody>
          <a:bodyPr wrap="square" lIns="0" tIns="0" rIns="0" bIns="0" rtlCol="0" anchor="ctr"/>
          <a:lstStyle/>
          <a:p>
            <a:pPr marL="0" indent="0" algn="ctr">
              <a:buNone/>
            </a:pPr>
            <a:r>
              <a:rPr lang="en-US" sz="1300" b="1" dirty="0">
                <a:solidFill>
                  <a:srgbClr val="D9BE82"/>
                </a:solidFill>
                <a:latin typeface="Tahoma" pitchFamily="34" charset="0"/>
                <a:ea typeface="Tahoma" pitchFamily="34" charset="-122"/>
                <a:cs typeface="Tahoma" pitchFamily="34" charset="-120"/>
              </a:rPr>
              <a:t>02</a:t>
            </a:r>
            <a:endParaRPr lang="en-US" sz="1300" dirty="0"/>
          </a:p>
        </p:txBody>
      </p:sp>
      <p:sp>
        <p:nvSpPr>
          <p:cNvPr id="21" name="Text 19"/>
          <p:cNvSpPr txBox="1"/>
          <p:nvPr/>
        </p:nvSpPr>
        <p:spPr>
          <a:xfrm>
            <a:off x="8869680" y="2770632"/>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Tahoma" pitchFamily="34" charset="0"/>
                <a:ea typeface="Tahoma" pitchFamily="34" charset="-122"/>
                <a:cs typeface="Tahoma" pitchFamily="34" charset="-120"/>
              </a:rPr>
              <a:t>นายปิติ มูลเทพพิชัย</a:t>
            </a:r>
            <a:endParaRPr lang="en-US" sz="1400" dirty="0"/>
          </a:p>
        </p:txBody>
      </p:sp>
      <p:sp>
        <p:nvSpPr>
          <p:cNvPr id="22" name="Text 20"/>
          <p:cNvSpPr txBox="1"/>
          <p:nvPr/>
        </p:nvSpPr>
        <p:spPr>
          <a:xfrm>
            <a:off x="8869680" y="3136392"/>
            <a:ext cx="2560320" cy="292608"/>
          </a:xfrm>
          <a:prstGeom prst="rect">
            <a:avLst/>
          </a:prstGeom>
          <a:noFill/>
          <a:ln/>
        </p:spPr>
        <p:txBody>
          <a:bodyPr wrap="square" lIns="0" tIns="0" rIns="0" bIns="0" rtlCol="0" anchor="ctr"/>
          <a:lstStyle/>
          <a:p>
            <a:pPr marL="0" indent="0">
              <a:buNone/>
            </a:pPr>
            <a:r>
              <a:rPr lang="en-US" sz="1200" dirty="0">
                <a:solidFill>
                  <a:srgbClr val="C9D3E0"/>
                </a:solidFill>
                <a:latin typeface="Tahoma" pitchFamily="34" charset="0"/>
                <a:ea typeface="Tahoma" pitchFamily="34" charset="-122"/>
                <a:cs typeface="Tahoma" pitchFamily="34" charset="-120"/>
              </a:rPr>
              <a:t>รหัสนักศึกษา 663380045-1</a:t>
            </a:r>
            <a:endParaRPr lang="en-US" sz="1200" dirty="0"/>
          </a:p>
        </p:txBody>
      </p:sp>
      <p:sp>
        <p:nvSpPr>
          <p:cNvPr id="23" name="Shape 21"/>
          <p:cNvSpPr/>
          <p:nvPr/>
        </p:nvSpPr>
        <p:spPr>
          <a:xfrm>
            <a:off x="8183880" y="3895344"/>
            <a:ext cx="512064" cy="512064"/>
          </a:xfrm>
          <a:prstGeom prst="ellipse">
            <a:avLst/>
          </a:prstGeom>
          <a:solidFill>
            <a:srgbClr val="1B2F4F"/>
          </a:solidFill>
          <a:ln w="12700">
            <a:solidFill>
              <a:srgbClr val="D9BE82"/>
            </a:solidFill>
            <a:prstDash val="solid"/>
          </a:ln>
        </p:spPr>
        <p:txBody>
          <a:bodyPr/>
          <a:lstStyle/>
          <a:p>
            <a:endParaRPr lang="en-TH"/>
          </a:p>
        </p:txBody>
      </p:sp>
      <p:sp>
        <p:nvSpPr>
          <p:cNvPr id="24" name="Text 22"/>
          <p:cNvSpPr txBox="1"/>
          <p:nvPr/>
        </p:nvSpPr>
        <p:spPr>
          <a:xfrm>
            <a:off x="8183880" y="3895344"/>
            <a:ext cx="512064" cy="512064"/>
          </a:xfrm>
          <a:prstGeom prst="rect">
            <a:avLst/>
          </a:prstGeom>
          <a:noFill/>
          <a:ln/>
        </p:spPr>
        <p:txBody>
          <a:bodyPr wrap="square" lIns="0" tIns="0" rIns="0" bIns="0" rtlCol="0" anchor="ctr"/>
          <a:lstStyle/>
          <a:p>
            <a:pPr marL="0" indent="0" algn="ctr">
              <a:buNone/>
            </a:pPr>
            <a:r>
              <a:rPr lang="en-US" sz="1300" b="1" dirty="0">
                <a:solidFill>
                  <a:srgbClr val="D9BE82"/>
                </a:solidFill>
                <a:latin typeface="Tahoma" pitchFamily="34" charset="0"/>
                <a:ea typeface="Tahoma" pitchFamily="34" charset="-122"/>
                <a:cs typeface="Tahoma" pitchFamily="34" charset="-120"/>
              </a:rPr>
              <a:t>03</a:t>
            </a:r>
            <a:endParaRPr lang="en-US" sz="1300" dirty="0"/>
          </a:p>
        </p:txBody>
      </p:sp>
      <p:sp>
        <p:nvSpPr>
          <p:cNvPr id="25" name="Text 23"/>
          <p:cNvSpPr txBox="1"/>
          <p:nvPr/>
        </p:nvSpPr>
        <p:spPr>
          <a:xfrm>
            <a:off x="8869680" y="3849624"/>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Tahoma" pitchFamily="34" charset="0"/>
                <a:ea typeface="Tahoma" pitchFamily="34" charset="-122"/>
                <a:cs typeface="Tahoma" pitchFamily="34" charset="-120"/>
              </a:rPr>
              <a:t>นางสาวภัทราวดี ส่องศรีโรจน์</a:t>
            </a:r>
            <a:endParaRPr lang="en-US" sz="1400" dirty="0"/>
          </a:p>
        </p:txBody>
      </p:sp>
      <p:sp>
        <p:nvSpPr>
          <p:cNvPr id="26" name="Text 24"/>
          <p:cNvSpPr txBox="1"/>
          <p:nvPr/>
        </p:nvSpPr>
        <p:spPr>
          <a:xfrm>
            <a:off x="8869680" y="4215384"/>
            <a:ext cx="2560320" cy="292608"/>
          </a:xfrm>
          <a:prstGeom prst="rect">
            <a:avLst/>
          </a:prstGeom>
          <a:noFill/>
          <a:ln/>
        </p:spPr>
        <p:txBody>
          <a:bodyPr wrap="square" lIns="0" tIns="0" rIns="0" bIns="0" rtlCol="0" anchor="ctr"/>
          <a:lstStyle/>
          <a:p>
            <a:pPr marL="0" indent="0">
              <a:buNone/>
            </a:pPr>
            <a:r>
              <a:rPr lang="en-US" sz="1200" dirty="0">
                <a:solidFill>
                  <a:srgbClr val="C9D3E0"/>
                </a:solidFill>
                <a:latin typeface="Tahoma" pitchFamily="34" charset="0"/>
                <a:ea typeface="Tahoma" pitchFamily="34" charset="-122"/>
                <a:cs typeface="Tahoma" pitchFamily="34" charset="-120"/>
              </a:rPr>
              <a:t>รหัสนักศึกษา 663380610-6</a:t>
            </a:r>
            <a:endParaRPr lang="en-US" sz="1200" dirty="0"/>
          </a:p>
        </p:txBody>
      </p:sp>
      <p:sp>
        <p:nvSpPr>
          <p:cNvPr id="27" name="Shape 25"/>
          <p:cNvSpPr/>
          <p:nvPr/>
        </p:nvSpPr>
        <p:spPr>
          <a:xfrm>
            <a:off x="8183880" y="4974336"/>
            <a:ext cx="512064" cy="512064"/>
          </a:xfrm>
          <a:prstGeom prst="ellipse">
            <a:avLst/>
          </a:prstGeom>
          <a:solidFill>
            <a:srgbClr val="1B2F4F"/>
          </a:solidFill>
          <a:ln w="12700">
            <a:solidFill>
              <a:srgbClr val="D9BE82"/>
            </a:solidFill>
            <a:prstDash val="solid"/>
          </a:ln>
        </p:spPr>
        <p:txBody>
          <a:bodyPr/>
          <a:lstStyle/>
          <a:p>
            <a:endParaRPr lang="en-TH"/>
          </a:p>
        </p:txBody>
      </p:sp>
      <p:sp>
        <p:nvSpPr>
          <p:cNvPr id="28" name="Text 26"/>
          <p:cNvSpPr txBox="1"/>
          <p:nvPr/>
        </p:nvSpPr>
        <p:spPr>
          <a:xfrm>
            <a:off x="8183880" y="4974336"/>
            <a:ext cx="512064" cy="512064"/>
          </a:xfrm>
          <a:prstGeom prst="rect">
            <a:avLst/>
          </a:prstGeom>
          <a:noFill/>
          <a:ln/>
        </p:spPr>
        <p:txBody>
          <a:bodyPr wrap="square" lIns="0" tIns="0" rIns="0" bIns="0" rtlCol="0" anchor="ctr"/>
          <a:lstStyle/>
          <a:p>
            <a:pPr marL="0" indent="0" algn="ctr">
              <a:buNone/>
            </a:pPr>
            <a:r>
              <a:rPr lang="en-US" sz="1300" b="1" dirty="0">
                <a:solidFill>
                  <a:srgbClr val="D9BE82"/>
                </a:solidFill>
                <a:latin typeface="Tahoma" pitchFamily="34" charset="0"/>
                <a:ea typeface="Tahoma" pitchFamily="34" charset="-122"/>
                <a:cs typeface="Tahoma" pitchFamily="34" charset="-120"/>
              </a:rPr>
              <a:t>04</a:t>
            </a:r>
            <a:endParaRPr lang="en-US" sz="1300" dirty="0"/>
          </a:p>
        </p:txBody>
      </p:sp>
      <p:sp>
        <p:nvSpPr>
          <p:cNvPr id="29" name="Text 27"/>
          <p:cNvSpPr txBox="1"/>
          <p:nvPr/>
        </p:nvSpPr>
        <p:spPr>
          <a:xfrm>
            <a:off x="8869680" y="4928616"/>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Tahoma" pitchFamily="34" charset="0"/>
                <a:ea typeface="Tahoma" pitchFamily="34" charset="-122"/>
                <a:cs typeface="Tahoma" pitchFamily="34" charset="-120"/>
              </a:rPr>
              <a:t>นายจีรภัทร แก้วดี</a:t>
            </a:r>
            <a:endParaRPr lang="en-US" sz="1400" dirty="0"/>
          </a:p>
        </p:txBody>
      </p:sp>
      <p:sp>
        <p:nvSpPr>
          <p:cNvPr id="30" name="Text 28"/>
          <p:cNvSpPr txBox="1"/>
          <p:nvPr/>
        </p:nvSpPr>
        <p:spPr>
          <a:xfrm>
            <a:off x="8869680" y="5294376"/>
            <a:ext cx="2560320" cy="292608"/>
          </a:xfrm>
          <a:prstGeom prst="rect">
            <a:avLst/>
          </a:prstGeom>
          <a:noFill/>
          <a:ln/>
        </p:spPr>
        <p:txBody>
          <a:bodyPr wrap="square" lIns="0" tIns="0" rIns="0" bIns="0" rtlCol="0" anchor="ctr"/>
          <a:lstStyle/>
          <a:p>
            <a:pPr marL="0" indent="0">
              <a:buNone/>
            </a:pPr>
            <a:r>
              <a:rPr lang="en-US" sz="1200" dirty="0">
                <a:solidFill>
                  <a:srgbClr val="C9D3E0"/>
                </a:solidFill>
                <a:latin typeface="Tahoma" pitchFamily="34" charset="0"/>
                <a:ea typeface="Tahoma" pitchFamily="34" charset="-122"/>
                <a:cs typeface="Tahoma" pitchFamily="34" charset="-120"/>
              </a:rPr>
              <a:t>รหัสนักศึกษา 673380577-9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ภาพรวมการนำเสนอ</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โครงสร้างการนำเสนอ 5 ส่วน</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เวลานำเสนอประมาณ 18 นาที (รวมการสาธิต) และช่วงถาม–ตอบ 5 นาที</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2036003" cy="3154680"/>
          </a:xfrm>
          <a:prstGeom prst="roundRect">
            <a:avLst>
              <a:gd name="adj" fmla="val 3593"/>
            </a:avLst>
          </a:prstGeom>
          <a:solidFill>
            <a:srgbClr val="F3F5F8"/>
          </a:solidFill>
          <a:ln w="9525">
            <a:solidFill>
              <a:srgbClr val="D6DCE4"/>
            </a:solidFill>
            <a:prstDash val="solid"/>
          </a:ln>
        </p:spPr>
        <p:txBody>
          <a:bodyPr/>
          <a:lstStyle/>
          <a:p>
            <a:endParaRPr lang="en-TH"/>
          </a:p>
        </p:txBody>
      </p:sp>
      <p:sp>
        <p:nvSpPr>
          <p:cNvPr id="16" name="Text 14"/>
          <p:cNvSpPr txBox="1"/>
          <p:nvPr/>
        </p:nvSpPr>
        <p:spPr>
          <a:xfrm>
            <a:off x="749808" y="1920240"/>
            <a:ext cx="731520" cy="685800"/>
          </a:xfrm>
          <a:prstGeom prst="rect">
            <a:avLst/>
          </a:prstGeom>
          <a:noFill/>
          <a:ln/>
        </p:spPr>
        <p:txBody>
          <a:bodyPr wrap="square" lIns="0" tIns="0" rIns="0" bIns="0" rtlCol="0" anchor="t"/>
          <a:lstStyle/>
          <a:p>
            <a:pPr marL="0" indent="0">
              <a:buNone/>
            </a:pPr>
            <a:r>
              <a:rPr lang="en-US" sz="4000" b="1" dirty="0">
                <a:solidFill>
                  <a:srgbClr val="13233F"/>
                </a:solidFill>
                <a:latin typeface="Tahoma" pitchFamily="34" charset="0"/>
                <a:ea typeface="Tahoma" pitchFamily="34" charset="-122"/>
                <a:cs typeface="Tahoma" pitchFamily="34" charset="-120"/>
              </a:rPr>
              <a:t>1</a:t>
            </a:r>
            <a:endParaRPr lang="en-US" sz="4000" dirty="0"/>
          </a:p>
        </p:txBody>
      </p:sp>
      <p:sp>
        <p:nvSpPr>
          <p:cNvPr id="17" name="Text 15"/>
          <p:cNvSpPr txBox="1"/>
          <p:nvPr/>
        </p:nvSpPr>
        <p:spPr>
          <a:xfrm>
            <a:off x="749808" y="2633472"/>
            <a:ext cx="1670243"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15%  ·  ~3 นาที</a:t>
            </a:r>
            <a:endParaRPr lang="en-US" sz="1100" dirty="0"/>
          </a:p>
        </p:txBody>
      </p:sp>
      <p:sp>
        <p:nvSpPr>
          <p:cNvPr id="18" name="Text 16"/>
          <p:cNvSpPr txBox="1"/>
          <p:nvPr/>
        </p:nvSpPr>
        <p:spPr>
          <a:xfrm>
            <a:off x="749808" y="2907792"/>
            <a:ext cx="1670243" cy="658368"/>
          </a:xfrm>
          <a:prstGeom prst="rect">
            <a:avLst/>
          </a:prstGeom>
          <a:noFill/>
          <a:ln/>
        </p:spPr>
        <p:txBody>
          <a:bodyPr wrap="square" lIns="0" tIns="0" rIns="0" bIns="0" rtlCol="0" anchor="t"/>
          <a:lstStyle/>
          <a:p>
            <a:pPr marL="0" indent="0">
              <a:buNone/>
            </a:pPr>
            <a:r>
              <a:rPr lang="en-US" sz="1500" b="1" dirty="0">
                <a:solidFill>
                  <a:srgbClr val="13233F"/>
                </a:solidFill>
                <a:latin typeface="Tahoma" pitchFamily="34" charset="0"/>
                <a:ea typeface="Tahoma" pitchFamily="34" charset="-122"/>
                <a:cs typeface="Tahoma" pitchFamily="34" charset="-120"/>
              </a:rPr>
              <a:t>แนวคิดและสถาปัตยกรรม</a:t>
            </a:r>
            <a:endParaRPr lang="en-US" sz="1500" dirty="0"/>
          </a:p>
        </p:txBody>
      </p:sp>
      <p:sp>
        <p:nvSpPr>
          <p:cNvPr id="19" name="Text 17"/>
          <p:cNvSpPr txBox="1"/>
          <p:nvPr/>
        </p:nvSpPr>
        <p:spPr>
          <a:xfrm>
            <a:off x="749808" y="3611880"/>
            <a:ext cx="1715963" cy="12344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Problem &amp; Purpose</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EEM / Agent-based / Agentless</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กลไกภายในของแต่ละแบบ</a:t>
            </a:r>
            <a:endParaRPr lang="en-US" sz="1200" dirty="0"/>
          </a:p>
        </p:txBody>
      </p:sp>
      <p:sp>
        <p:nvSpPr>
          <p:cNvPr id="20" name="Shape 18"/>
          <p:cNvSpPr/>
          <p:nvPr/>
        </p:nvSpPr>
        <p:spPr>
          <a:xfrm>
            <a:off x="2813243" y="1783080"/>
            <a:ext cx="2036003" cy="3154680"/>
          </a:xfrm>
          <a:prstGeom prst="roundRect">
            <a:avLst>
              <a:gd name="adj" fmla="val 3593"/>
            </a:avLst>
          </a:prstGeom>
          <a:solidFill>
            <a:srgbClr val="F3F5F8"/>
          </a:solidFill>
          <a:ln w="9525">
            <a:solidFill>
              <a:srgbClr val="D6DCE4"/>
            </a:solidFill>
            <a:prstDash val="solid"/>
          </a:ln>
        </p:spPr>
        <p:txBody>
          <a:bodyPr/>
          <a:lstStyle/>
          <a:p>
            <a:endParaRPr lang="en-TH"/>
          </a:p>
        </p:txBody>
      </p:sp>
      <p:sp>
        <p:nvSpPr>
          <p:cNvPr id="21" name="Text 19"/>
          <p:cNvSpPr txBox="1"/>
          <p:nvPr/>
        </p:nvSpPr>
        <p:spPr>
          <a:xfrm>
            <a:off x="3014411" y="1920240"/>
            <a:ext cx="731520" cy="685800"/>
          </a:xfrm>
          <a:prstGeom prst="rect">
            <a:avLst/>
          </a:prstGeom>
          <a:noFill/>
          <a:ln/>
        </p:spPr>
        <p:txBody>
          <a:bodyPr wrap="square" lIns="0" tIns="0" rIns="0" bIns="0" rtlCol="0" anchor="t"/>
          <a:lstStyle/>
          <a:p>
            <a:pPr marL="0" indent="0">
              <a:buNone/>
            </a:pPr>
            <a:r>
              <a:rPr lang="en-US" sz="4000" b="1" dirty="0">
                <a:solidFill>
                  <a:srgbClr val="13233F"/>
                </a:solidFill>
                <a:latin typeface="Tahoma" pitchFamily="34" charset="0"/>
                <a:ea typeface="Tahoma" pitchFamily="34" charset="-122"/>
                <a:cs typeface="Tahoma" pitchFamily="34" charset="-120"/>
              </a:rPr>
              <a:t>2</a:t>
            </a:r>
            <a:endParaRPr lang="en-US" sz="4000" dirty="0"/>
          </a:p>
        </p:txBody>
      </p:sp>
      <p:sp>
        <p:nvSpPr>
          <p:cNvPr id="22" name="Text 20"/>
          <p:cNvSpPr txBox="1"/>
          <p:nvPr/>
        </p:nvSpPr>
        <p:spPr>
          <a:xfrm>
            <a:off x="3014411" y="2633472"/>
            <a:ext cx="1670243"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10%  ·  ~2 นาที</a:t>
            </a:r>
            <a:endParaRPr lang="en-US" sz="1100" dirty="0"/>
          </a:p>
        </p:txBody>
      </p:sp>
      <p:sp>
        <p:nvSpPr>
          <p:cNvPr id="23" name="Text 21"/>
          <p:cNvSpPr txBox="1"/>
          <p:nvPr/>
        </p:nvSpPr>
        <p:spPr>
          <a:xfrm>
            <a:off x="3014411" y="2907792"/>
            <a:ext cx="1670243" cy="658368"/>
          </a:xfrm>
          <a:prstGeom prst="rect">
            <a:avLst/>
          </a:prstGeom>
          <a:noFill/>
          <a:ln/>
        </p:spPr>
        <p:txBody>
          <a:bodyPr wrap="square" lIns="0" tIns="0" rIns="0" bIns="0" rtlCol="0" anchor="t"/>
          <a:lstStyle/>
          <a:p>
            <a:pPr marL="0" indent="0">
              <a:buNone/>
            </a:pPr>
            <a:r>
              <a:rPr lang="en-US" sz="1500" b="1" dirty="0">
                <a:solidFill>
                  <a:srgbClr val="13233F"/>
                </a:solidFill>
                <a:latin typeface="Tahoma" pitchFamily="34" charset="0"/>
                <a:ea typeface="Tahoma" pitchFamily="34" charset="-122"/>
                <a:cs typeface="Tahoma" pitchFamily="34" charset="-120"/>
              </a:rPr>
              <a:t>สถานะปัจจุบันและมาตรฐาน</a:t>
            </a:r>
            <a:endParaRPr lang="en-US" sz="1500" dirty="0"/>
          </a:p>
        </p:txBody>
      </p:sp>
      <p:sp>
        <p:nvSpPr>
          <p:cNvPr id="24" name="Text 22"/>
          <p:cNvSpPr txBox="1"/>
          <p:nvPr/>
        </p:nvSpPr>
        <p:spPr>
          <a:xfrm>
            <a:off x="3014411" y="3611880"/>
            <a:ext cx="1715963" cy="12344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Timeline และ RFC ที่เกี่ยวข้อง</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เวอร์ชันล่าสุดปี 2026</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สิ่งที่เปลี่ยนไปจากตำรา</a:t>
            </a:r>
            <a:endParaRPr lang="en-US" sz="1200" dirty="0"/>
          </a:p>
        </p:txBody>
      </p:sp>
      <p:sp>
        <p:nvSpPr>
          <p:cNvPr id="25" name="Shape 23"/>
          <p:cNvSpPr/>
          <p:nvPr/>
        </p:nvSpPr>
        <p:spPr>
          <a:xfrm>
            <a:off x="5077846" y="1783080"/>
            <a:ext cx="2036003" cy="3154680"/>
          </a:xfrm>
          <a:prstGeom prst="roundRect">
            <a:avLst>
              <a:gd name="adj" fmla="val 3593"/>
            </a:avLst>
          </a:prstGeom>
          <a:solidFill>
            <a:srgbClr val="13233F"/>
          </a:solidFill>
          <a:ln w="12700">
            <a:solidFill>
              <a:srgbClr val="13233F"/>
            </a:solidFill>
            <a:prstDash val="solid"/>
          </a:ln>
        </p:spPr>
        <p:txBody>
          <a:bodyPr/>
          <a:lstStyle/>
          <a:p>
            <a:endParaRPr lang="en-TH"/>
          </a:p>
        </p:txBody>
      </p:sp>
      <p:sp>
        <p:nvSpPr>
          <p:cNvPr id="26" name="Text 24"/>
          <p:cNvSpPr txBox="1"/>
          <p:nvPr/>
        </p:nvSpPr>
        <p:spPr>
          <a:xfrm>
            <a:off x="5279014" y="1920240"/>
            <a:ext cx="731520" cy="685800"/>
          </a:xfrm>
          <a:prstGeom prst="rect">
            <a:avLst/>
          </a:prstGeom>
          <a:noFill/>
          <a:ln/>
        </p:spPr>
        <p:txBody>
          <a:bodyPr wrap="square" lIns="0" tIns="0" rIns="0" bIns="0" rtlCol="0" anchor="t"/>
          <a:lstStyle/>
          <a:p>
            <a:pPr marL="0" indent="0">
              <a:buNone/>
            </a:pPr>
            <a:r>
              <a:rPr lang="en-US" sz="4000" b="1" dirty="0">
                <a:solidFill>
                  <a:srgbClr val="D9BE82"/>
                </a:solidFill>
                <a:latin typeface="Tahoma" pitchFamily="34" charset="0"/>
                <a:ea typeface="Tahoma" pitchFamily="34" charset="-122"/>
                <a:cs typeface="Tahoma" pitchFamily="34" charset="-120"/>
              </a:rPr>
              <a:t>3</a:t>
            </a:r>
            <a:endParaRPr lang="en-US" sz="4000" dirty="0"/>
          </a:p>
        </p:txBody>
      </p:sp>
      <p:sp>
        <p:nvSpPr>
          <p:cNvPr id="27" name="Text 25"/>
          <p:cNvSpPr txBox="1"/>
          <p:nvPr/>
        </p:nvSpPr>
        <p:spPr>
          <a:xfrm>
            <a:off x="5279014" y="2633472"/>
            <a:ext cx="1670243" cy="256032"/>
          </a:xfrm>
          <a:prstGeom prst="rect">
            <a:avLst/>
          </a:prstGeom>
          <a:noFill/>
          <a:ln/>
        </p:spPr>
        <p:txBody>
          <a:bodyPr wrap="square" lIns="0" tIns="0" rIns="0" bIns="0" rtlCol="0" anchor="t"/>
          <a:lstStyle/>
          <a:p>
            <a:pPr marL="0" indent="0">
              <a:buNone/>
            </a:pPr>
            <a:r>
              <a:rPr lang="en-US" sz="1100" b="1" dirty="0">
                <a:solidFill>
                  <a:srgbClr val="D9BE82"/>
                </a:solidFill>
                <a:latin typeface="Tahoma" pitchFamily="34" charset="0"/>
                <a:ea typeface="Tahoma" pitchFamily="34" charset="-122"/>
                <a:cs typeface="Tahoma" pitchFamily="34" charset="-120"/>
              </a:rPr>
              <a:t>40%  ·  ~7 นาที</a:t>
            </a:r>
            <a:endParaRPr lang="en-US" sz="1100" dirty="0"/>
          </a:p>
        </p:txBody>
      </p:sp>
      <p:sp>
        <p:nvSpPr>
          <p:cNvPr id="28" name="Text 26"/>
          <p:cNvSpPr txBox="1"/>
          <p:nvPr/>
        </p:nvSpPr>
        <p:spPr>
          <a:xfrm>
            <a:off x="5279014" y="2907792"/>
            <a:ext cx="1670243" cy="658368"/>
          </a:xfrm>
          <a:prstGeom prst="rect">
            <a:avLst/>
          </a:prstGeom>
          <a:noFill/>
          <a:ln/>
        </p:spPr>
        <p:txBody>
          <a:bodyPr wrap="square" lIns="0" tIns="0" rIns="0" bIns="0" rtlCol="0" anchor="t"/>
          <a:lstStyle/>
          <a:p>
            <a:pPr marL="0" indent="0">
              <a:buNone/>
            </a:pPr>
            <a:r>
              <a:rPr lang="en-US" sz="1500" b="1" dirty="0">
                <a:solidFill>
                  <a:srgbClr val="FFFFFF"/>
                </a:solidFill>
                <a:latin typeface="Tahoma" pitchFamily="34" charset="0"/>
                <a:ea typeface="Tahoma" pitchFamily="34" charset="-122"/>
                <a:cs typeface="Tahoma" pitchFamily="34" charset="-120"/>
              </a:rPr>
              <a:t>สาธิต CLI และ Troubleshooting</a:t>
            </a:r>
            <a:endParaRPr lang="en-US" sz="1500" dirty="0"/>
          </a:p>
        </p:txBody>
      </p:sp>
      <p:sp>
        <p:nvSpPr>
          <p:cNvPr id="29" name="Text 27"/>
          <p:cNvSpPr txBox="1"/>
          <p:nvPr/>
        </p:nvSpPr>
        <p:spPr>
          <a:xfrm>
            <a:off x="5279014" y="3611880"/>
            <a:ext cx="1715963" cy="12344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C9D3E0"/>
                </a:solidFill>
                <a:latin typeface="Tahoma" pitchFamily="34" charset="0"/>
                <a:ea typeface="Tahoma" pitchFamily="34" charset="-122"/>
                <a:cs typeface="Tahoma" pitchFamily="34" charset="-120"/>
              </a:rPr>
              <a:t>Lab บน Cisco CML</a:t>
            </a:r>
            <a:endParaRPr lang="en-US" sz="1200" dirty="0"/>
          </a:p>
          <a:p>
            <a:pPr marL="177800" indent="-177800">
              <a:spcAft>
                <a:spcPts val="400"/>
              </a:spcAft>
              <a:buSzPct val="100000"/>
              <a:buChar char="•"/>
            </a:pPr>
            <a:r>
              <a:rPr lang="en-US" sz="1200" dirty="0">
                <a:solidFill>
                  <a:srgbClr val="C9D3E0"/>
                </a:solidFill>
                <a:latin typeface="Tahoma" pitchFamily="34" charset="0"/>
                <a:ea typeface="Tahoma" pitchFamily="34" charset="-122"/>
                <a:cs typeface="Tahoma" pitchFamily="34" charset="-120"/>
              </a:rPr>
              <a:t>Ansible + EEM แบบ live</a:t>
            </a:r>
            <a:endParaRPr lang="en-US" sz="1200" dirty="0"/>
          </a:p>
          <a:p>
            <a:pPr marL="177800" indent="-177800">
              <a:spcAft>
                <a:spcPts val="400"/>
              </a:spcAft>
              <a:buSzPct val="100000"/>
              <a:buChar char="•"/>
            </a:pPr>
            <a:r>
              <a:rPr lang="en-US" sz="1200" dirty="0">
                <a:solidFill>
                  <a:srgbClr val="C9D3E0"/>
                </a:solidFill>
                <a:latin typeface="Tahoma" pitchFamily="34" charset="0"/>
                <a:ea typeface="Tahoma" pitchFamily="34" charset="-122"/>
                <a:cs typeface="Tahoma" pitchFamily="34" charset="-120"/>
              </a:rPr>
              <a:t>จำลองปัญหา 2 กรณี</a:t>
            </a:r>
            <a:endParaRPr lang="en-US" sz="1200" dirty="0"/>
          </a:p>
        </p:txBody>
      </p:sp>
      <p:sp>
        <p:nvSpPr>
          <p:cNvPr id="30" name="Shape 28"/>
          <p:cNvSpPr/>
          <p:nvPr/>
        </p:nvSpPr>
        <p:spPr>
          <a:xfrm>
            <a:off x="7342449" y="1783080"/>
            <a:ext cx="2036003" cy="3154680"/>
          </a:xfrm>
          <a:prstGeom prst="roundRect">
            <a:avLst>
              <a:gd name="adj" fmla="val 3593"/>
            </a:avLst>
          </a:prstGeom>
          <a:solidFill>
            <a:srgbClr val="F3F5F8"/>
          </a:solidFill>
          <a:ln w="9525">
            <a:solidFill>
              <a:srgbClr val="D6DCE4"/>
            </a:solidFill>
            <a:prstDash val="solid"/>
          </a:ln>
        </p:spPr>
        <p:txBody>
          <a:bodyPr/>
          <a:lstStyle/>
          <a:p>
            <a:endParaRPr lang="en-TH"/>
          </a:p>
        </p:txBody>
      </p:sp>
      <p:sp>
        <p:nvSpPr>
          <p:cNvPr id="31" name="Text 29"/>
          <p:cNvSpPr txBox="1"/>
          <p:nvPr/>
        </p:nvSpPr>
        <p:spPr>
          <a:xfrm>
            <a:off x="7543617" y="1920240"/>
            <a:ext cx="731520" cy="685800"/>
          </a:xfrm>
          <a:prstGeom prst="rect">
            <a:avLst/>
          </a:prstGeom>
          <a:noFill/>
          <a:ln/>
        </p:spPr>
        <p:txBody>
          <a:bodyPr wrap="square" lIns="0" tIns="0" rIns="0" bIns="0" rtlCol="0" anchor="t"/>
          <a:lstStyle/>
          <a:p>
            <a:pPr marL="0" indent="0">
              <a:buNone/>
            </a:pPr>
            <a:r>
              <a:rPr lang="en-US" sz="4000" b="1" dirty="0">
                <a:solidFill>
                  <a:srgbClr val="13233F"/>
                </a:solidFill>
                <a:latin typeface="Tahoma" pitchFamily="34" charset="0"/>
                <a:ea typeface="Tahoma" pitchFamily="34" charset="-122"/>
                <a:cs typeface="Tahoma" pitchFamily="34" charset="-120"/>
              </a:rPr>
              <a:t>4</a:t>
            </a:r>
            <a:endParaRPr lang="en-US" sz="4000" dirty="0"/>
          </a:p>
        </p:txBody>
      </p:sp>
      <p:sp>
        <p:nvSpPr>
          <p:cNvPr id="32" name="Text 30"/>
          <p:cNvSpPr txBox="1"/>
          <p:nvPr/>
        </p:nvSpPr>
        <p:spPr>
          <a:xfrm>
            <a:off x="7543617" y="2633472"/>
            <a:ext cx="1670243"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15%  ·  ~3 นาที</a:t>
            </a:r>
            <a:endParaRPr lang="en-US" sz="1100" dirty="0"/>
          </a:p>
        </p:txBody>
      </p:sp>
      <p:sp>
        <p:nvSpPr>
          <p:cNvPr id="33" name="Text 31"/>
          <p:cNvSpPr txBox="1"/>
          <p:nvPr/>
        </p:nvSpPr>
        <p:spPr>
          <a:xfrm>
            <a:off x="7543617" y="2907792"/>
            <a:ext cx="1670243" cy="658368"/>
          </a:xfrm>
          <a:prstGeom prst="rect">
            <a:avLst/>
          </a:prstGeom>
          <a:noFill/>
          <a:ln/>
        </p:spPr>
        <p:txBody>
          <a:bodyPr wrap="square" lIns="0" tIns="0" rIns="0" bIns="0" rtlCol="0" anchor="t"/>
          <a:lstStyle/>
          <a:p>
            <a:pPr marL="0" indent="0">
              <a:buNone/>
            </a:pPr>
            <a:r>
              <a:rPr lang="en-US" sz="1500" b="1" dirty="0">
                <a:solidFill>
                  <a:srgbClr val="13233F"/>
                </a:solidFill>
                <a:latin typeface="Tahoma" pitchFamily="34" charset="0"/>
                <a:ea typeface="Tahoma" pitchFamily="34" charset="-122"/>
                <a:cs typeface="Tahoma" pitchFamily="34" charset="-120"/>
              </a:rPr>
              <a:t>การเปรียบเทียบ</a:t>
            </a:r>
            <a:endParaRPr lang="en-US" sz="1500" dirty="0"/>
          </a:p>
        </p:txBody>
      </p:sp>
      <p:sp>
        <p:nvSpPr>
          <p:cNvPr id="34" name="Text 32"/>
          <p:cNvSpPr txBox="1"/>
          <p:nvPr/>
        </p:nvSpPr>
        <p:spPr>
          <a:xfrm>
            <a:off x="7543617" y="3611880"/>
            <a:ext cx="1715963" cy="12344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เทียบ 6 เครื่องมือ</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Trade-off matrix 5 มิติ</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ควรเลือกใช้เมื่อไร</a:t>
            </a:r>
            <a:endParaRPr lang="en-US" sz="1200" dirty="0"/>
          </a:p>
        </p:txBody>
      </p:sp>
      <p:sp>
        <p:nvSpPr>
          <p:cNvPr id="35" name="Shape 33"/>
          <p:cNvSpPr/>
          <p:nvPr/>
        </p:nvSpPr>
        <p:spPr>
          <a:xfrm>
            <a:off x="9607052" y="1783080"/>
            <a:ext cx="2036003" cy="3154680"/>
          </a:xfrm>
          <a:prstGeom prst="roundRect">
            <a:avLst>
              <a:gd name="adj" fmla="val 3593"/>
            </a:avLst>
          </a:prstGeom>
          <a:solidFill>
            <a:srgbClr val="F3F5F8"/>
          </a:solidFill>
          <a:ln w="9525">
            <a:solidFill>
              <a:srgbClr val="D6DCE4"/>
            </a:solidFill>
            <a:prstDash val="solid"/>
          </a:ln>
        </p:spPr>
        <p:txBody>
          <a:bodyPr/>
          <a:lstStyle/>
          <a:p>
            <a:endParaRPr lang="en-TH"/>
          </a:p>
        </p:txBody>
      </p:sp>
      <p:sp>
        <p:nvSpPr>
          <p:cNvPr id="36" name="Text 34"/>
          <p:cNvSpPr txBox="1"/>
          <p:nvPr/>
        </p:nvSpPr>
        <p:spPr>
          <a:xfrm>
            <a:off x="9808220" y="1920240"/>
            <a:ext cx="731520" cy="685800"/>
          </a:xfrm>
          <a:prstGeom prst="rect">
            <a:avLst/>
          </a:prstGeom>
          <a:noFill/>
          <a:ln/>
        </p:spPr>
        <p:txBody>
          <a:bodyPr wrap="square" lIns="0" tIns="0" rIns="0" bIns="0" rtlCol="0" anchor="t"/>
          <a:lstStyle/>
          <a:p>
            <a:pPr marL="0" indent="0">
              <a:buNone/>
            </a:pPr>
            <a:r>
              <a:rPr lang="en-US" sz="4000" b="1" dirty="0">
                <a:solidFill>
                  <a:srgbClr val="13233F"/>
                </a:solidFill>
                <a:latin typeface="Tahoma" pitchFamily="34" charset="0"/>
                <a:ea typeface="Tahoma" pitchFamily="34" charset="-122"/>
                <a:cs typeface="Tahoma" pitchFamily="34" charset="-120"/>
              </a:rPr>
              <a:t>5</a:t>
            </a:r>
            <a:endParaRPr lang="en-US" sz="4000" dirty="0"/>
          </a:p>
        </p:txBody>
      </p:sp>
      <p:sp>
        <p:nvSpPr>
          <p:cNvPr id="37" name="Text 35"/>
          <p:cNvSpPr txBox="1"/>
          <p:nvPr/>
        </p:nvSpPr>
        <p:spPr>
          <a:xfrm>
            <a:off x="9808220" y="2633472"/>
            <a:ext cx="1670243"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10%  ·  ~2 นาที</a:t>
            </a:r>
            <a:endParaRPr lang="en-US" sz="1100" dirty="0"/>
          </a:p>
        </p:txBody>
      </p:sp>
      <p:sp>
        <p:nvSpPr>
          <p:cNvPr id="38" name="Text 36"/>
          <p:cNvSpPr txBox="1"/>
          <p:nvPr/>
        </p:nvSpPr>
        <p:spPr>
          <a:xfrm>
            <a:off x="9808220" y="2907792"/>
            <a:ext cx="1670243" cy="658368"/>
          </a:xfrm>
          <a:prstGeom prst="rect">
            <a:avLst/>
          </a:prstGeom>
          <a:noFill/>
          <a:ln/>
        </p:spPr>
        <p:txBody>
          <a:bodyPr wrap="square" lIns="0" tIns="0" rIns="0" bIns="0" rtlCol="0" anchor="t"/>
          <a:lstStyle/>
          <a:p>
            <a:pPr marL="0" indent="0">
              <a:buNone/>
            </a:pPr>
            <a:r>
              <a:rPr lang="en-US" sz="1500" b="1" dirty="0">
                <a:solidFill>
                  <a:srgbClr val="13233F"/>
                </a:solidFill>
                <a:latin typeface="Tahoma" pitchFamily="34" charset="0"/>
                <a:ea typeface="Tahoma" pitchFamily="34" charset="-122"/>
                <a:cs typeface="Tahoma" pitchFamily="34" charset="-120"/>
              </a:rPr>
              <a:t>ทิศทางในอนาคต</a:t>
            </a:r>
            <a:endParaRPr lang="en-US" sz="1500" dirty="0"/>
          </a:p>
        </p:txBody>
      </p:sp>
      <p:sp>
        <p:nvSpPr>
          <p:cNvPr id="39" name="Text 37"/>
          <p:cNvSpPr txBox="1"/>
          <p:nvPr/>
        </p:nvSpPr>
        <p:spPr>
          <a:xfrm>
            <a:off x="9808220" y="3611880"/>
            <a:ext cx="1715963" cy="12344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Event / Model-driven, AI</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GitOps และ Zero Trust</a:t>
            </a:r>
            <a:endParaRPr lang="en-US" sz="1200" dirty="0"/>
          </a:p>
          <a:p>
            <a:pPr marL="177800" indent="-177800">
              <a:spcAft>
                <a:spcPts val="400"/>
              </a:spcAft>
              <a:buSzPct val="100000"/>
              <a:buChar char="•"/>
            </a:pPr>
            <a:r>
              <a:rPr lang="en-US" sz="1200" dirty="0">
                <a:solidFill>
                  <a:srgbClr val="5F6B7A"/>
                </a:solidFill>
                <a:latin typeface="Tahoma" pitchFamily="34" charset="0"/>
                <a:ea typeface="Tahoma" pitchFamily="34" charset="-122"/>
                <a:cs typeface="Tahoma" pitchFamily="34" charset="-120"/>
              </a:rPr>
              <a:t>Industry takeaway</a:t>
            </a:r>
            <a:endParaRPr lang="en-US" sz="1200" dirty="0"/>
          </a:p>
        </p:txBody>
      </p:sp>
      <p:sp>
        <p:nvSpPr>
          <p:cNvPr id="40" name="Shape 38"/>
          <p:cNvSpPr/>
          <p:nvPr/>
        </p:nvSpPr>
        <p:spPr>
          <a:xfrm>
            <a:off x="548640" y="5303520"/>
            <a:ext cx="527289" cy="420624"/>
          </a:xfrm>
          <a:prstGeom prst="rect">
            <a:avLst/>
          </a:prstGeom>
          <a:solidFill>
            <a:srgbClr val="D6DCE4"/>
          </a:solidFill>
          <a:ln w="12700">
            <a:solidFill>
              <a:srgbClr val="D6DCE4"/>
            </a:solidFill>
            <a:prstDash val="solid"/>
          </a:ln>
        </p:spPr>
        <p:txBody>
          <a:bodyPr/>
          <a:lstStyle/>
          <a:p>
            <a:endParaRPr lang="en-TH"/>
          </a:p>
        </p:txBody>
      </p:sp>
      <p:sp>
        <p:nvSpPr>
          <p:cNvPr id="41" name="Text 39"/>
          <p:cNvSpPr txBox="1"/>
          <p:nvPr/>
        </p:nvSpPr>
        <p:spPr>
          <a:xfrm>
            <a:off x="548640" y="5303520"/>
            <a:ext cx="527289" cy="420624"/>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เปิด</a:t>
            </a:r>
            <a:endParaRPr lang="en-US" sz="1100" dirty="0"/>
          </a:p>
        </p:txBody>
      </p:sp>
      <p:sp>
        <p:nvSpPr>
          <p:cNvPr id="42" name="Shape 40"/>
          <p:cNvSpPr/>
          <p:nvPr/>
        </p:nvSpPr>
        <p:spPr>
          <a:xfrm>
            <a:off x="1103361" y="5303520"/>
            <a:ext cx="1636730" cy="420624"/>
          </a:xfrm>
          <a:prstGeom prst="rect">
            <a:avLst/>
          </a:prstGeom>
          <a:solidFill>
            <a:srgbClr val="8FA6C1"/>
          </a:solidFill>
          <a:ln w="12700">
            <a:solidFill>
              <a:srgbClr val="8FA6C1"/>
            </a:solidFill>
            <a:prstDash val="solid"/>
          </a:ln>
        </p:spPr>
        <p:txBody>
          <a:bodyPr/>
          <a:lstStyle/>
          <a:p>
            <a:endParaRPr lang="en-TH"/>
          </a:p>
        </p:txBody>
      </p:sp>
      <p:sp>
        <p:nvSpPr>
          <p:cNvPr id="43" name="Text 41"/>
          <p:cNvSpPr txBox="1"/>
          <p:nvPr/>
        </p:nvSpPr>
        <p:spPr>
          <a:xfrm>
            <a:off x="1103361" y="5303520"/>
            <a:ext cx="163673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44" name="Shape 42"/>
          <p:cNvSpPr/>
          <p:nvPr/>
        </p:nvSpPr>
        <p:spPr>
          <a:xfrm>
            <a:off x="2767523" y="5303520"/>
            <a:ext cx="1082010" cy="420624"/>
          </a:xfrm>
          <a:prstGeom prst="rect">
            <a:avLst/>
          </a:prstGeom>
          <a:solidFill>
            <a:srgbClr val="8FA6C1"/>
          </a:solidFill>
          <a:ln w="12700">
            <a:solidFill>
              <a:srgbClr val="8FA6C1"/>
            </a:solidFill>
            <a:prstDash val="solid"/>
          </a:ln>
        </p:spPr>
        <p:txBody>
          <a:bodyPr/>
          <a:lstStyle/>
          <a:p>
            <a:endParaRPr lang="en-TH"/>
          </a:p>
        </p:txBody>
      </p:sp>
      <p:sp>
        <p:nvSpPr>
          <p:cNvPr id="45" name="Text 43"/>
          <p:cNvSpPr txBox="1"/>
          <p:nvPr/>
        </p:nvSpPr>
        <p:spPr>
          <a:xfrm>
            <a:off x="2767523" y="5303520"/>
            <a:ext cx="108201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2</a:t>
            </a:r>
            <a:endParaRPr lang="en-US" sz="1100" dirty="0"/>
          </a:p>
        </p:txBody>
      </p:sp>
      <p:sp>
        <p:nvSpPr>
          <p:cNvPr id="46" name="Shape 44"/>
          <p:cNvSpPr/>
          <p:nvPr/>
        </p:nvSpPr>
        <p:spPr>
          <a:xfrm>
            <a:off x="3876965" y="5303520"/>
            <a:ext cx="4410334" cy="420624"/>
          </a:xfrm>
          <a:prstGeom prst="rect">
            <a:avLst/>
          </a:prstGeom>
          <a:solidFill>
            <a:srgbClr val="13233F"/>
          </a:solidFill>
          <a:ln w="12700">
            <a:solidFill>
              <a:srgbClr val="13233F"/>
            </a:solidFill>
            <a:prstDash val="solid"/>
          </a:ln>
        </p:spPr>
        <p:txBody>
          <a:bodyPr/>
          <a:lstStyle/>
          <a:p>
            <a:endParaRPr lang="en-TH"/>
          </a:p>
        </p:txBody>
      </p:sp>
      <p:sp>
        <p:nvSpPr>
          <p:cNvPr id="47" name="Text 45"/>
          <p:cNvSpPr txBox="1"/>
          <p:nvPr/>
        </p:nvSpPr>
        <p:spPr>
          <a:xfrm>
            <a:off x="3876965" y="5303520"/>
            <a:ext cx="441033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  ·  Demo &amp; Troubleshooting 40%</a:t>
            </a:r>
            <a:endParaRPr lang="en-US" sz="1100" dirty="0"/>
          </a:p>
        </p:txBody>
      </p:sp>
      <p:sp>
        <p:nvSpPr>
          <p:cNvPr id="48" name="Shape 46"/>
          <p:cNvSpPr/>
          <p:nvPr/>
        </p:nvSpPr>
        <p:spPr>
          <a:xfrm>
            <a:off x="8314731" y="5303520"/>
            <a:ext cx="1636730" cy="420624"/>
          </a:xfrm>
          <a:prstGeom prst="rect">
            <a:avLst/>
          </a:prstGeom>
          <a:solidFill>
            <a:srgbClr val="8FA6C1"/>
          </a:solidFill>
          <a:ln w="12700">
            <a:solidFill>
              <a:srgbClr val="8FA6C1"/>
            </a:solidFill>
            <a:prstDash val="solid"/>
          </a:ln>
        </p:spPr>
        <p:txBody>
          <a:bodyPr/>
          <a:lstStyle/>
          <a:p>
            <a:endParaRPr lang="en-TH"/>
          </a:p>
        </p:txBody>
      </p:sp>
      <p:sp>
        <p:nvSpPr>
          <p:cNvPr id="49" name="Text 47"/>
          <p:cNvSpPr txBox="1"/>
          <p:nvPr/>
        </p:nvSpPr>
        <p:spPr>
          <a:xfrm>
            <a:off x="8314731" y="5303520"/>
            <a:ext cx="163673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4</a:t>
            </a:r>
            <a:endParaRPr lang="en-US" sz="1100" dirty="0"/>
          </a:p>
        </p:txBody>
      </p:sp>
      <p:sp>
        <p:nvSpPr>
          <p:cNvPr id="50" name="Shape 48"/>
          <p:cNvSpPr/>
          <p:nvPr/>
        </p:nvSpPr>
        <p:spPr>
          <a:xfrm>
            <a:off x="9978893" y="5303520"/>
            <a:ext cx="1082010" cy="420624"/>
          </a:xfrm>
          <a:prstGeom prst="rect">
            <a:avLst/>
          </a:prstGeom>
          <a:solidFill>
            <a:srgbClr val="8FA6C1"/>
          </a:solidFill>
          <a:ln w="12700">
            <a:solidFill>
              <a:srgbClr val="8FA6C1"/>
            </a:solidFill>
            <a:prstDash val="solid"/>
          </a:ln>
        </p:spPr>
        <p:txBody>
          <a:bodyPr/>
          <a:lstStyle/>
          <a:p>
            <a:endParaRPr lang="en-TH"/>
          </a:p>
        </p:txBody>
      </p:sp>
      <p:sp>
        <p:nvSpPr>
          <p:cNvPr id="51" name="Text 49"/>
          <p:cNvSpPr txBox="1"/>
          <p:nvPr/>
        </p:nvSpPr>
        <p:spPr>
          <a:xfrm>
            <a:off x="9978893" y="5303520"/>
            <a:ext cx="108201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5</a:t>
            </a:r>
            <a:endParaRPr lang="en-US" sz="1100" dirty="0"/>
          </a:p>
        </p:txBody>
      </p:sp>
      <p:sp>
        <p:nvSpPr>
          <p:cNvPr id="52" name="Shape 50"/>
          <p:cNvSpPr/>
          <p:nvPr/>
        </p:nvSpPr>
        <p:spPr>
          <a:xfrm>
            <a:off x="11088334" y="5303520"/>
            <a:ext cx="527289" cy="420624"/>
          </a:xfrm>
          <a:prstGeom prst="rect">
            <a:avLst/>
          </a:prstGeom>
          <a:solidFill>
            <a:srgbClr val="D6DCE4"/>
          </a:solidFill>
          <a:ln w="12700">
            <a:solidFill>
              <a:srgbClr val="D6DCE4"/>
            </a:solidFill>
            <a:prstDash val="solid"/>
          </a:ln>
        </p:spPr>
        <p:txBody>
          <a:bodyPr/>
          <a:lstStyle/>
          <a:p>
            <a:endParaRPr lang="en-TH"/>
          </a:p>
        </p:txBody>
      </p:sp>
      <p:sp>
        <p:nvSpPr>
          <p:cNvPr id="53" name="Text 51"/>
          <p:cNvSpPr txBox="1"/>
          <p:nvPr/>
        </p:nvSpPr>
        <p:spPr>
          <a:xfrm>
            <a:off x="11088334" y="5303520"/>
            <a:ext cx="527289" cy="420624"/>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สรุป</a:t>
            </a:r>
            <a:endParaRPr lang="en-US" sz="1100" dirty="0"/>
          </a:p>
        </p:txBody>
      </p:sp>
      <p:sp>
        <p:nvSpPr>
          <p:cNvPr id="54" name="Text 52"/>
          <p:cNvSpPr txBox="1"/>
          <p:nvPr/>
        </p:nvSpPr>
        <p:spPr>
          <a:xfrm>
            <a:off x="548640" y="5806440"/>
            <a:ext cx="8229600" cy="274320"/>
          </a:xfrm>
          <a:prstGeom prst="rect">
            <a:avLst/>
          </a:prstGeom>
          <a:noFill/>
          <a:ln/>
        </p:spPr>
        <p:txBody>
          <a:bodyPr wrap="square" lIns="0" tIns="0" rIns="0" bIns="0" rtlCol="0" anchor="t"/>
          <a:lstStyle/>
          <a:p>
            <a:pPr marL="0" indent="0">
              <a:buNone/>
            </a:pPr>
            <a:r>
              <a:rPr lang="en-US" sz="1100" dirty="0">
                <a:solidFill>
                  <a:srgbClr val="5F6B7A"/>
                </a:solidFill>
                <a:latin typeface="Tahoma" pitchFamily="34" charset="0"/>
                <a:ea typeface="Tahoma" pitchFamily="34" charset="-122"/>
                <a:cs typeface="Tahoma" pitchFamily="34" charset="-120"/>
              </a:rPr>
              <a:t>สัดส่วนเวลาตามคำแนะนำการนำเสนอ Capstone Project (ส่วนที่ 3 เป็นส่วนหลัก)</a:t>
            </a:r>
            <a:endParaRPr lang="en-US" sz="1100" dirty="0"/>
          </a:p>
        </p:txBody>
      </p:sp>
      <p:sp>
        <p:nvSpPr>
          <p:cNvPr id="55" name="Text 53"/>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56" name="Text 54"/>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1  ·  แนวคิดเบื้องต้นและสถาปัตยกรรม</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Problem &amp; Purpose: ทำไมต้อง Automate</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การตั้งค่าทีละเครื่องผ่าน CLI (box-by-box) ไม่ทันกับขนาดและความเร็วของเครือข่ายปัจจุบัน</a:t>
            </a:r>
            <a:endParaRPr lang="en-US" sz="1400" dirty="0"/>
          </a:p>
        </p:txBody>
      </p:sp>
      <p:sp>
        <p:nvSpPr>
          <p:cNvPr id="5" name="Shape 3"/>
          <p:cNvSpPr/>
          <p:nvPr/>
        </p:nvSpPr>
        <p:spPr>
          <a:xfrm>
            <a:off x="9722815"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828800"/>
            <a:ext cx="566928" cy="566928"/>
          </a:xfrm>
          <a:prstGeom prst="ellipse">
            <a:avLst/>
          </a:prstGeom>
          <a:solidFill>
            <a:srgbClr val="13233F"/>
          </a:solidFill>
          <a:ln w="12700">
            <a:solidFill>
              <a:srgbClr val="13233F"/>
            </a:solidFill>
            <a:prstDash val="solid"/>
          </a:ln>
        </p:spPr>
        <p:txBody>
          <a:bodyPr/>
          <a:lstStyle/>
          <a:p>
            <a:endParaRPr lang="en-TH"/>
          </a:p>
        </p:txBody>
      </p:sp>
      <p:pic>
        <p:nvPicPr>
          <p:cNvPr id="16" name="Image 0" descr="preencoded.png"/>
          <p:cNvPicPr>
            <a:picLocks noChangeAspect="1"/>
          </p:cNvPicPr>
          <p:nvPr/>
        </p:nvPicPr>
        <p:blipFill>
          <a:blip r:embed="rId3"/>
          <a:stretch>
            <a:fillRect/>
          </a:stretch>
        </p:blipFill>
        <p:spPr>
          <a:xfrm>
            <a:off x="679033" y="1959193"/>
            <a:ext cx="306141" cy="306141"/>
          </a:xfrm>
          <a:prstGeom prst="rect">
            <a:avLst/>
          </a:prstGeom>
        </p:spPr>
      </p:pic>
      <p:sp>
        <p:nvSpPr>
          <p:cNvPr id="17" name="Text 14"/>
          <p:cNvSpPr txBox="1"/>
          <p:nvPr/>
        </p:nvSpPr>
        <p:spPr>
          <a:xfrm>
            <a:off x="1325880" y="1810512"/>
            <a:ext cx="5394960" cy="329184"/>
          </a:xfrm>
          <a:prstGeom prst="rect">
            <a:avLst/>
          </a:prstGeom>
          <a:noFill/>
          <a:ln/>
        </p:spPr>
        <p:txBody>
          <a:bodyPr wrap="square" lIns="0" tIns="0" rIns="0" bIns="0" rtlCol="0" anchor="t"/>
          <a:lstStyle/>
          <a:p>
            <a:pPr marL="0" indent="0">
              <a:buNone/>
            </a:pPr>
            <a:r>
              <a:rPr lang="en-US" sz="1600" b="1" dirty="0">
                <a:solidFill>
                  <a:srgbClr val="13233F"/>
                </a:solidFill>
                <a:latin typeface="Tahoma" pitchFamily="34" charset="0"/>
                <a:ea typeface="Tahoma" pitchFamily="34" charset="-122"/>
                <a:cs typeface="Tahoma" pitchFamily="34" charset="-120"/>
              </a:rPr>
              <a:t>งานซ้ำ ๆ บนอุปกรณ์จำนวนมาก</a:t>
            </a:r>
            <a:endParaRPr lang="en-US" sz="1600" dirty="0"/>
          </a:p>
        </p:txBody>
      </p:sp>
      <p:sp>
        <p:nvSpPr>
          <p:cNvPr id="18" name="Text 15"/>
          <p:cNvSpPr txBox="1"/>
          <p:nvPr/>
        </p:nvSpPr>
        <p:spPr>
          <a:xfrm>
            <a:off x="1325880" y="2157984"/>
            <a:ext cx="5394960" cy="566928"/>
          </a:xfrm>
          <a:prstGeom prst="rect">
            <a:avLst/>
          </a:prstGeom>
          <a:noFill/>
          <a:ln/>
        </p:spPr>
        <p:txBody>
          <a:bodyPr wrap="square" lIns="0" tIns="0" rIns="0" bIns="0" rtlCol="0" anchor="t"/>
          <a:lstStyle/>
          <a:p>
            <a:pPr marL="0" indent="0">
              <a:buNone/>
            </a:pPr>
            <a:r>
              <a:rPr lang="en-US" sz="1300" dirty="0">
                <a:solidFill>
                  <a:srgbClr val="5F6B7A"/>
                </a:solidFill>
                <a:latin typeface="Tahoma" pitchFamily="34" charset="0"/>
                <a:ea typeface="Tahoma" pitchFamily="34" charset="-122"/>
                <a:cs typeface="Tahoma" pitchFamily="34" charset="-120"/>
              </a:rPr>
              <a:t>hostname, IP, ACL, AAA, SNMP, NTP ต้องพิมพ์ซ้ำทีละเครื่อง ยิ่งเครือข่ายโตยิ่งใช้เวลา</a:t>
            </a:r>
            <a:endParaRPr lang="en-US" sz="1300" dirty="0"/>
          </a:p>
        </p:txBody>
      </p:sp>
      <p:sp>
        <p:nvSpPr>
          <p:cNvPr id="19" name="Shape 16"/>
          <p:cNvSpPr/>
          <p:nvPr/>
        </p:nvSpPr>
        <p:spPr>
          <a:xfrm>
            <a:off x="548640" y="2926080"/>
            <a:ext cx="566928" cy="566928"/>
          </a:xfrm>
          <a:prstGeom prst="ellipse">
            <a:avLst/>
          </a:prstGeom>
          <a:solidFill>
            <a:srgbClr val="13233F"/>
          </a:solidFill>
          <a:ln w="12700">
            <a:solidFill>
              <a:srgbClr val="13233F"/>
            </a:solidFill>
            <a:prstDash val="solid"/>
          </a:ln>
        </p:spPr>
        <p:txBody>
          <a:bodyPr/>
          <a:lstStyle/>
          <a:p>
            <a:endParaRPr lang="en-TH"/>
          </a:p>
        </p:txBody>
      </p:sp>
      <p:pic>
        <p:nvPicPr>
          <p:cNvPr id="20" name="Image 1" descr="preencoded.png"/>
          <p:cNvPicPr>
            <a:picLocks noChangeAspect="1"/>
          </p:cNvPicPr>
          <p:nvPr/>
        </p:nvPicPr>
        <p:blipFill>
          <a:blip r:embed="rId4"/>
          <a:stretch>
            <a:fillRect/>
          </a:stretch>
        </p:blipFill>
        <p:spPr>
          <a:xfrm>
            <a:off x="679033" y="3056473"/>
            <a:ext cx="306141" cy="306141"/>
          </a:xfrm>
          <a:prstGeom prst="rect">
            <a:avLst/>
          </a:prstGeom>
        </p:spPr>
      </p:pic>
      <p:sp>
        <p:nvSpPr>
          <p:cNvPr id="21" name="Text 17"/>
          <p:cNvSpPr txBox="1"/>
          <p:nvPr/>
        </p:nvSpPr>
        <p:spPr>
          <a:xfrm>
            <a:off x="1325880" y="2907792"/>
            <a:ext cx="5394960" cy="329184"/>
          </a:xfrm>
          <a:prstGeom prst="rect">
            <a:avLst/>
          </a:prstGeom>
          <a:noFill/>
          <a:ln/>
        </p:spPr>
        <p:txBody>
          <a:bodyPr wrap="square" lIns="0" tIns="0" rIns="0" bIns="0" rtlCol="0" anchor="t"/>
          <a:lstStyle/>
          <a:p>
            <a:pPr marL="0" indent="0">
              <a:buNone/>
            </a:pPr>
            <a:r>
              <a:rPr lang="en-US" sz="1600" b="1" dirty="0">
                <a:solidFill>
                  <a:srgbClr val="13233F"/>
                </a:solidFill>
                <a:latin typeface="Tahoma" pitchFamily="34" charset="0"/>
                <a:ea typeface="Tahoma" pitchFamily="34" charset="-122"/>
                <a:cs typeface="Tahoma" pitchFamily="34" charset="-120"/>
              </a:rPr>
              <a:t>Human error และ Configuration drift</a:t>
            </a:r>
            <a:endParaRPr lang="en-US" sz="1600" dirty="0"/>
          </a:p>
        </p:txBody>
      </p:sp>
      <p:sp>
        <p:nvSpPr>
          <p:cNvPr id="22" name="Text 18"/>
          <p:cNvSpPr txBox="1"/>
          <p:nvPr/>
        </p:nvSpPr>
        <p:spPr>
          <a:xfrm>
            <a:off x="1325880" y="3255264"/>
            <a:ext cx="5394960" cy="566928"/>
          </a:xfrm>
          <a:prstGeom prst="rect">
            <a:avLst/>
          </a:prstGeom>
          <a:noFill/>
          <a:ln/>
        </p:spPr>
        <p:txBody>
          <a:bodyPr wrap="square" lIns="0" tIns="0" rIns="0" bIns="0" rtlCol="0" anchor="t"/>
          <a:lstStyle/>
          <a:p>
            <a:pPr marL="0" indent="0">
              <a:buNone/>
            </a:pPr>
            <a:r>
              <a:rPr lang="en-US" sz="1300" dirty="0">
                <a:solidFill>
                  <a:srgbClr val="5F6B7A"/>
                </a:solidFill>
                <a:latin typeface="Tahoma" pitchFamily="34" charset="0"/>
                <a:ea typeface="Tahoma" pitchFamily="34" charset="-122"/>
                <a:cs typeface="Tahoma" pitchFamily="34" charset="-120"/>
              </a:rPr>
              <a:t>พิมพ์ผิดหรือลืมบางเครื่อง ทำให้ config แต่ละเครื่องค่อย ๆ ไม่ตรงกับมาตรฐาน</a:t>
            </a:r>
            <a:endParaRPr lang="en-US" sz="1300" dirty="0"/>
          </a:p>
        </p:txBody>
      </p:sp>
      <p:sp>
        <p:nvSpPr>
          <p:cNvPr id="23" name="Shape 19"/>
          <p:cNvSpPr/>
          <p:nvPr/>
        </p:nvSpPr>
        <p:spPr>
          <a:xfrm>
            <a:off x="548640" y="4023360"/>
            <a:ext cx="566928" cy="566928"/>
          </a:xfrm>
          <a:prstGeom prst="ellipse">
            <a:avLst/>
          </a:prstGeom>
          <a:solidFill>
            <a:srgbClr val="13233F"/>
          </a:solidFill>
          <a:ln w="12700">
            <a:solidFill>
              <a:srgbClr val="13233F"/>
            </a:solidFill>
            <a:prstDash val="solid"/>
          </a:ln>
        </p:spPr>
        <p:txBody>
          <a:bodyPr/>
          <a:lstStyle/>
          <a:p>
            <a:endParaRPr lang="en-TH"/>
          </a:p>
        </p:txBody>
      </p:sp>
      <p:pic>
        <p:nvPicPr>
          <p:cNvPr id="24" name="Image 2" descr="preencoded.png"/>
          <p:cNvPicPr>
            <a:picLocks noChangeAspect="1"/>
          </p:cNvPicPr>
          <p:nvPr/>
        </p:nvPicPr>
        <p:blipFill>
          <a:blip r:embed="rId5"/>
          <a:stretch>
            <a:fillRect/>
          </a:stretch>
        </p:blipFill>
        <p:spPr>
          <a:xfrm>
            <a:off x="679033" y="4153753"/>
            <a:ext cx="306141" cy="306141"/>
          </a:xfrm>
          <a:prstGeom prst="rect">
            <a:avLst/>
          </a:prstGeom>
        </p:spPr>
      </p:pic>
      <p:sp>
        <p:nvSpPr>
          <p:cNvPr id="25" name="Text 20"/>
          <p:cNvSpPr txBox="1"/>
          <p:nvPr/>
        </p:nvSpPr>
        <p:spPr>
          <a:xfrm>
            <a:off x="1325880" y="4005072"/>
            <a:ext cx="5394960" cy="329184"/>
          </a:xfrm>
          <a:prstGeom prst="rect">
            <a:avLst/>
          </a:prstGeom>
          <a:noFill/>
          <a:ln/>
        </p:spPr>
        <p:txBody>
          <a:bodyPr wrap="square" lIns="0" tIns="0" rIns="0" bIns="0" rtlCol="0" anchor="t"/>
          <a:lstStyle/>
          <a:p>
            <a:pPr marL="0" indent="0">
              <a:buNone/>
            </a:pPr>
            <a:r>
              <a:rPr lang="en-US" sz="1600" b="1" dirty="0">
                <a:solidFill>
                  <a:srgbClr val="13233F"/>
                </a:solidFill>
                <a:latin typeface="Tahoma" pitchFamily="34" charset="0"/>
                <a:ea typeface="Tahoma" pitchFamily="34" charset="-122"/>
                <a:cs typeface="Tahoma" pitchFamily="34" charset="-120"/>
              </a:rPr>
              <a:t>ตอบสนองต่อเหตุขัดข้องช้า</a:t>
            </a:r>
            <a:endParaRPr lang="en-US" sz="1600" dirty="0"/>
          </a:p>
        </p:txBody>
      </p:sp>
      <p:sp>
        <p:nvSpPr>
          <p:cNvPr id="26" name="Text 21"/>
          <p:cNvSpPr txBox="1"/>
          <p:nvPr/>
        </p:nvSpPr>
        <p:spPr>
          <a:xfrm>
            <a:off x="1325880" y="4352544"/>
            <a:ext cx="5394960" cy="566928"/>
          </a:xfrm>
          <a:prstGeom prst="rect">
            <a:avLst/>
          </a:prstGeom>
          <a:noFill/>
          <a:ln/>
        </p:spPr>
        <p:txBody>
          <a:bodyPr wrap="square" lIns="0" tIns="0" rIns="0" bIns="0" rtlCol="0" anchor="t"/>
          <a:lstStyle/>
          <a:p>
            <a:pPr marL="0" indent="0">
              <a:buNone/>
            </a:pPr>
            <a:r>
              <a:rPr lang="en-US" sz="1300" dirty="0">
                <a:solidFill>
                  <a:srgbClr val="5F6B7A"/>
                </a:solidFill>
                <a:latin typeface="Tahoma" pitchFamily="34" charset="0"/>
                <a:ea typeface="Tahoma" pitchFamily="34" charset="-122"/>
                <a:cs typeface="Tahoma" pitchFamily="34" charset="-120"/>
              </a:rPr>
              <a:t>ต้องรอคนเห็น alarm แล้ว login เข้าไปเก็บข้อมูลเอง หลักฐานบางส่วนหายไปก่อน</a:t>
            </a:r>
            <a:endParaRPr lang="en-US" sz="1300" dirty="0"/>
          </a:p>
        </p:txBody>
      </p:sp>
      <p:sp>
        <p:nvSpPr>
          <p:cNvPr id="27" name="Shape 22"/>
          <p:cNvSpPr/>
          <p:nvPr/>
        </p:nvSpPr>
        <p:spPr>
          <a:xfrm>
            <a:off x="548640" y="5120640"/>
            <a:ext cx="566928" cy="566928"/>
          </a:xfrm>
          <a:prstGeom prst="ellipse">
            <a:avLst/>
          </a:prstGeom>
          <a:solidFill>
            <a:srgbClr val="13233F"/>
          </a:solidFill>
          <a:ln w="12700">
            <a:solidFill>
              <a:srgbClr val="13233F"/>
            </a:solidFill>
            <a:prstDash val="solid"/>
          </a:ln>
        </p:spPr>
        <p:txBody>
          <a:bodyPr/>
          <a:lstStyle/>
          <a:p>
            <a:endParaRPr lang="en-TH"/>
          </a:p>
        </p:txBody>
      </p:sp>
      <p:pic>
        <p:nvPicPr>
          <p:cNvPr id="28" name="Image 3" descr="preencoded.png"/>
          <p:cNvPicPr>
            <a:picLocks noChangeAspect="1"/>
          </p:cNvPicPr>
          <p:nvPr/>
        </p:nvPicPr>
        <p:blipFill>
          <a:blip r:embed="rId6"/>
          <a:stretch>
            <a:fillRect/>
          </a:stretch>
        </p:blipFill>
        <p:spPr>
          <a:xfrm>
            <a:off x="679033" y="5251033"/>
            <a:ext cx="306141" cy="306141"/>
          </a:xfrm>
          <a:prstGeom prst="rect">
            <a:avLst/>
          </a:prstGeom>
        </p:spPr>
      </p:pic>
      <p:sp>
        <p:nvSpPr>
          <p:cNvPr id="29" name="Text 23"/>
          <p:cNvSpPr txBox="1"/>
          <p:nvPr/>
        </p:nvSpPr>
        <p:spPr>
          <a:xfrm>
            <a:off x="1325880" y="5102352"/>
            <a:ext cx="5394960" cy="329184"/>
          </a:xfrm>
          <a:prstGeom prst="rect">
            <a:avLst/>
          </a:prstGeom>
          <a:noFill/>
          <a:ln/>
        </p:spPr>
        <p:txBody>
          <a:bodyPr wrap="square" lIns="0" tIns="0" rIns="0" bIns="0" rtlCol="0" anchor="t"/>
          <a:lstStyle/>
          <a:p>
            <a:pPr marL="0" indent="0">
              <a:buNone/>
            </a:pPr>
            <a:r>
              <a:rPr lang="en-US" sz="1600" b="1" dirty="0">
                <a:solidFill>
                  <a:srgbClr val="13233F"/>
                </a:solidFill>
                <a:latin typeface="Tahoma" pitchFamily="34" charset="0"/>
                <a:ea typeface="Tahoma" pitchFamily="34" charset="-122"/>
                <a:cs typeface="Tahoma" pitchFamily="34" charset="-120"/>
              </a:rPr>
              <a:t>ตรวจสอบย้อนหลัง (Audit) ได้ยาก</a:t>
            </a:r>
            <a:endParaRPr lang="en-US" sz="1600" dirty="0"/>
          </a:p>
        </p:txBody>
      </p:sp>
      <p:sp>
        <p:nvSpPr>
          <p:cNvPr id="30" name="Text 24"/>
          <p:cNvSpPr txBox="1"/>
          <p:nvPr/>
        </p:nvSpPr>
        <p:spPr>
          <a:xfrm>
            <a:off x="1325880" y="5449824"/>
            <a:ext cx="5394960" cy="566928"/>
          </a:xfrm>
          <a:prstGeom prst="rect">
            <a:avLst/>
          </a:prstGeom>
          <a:noFill/>
          <a:ln/>
        </p:spPr>
        <p:txBody>
          <a:bodyPr wrap="square" lIns="0" tIns="0" rIns="0" bIns="0" rtlCol="0" anchor="t"/>
          <a:lstStyle/>
          <a:p>
            <a:pPr marL="0" indent="0">
              <a:buNone/>
            </a:pPr>
            <a:r>
              <a:rPr lang="en-US" sz="1300" dirty="0">
                <a:solidFill>
                  <a:srgbClr val="5F6B7A"/>
                </a:solidFill>
                <a:latin typeface="Tahoma" pitchFamily="34" charset="0"/>
                <a:ea typeface="Tahoma" pitchFamily="34" charset="-122"/>
                <a:cs typeface="Tahoma" pitchFamily="34" charset="-120"/>
              </a:rPr>
              <a:t>ไม่มีบันทึกชัดเจนว่าใครเปลี่ยนอะไร เมื่อไร และเพราะอะไร</a:t>
            </a:r>
            <a:endParaRPr lang="en-US" sz="1300" dirty="0"/>
          </a:p>
        </p:txBody>
      </p:sp>
      <p:sp>
        <p:nvSpPr>
          <p:cNvPr id="31" name="Shape 25"/>
          <p:cNvSpPr/>
          <p:nvPr/>
        </p:nvSpPr>
        <p:spPr>
          <a:xfrm>
            <a:off x="6949440" y="1828800"/>
            <a:ext cx="4693615" cy="1965960"/>
          </a:xfrm>
          <a:prstGeom prst="roundRect">
            <a:avLst>
              <a:gd name="adj" fmla="val 3721"/>
            </a:avLst>
          </a:prstGeom>
          <a:solidFill>
            <a:srgbClr val="13233F"/>
          </a:solidFill>
          <a:ln w="12700">
            <a:solidFill>
              <a:srgbClr val="13233F"/>
            </a:solidFill>
            <a:prstDash val="solid"/>
          </a:ln>
        </p:spPr>
        <p:txBody>
          <a:bodyPr/>
          <a:lstStyle/>
          <a:p>
            <a:endParaRPr lang="en-TH"/>
          </a:p>
        </p:txBody>
      </p:sp>
      <p:sp>
        <p:nvSpPr>
          <p:cNvPr id="32" name="Text 26"/>
          <p:cNvSpPr txBox="1"/>
          <p:nvPr/>
        </p:nvSpPr>
        <p:spPr>
          <a:xfrm>
            <a:off x="7223760" y="1938528"/>
            <a:ext cx="2011680" cy="777240"/>
          </a:xfrm>
          <a:prstGeom prst="rect">
            <a:avLst/>
          </a:prstGeom>
          <a:noFill/>
          <a:ln/>
        </p:spPr>
        <p:txBody>
          <a:bodyPr wrap="square" lIns="0" tIns="0" rIns="0" bIns="0" rtlCol="0" anchor="ctr"/>
          <a:lstStyle/>
          <a:p>
            <a:pPr marL="0" indent="0">
              <a:buNone/>
            </a:pPr>
            <a:r>
              <a:rPr lang="en-US" sz="3600" b="1" dirty="0">
                <a:solidFill>
                  <a:srgbClr val="C9D3E0"/>
                </a:solidFill>
                <a:latin typeface="Tahoma" pitchFamily="34" charset="0"/>
                <a:ea typeface="Tahoma" pitchFamily="34" charset="-122"/>
                <a:cs typeface="Tahoma" pitchFamily="34" charset="-120"/>
              </a:rPr>
              <a:t>&lt;10%</a:t>
            </a:r>
            <a:endParaRPr lang="en-US" sz="3600" dirty="0"/>
          </a:p>
        </p:txBody>
      </p:sp>
      <p:sp>
        <p:nvSpPr>
          <p:cNvPr id="33" name="Shape 27"/>
          <p:cNvSpPr/>
          <p:nvPr/>
        </p:nvSpPr>
        <p:spPr>
          <a:xfrm>
            <a:off x="9281160" y="2331720"/>
            <a:ext cx="548640" cy="0"/>
          </a:xfrm>
          <a:prstGeom prst="line">
            <a:avLst/>
          </a:prstGeom>
          <a:noFill/>
          <a:ln w="31750">
            <a:solidFill>
              <a:srgbClr val="D9BE82"/>
            </a:solidFill>
            <a:prstDash val="solid"/>
            <a:tailEnd type="triangle"/>
          </a:ln>
        </p:spPr>
        <p:txBody>
          <a:bodyPr/>
          <a:lstStyle/>
          <a:p>
            <a:endParaRPr lang="en-TH"/>
          </a:p>
        </p:txBody>
      </p:sp>
      <p:sp>
        <p:nvSpPr>
          <p:cNvPr id="34" name="Text 28"/>
          <p:cNvSpPr txBox="1"/>
          <p:nvPr/>
        </p:nvSpPr>
        <p:spPr>
          <a:xfrm>
            <a:off x="9966960" y="1938528"/>
            <a:ext cx="1493215" cy="777240"/>
          </a:xfrm>
          <a:prstGeom prst="rect">
            <a:avLst/>
          </a:prstGeom>
          <a:noFill/>
          <a:ln/>
        </p:spPr>
        <p:txBody>
          <a:bodyPr wrap="square" lIns="0" tIns="0" rIns="0" bIns="0" rtlCol="0" anchor="ctr"/>
          <a:lstStyle/>
          <a:p>
            <a:pPr marL="0" indent="0">
              <a:buNone/>
            </a:pPr>
            <a:r>
              <a:rPr lang="en-US" sz="3600" b="1" dirty="0">
                <a:solidFill>
                  <a:srgbClr val="FFFFFF"/>
                </a:solidFill>
                <a:latin typeface="Tahoma" pitchFamily="34" charset="0"/>
                <a:ea typeface="Tahoma" pitchFamily="34" charset="-122"/>
                <a:cs typeface="Tahoma" pitchFamily="34" charset="-120"/>
              </a:rPr>
              <a:t>30%</a:t>
            </a:r>
            <a:endParaRPr lang="en-US" sz="3600" dirty="0"/>
          </a:p>
        </p:txBody>
      </p:sp>
      <p:sp>
        <p:nvSpPr>
          <p:cNvPr id="35" name="Text 29"/>
          <p:cNvSpPr txBox="1"/>
          <p:nvPr/>
        </p:nvSpPr>
        <p:spPr>
          <a:xfrm>
            <a:off x="7223760" y="2761488"/>
            <a:ext cx="4144975" cy="566928"/>
          </a:xfrm>
          <a:prstGeom prst="rect">
            <a:avLst/>
          </a:prstGeom>
          <a:noFill/>
          <a:ln/>
        </p:spPr>
        <p:txBody>
          <a:bodyPr wrap="square" lIns="0" tIns="0" rIns="0" bIns="0" rtlCol="0" anchor="t"/>
          <a:lstStyle/>
          <a:p>
            <a:pPr marL="0" indent="0">
              <a:buNone/>
            </a:pPr>
            <a:r>
              <a:rPr lang="en-US" sz="1300" dirty="0">
                <a:solidFill>
                  <a:srgbClr val="FFFFFF"/>
                </a:solidFill>
                <a:latin typeface="Tahoma" pitchFamily="34" charset="0"/>
                <a:ea typeface="Tahoma" pitchFamily="34" charset="-122"/>
                <a:cs typeface="Tahoma" pitchFamily="34" charset="-120"/>
              </a:rPr>
              <a:t>สัดส่วนองค์กรที่ automate งานเครือข่ายเกินครึ่ง (กลางปี 2023 → คาดการณ์ปี 2026)</a:t>
            </a:r>
            <a:endParaRPr lang="en-US" sz="1300" dirty="0"/>
          </a:p>
        </p:txBody>
      </p:sp>
      <p:sp>
        <p:nvSpPr>
          <p:cNvPr id="36" name="Text 30"/>
          <p:cNvSpPr txBox="1"/>
          <p:nvPr/>
        </p:nvSpPr>
        <p:spPr>
          <a:xfrm>
            <a:off x="7223760" y="3364992"/>
            <a:ext cx="4144975" cy="274320"/>
          </a:xfrm>
          <a:prstGeom prst="rect">
            <a:avLst/>
          </a:prstGeom>
          <a:noFill/>
          <a:ln/>
        </p:spPr>
        <p:txBody>
          <a:bodyPr wrap="square" lIns="0" tIns="0" rIns="0" bIns="0" rtlCol="0" anchor="t"/>
          <a:lstStyle/>
          <a:p>
            <a:pPr marL="0" indent="0">
              <a:buNone/>
            </a:pPr>
            <a:r>
              <a:rPr lang="en-US" sz="1000" dirty="0">
                <a:solidFill>
                  <a:srgbClr val="C9D3E0"/>
                </a:solidFill>
                <a:latin typeface="Tahoma" pitchFamily="34" charset="0"/>
                <a:ea typeface="Tahoma" pitchFamily="34" charset="-122"/>
                <a:cs typeface="Tahoma" pitchFamily="34" charset="-120"/>
              </a:rPr>
              <a:t>ที่มา: Gartner, 18 ก.ย. 2024</a:t>
            </a:r>
            <a:endParaRPr lang="en-US" sz="1000" dirty="0"/>
          </a:p>
        </p:txBody>
      </p:sp>
      <p:sp>
        <p:nvSpPr>
          <p:cNvPr id="37" name="Shape 31"/>
          <p:cNvSpPr/>
          <p:nvPr/>
        </p:nvSpPr>
        <p:spPr>
          <a:xfrm>
            <a:off x="6949440" y="3977640"/>
            <a:ext cx="4693615" cy="2240280"/>
          </a:xfrm>
          <a:prstGeom prst="roundRect">
            <a:avLst>
              <a:gd name="adj" fmla="val 3265"/>
            </a:avLst>
          </a:prstGeom>
          <a:solidFill>
            <a:srgbClr val="F3F5F8"/>
          </a:solidFill>
          <a:ln w="9525">
            <a:solidFill>
              <a:srgbClr val="D6DCE4"/>
            </a:solidFill>
            <a:prstDash val="solid"/>
          </a:ln>
        </p:spPr>
        <p:txBody>
          <a:bodyPr/>
          <a:lstStyle/>
          <a:p>
            <a:endParaRPr lang="en-TH"/>
          </a:p>
        </p:txBody>
      </p:sp>
      <p:sp>
        <p:nvSpPr>
          <p:cNvPr id="38" name="Text 32"/>
          <p:cNvSpPr txBox="1"/>
          <p:nvPr/>
        </p:nvSpPr>
        <p:spPr>
          <a:xfrm>
            <a:off x="7223760" y="4114800"/>
            <a:ext cx="4144975" cy="329184"/>
          </a:xfrm>
          <a:prstGeom prst="rect">
            <a:avLst/>
          </a:prstGeom>
          <a:noFill/>
          <a:ln/>
        </p:spPr>
        <p:txBody>
          <a:bodyPr wrap="square" lIns="0" tIns="0" rIns="0" bIns="0" rtlCol="0" anchor="t"/>
          <a:lstStyle/>
          <a:p>
            <a:pPr marL="0" indent="0">
              <a:buNone/>
            </a:pPr>
            <a:r>
              <a:rPr lang="en-US" sz="1500" b="1" dirty="0">
                <a:solidFill>
                  <a:srgbClr val="13233F"/>
                </a:solidFill>
                <a:latin typeface="Tahoma" pitchFamily="34" charset="0"/>
                <a:ea typeface="Tahoma" pitchFamily="34" charset="-122"/>
                <a:cs typeface="Tahoma" pitchFamily="34" charset="-120"/>
              </a:rPr>
              <a:t>เป้าหมายของ Automation Tools</a:t>
            </a:r>
            <a:endParaRPr lang="en-US" sz="1500" dirty="0"/>
          </a:p>
        </p:txBody>
      </p:sp>
      <p:pic>
        <p:nvPicPr>
          <p:cNvPr id="39" name="Image 4" descr="preencoded.png"/>
          <p:cNvPicPr>
            <a:picLocks noChangeAspect="1"/>
          </p:cNvPicPr>
          <p:nvPr/>
        </p:nvPicPr>
        <p:blipFill>
          <a:blip r:embed="rId7"/>
          <a:stretch>
            <a:fillRect/>
          </a:stretch>
        </p:blipFill>
        <p:spPr>
          <a:xfrm>
            <a:off x="7223760" y="4590288"/>
            <a:ext cx="237744" cy="237744"/>
          </a:xfrm>
          <a:prstGeom prst="rect">
            <a:avLst/>
          </a:prstGeom>
        </p:spPr>
      </p:pic>
      <p:sp>
        <p:nvSpPr>
          <p:cNvPr id="40" name="Text 33"/>
          <p:cNvSpPr txBox="1"/>
          <p:nvPr/>
        </p:nvSpPr>
        <p:spPr>
          <a:xfrm>
            <a:off x="7571232" y="4553712"/>
            <a:ext cx="3824935" cy="329184"/>
          </a:xfrm>
          <a:prstGeom prst="rect">
            <a:avLst/>
          </a:prstGeom>
          <a:noFill/>
          <a:ln/>
        </p:spPr>
        <p:txBody>
          <a:bodyPr wrap="square" lIns="0" tIns="0" rIns="0" bIns="0" rtlCol="0" anchor="ctr"/>
          <a:lstStyle/>
          <a:p>
            <a:pPr marL="0" indent="0">
              <a:buNone/>
            </a:pPr>
            <a:r>
              <a:rPr lang="en-US" sz="1300" b="1" dirty="0">
                <a:solidFill>
                  <a:srgbClr val="13233F"/>
                </a:solidFill>
                <a:latin typeface="Tahoma" pitchFamily="34" charset="0"/>
                <a:ea typeface="Tahoma" pitchFamily="34" charset="-122"/>
                <a:cs typeface="Tahoma" pitchFamily="34" charset="-120"/>
              </a:rPr>
              <a:t>เร็วขึ้น  </a:t>
            </a:r>
            <a:r>
              <a:rPr lang="en-US" sz="1300" dirty="0">
                <a:solidFill>
                  <a:srgbClr val="1E2733"/>
                </a:solidFill>
                <a:latin typeface="Tahoma" pitchFamily="34" charset="0"/>
                <a:ea typeface="Tahoma" pitchFamily="34" charset="-122"/>
                <a:cs typeface="Tahoma" pitchFamily="34" charset="-120"/>
              </a:rPr>
              <a:t>เปลี่ยน config หลายร้อยเครื่องในครั้งเดียว</a:t>
            </a:r>
            <a:endParaRPr lang="en-US" sz="1300" dirty="0"/>
          </a:p>
        </p:txBody>
      </p:sp>
      <p:pic>
        <p:nvPicPr>
          <p:cNvPr id="41" name="Image 5" descr="preencoded.png"/>
          <p:cNvPicPr>
            <a:picLocks noChangeAspect="1"/>
          </p:cNvPicPr>
          <p:nvPr/>
        </p:nvPicPr>
        <p:blipFill>
          <a:blip r:embed="rId7"/>
          <a:stretch>
            <a:fillRect/>
          </a:stretch>
        </p:blipFill>
        <p:spPr>
          <a:xfrm>
            <a:off x="7223760" y="4992624"/>
            <a:ext cx="237744" cy="237744"/>
          </a:xfrm>
          <a:prstGeom prst="rect">
            <a:avLst/>
          </a:prstGeom>
        </p:spPr>
      </p:pic>
      <p:sp>
        <p:nvSpPr>
          <p:cNvPr id="42" name="Text 34"/>
          <p:cNvSpPr txBox="1"/>
          <p:nvPr/>
        </p:nvSpPr>
        <p:spPr>
          <a:xfrm>
            <a:off x="7571232" y="4956048"/>
            <a:ext cx="3824935" cy="329184"/>
          </a:xfrm>
          <a:prstGeom prst="rect">
            <a:avLst/>
          </a:prstGeom>
          <a:noFill/>
          <a:ln/>
        </p:spPr>
        <p:txBody>
          <a:bodyPr wrap="square" lIns="0" tIns="0" rIns="0" bIns="0" rtlCol="0" anchor="ctr"/>
          <a:lstStyle/>
          <a:p>
            <a:pPr marL="0" indent="0">
              <a:buNone/>
            </a:pPr>
            <a:r>
              <a:rPr lang="en-US" sz="1300" b="1" dirty="0">
                <a:solidFill>
                  <a:srgbClr val="13233F"/>
                </a:solidFill>
                <a:latin typeface="Tahoma" pitchFamily="34" charset="0"/>
                <a:ea typeface="Tahoma" pitchFamily="34" charset="-122"/>
                <a:cs typeface="Tahoma" pitchFamily="34" charset="-120"/>
              </a:rPr>
              <a:t>สม่ำเสมอ  </a:t>
            </a:r>
            <a:r>
              <a:rPr lang="en-US" sz="1300" dirty="0">
                <a:solidFill>
                  <a:srgbClr val="1E2733"/>
                </a:solidFill>
                <a:latin typeface="Tahoma" pitchFamily="34" charset="0"/>
                <a:ea typeface="Tahoma" pitchFamily="34" charset="-122"/>
                <a:cs typeface="Tahoma" pitchFamily="34" charset="-120"/>
              </a:rPr>
              <a:t>บังคับ desired state และตรวจจับ drift</a:t>
            </a:r>
            <a:endParaRPr lang="en-US" sz="1300" dirty="0"/>
          </a:p>
        </p:txBody>
      </p:sp>
      <p:pic>
        <p:nvPicPr>
          <p:cNvPr id="43" name="Image 6" descr="preencoded.png"/>
          <p:cNvPicPr>
            <a:picLocks noChangeAspect="1"/>
          </p:cNvPicPr>
          <p:nvPr/>
        </p:nvPicPr>
        <p:blipFill>
          <a:blip r:embed="rId7"/>
          <a:stretch>
            <a:fillRect/>
          </a:stretch>
        </p:blipFill>
        <p:spPr>
          <a:xfrm>
            <a:off x="7223760" y="5394960"/>
            <a:ext cx="237744" cy="237744"/>
          </a:xfrm>
          <a:prstGeom prst="rect">
            <a:avLst/>
          </a:prstGeom>
        </p:spPr>
      </p:pic>
      <p:sp>
        <p:nvSpPr>
          <p:cNvPr id="44" name="Text 35"/>
          <p:cNvSpPr txBox="1"/>
          <p:nvPr/>
        </p:nvSpPr>
        <p:spPr>
          <a:xfrm>
            <a:off x="7571232" y="5358384"/>
            <a:ext cx="3824935" cy="329184"/>
          </a:xfrm>
          <a:prstGeom prst="rect">
            <a:avLst/>
          </a:prstGeom>
          <a:noFill/>
          <a:ln/>
        </p:spPr>
        <p:txBody>
          <a:bodyPr wrap="square" lIns="0" tIns="0" rIns="0" bIns="0" rtlCol="0" anchor="ctr"/>
          <a:lstStyle/>
          <a:p>
            <a:pPr marL="0" indent="0">
              <a:buNone/>
            </a:pPr>
            <a:r>
              <a:rPr lang="en-US" sz="1300" b="1" dirty="0">
                <a:solidFill>
                  <a:srgbClr val="13233F"/>
                </a:solidFill>
                <a:latin typeface="Tahoma" pitchFamily="34" charset="0"/>
                <a:ea typeface="Tahoma" pitchFamily="34" charset="-122"/>
                <a:cs typeface="Tahoma" pitchFamily="34" charset="-120"/>
              </a:rPr>
              <a:t>ตอบสนองทันที  </a:t>
            </a:r>
            <a:r>
              <a:rPr lang="en-US" sz="1300" dirty="0">
                <a:solidFill>
                  <a:srgbClr val="1E2733"/>
                </a:solidFill>
                <a:latin typeface="Tahoma" pitchFamily="34" charset="0"/>
                <a:ea typeface="Tahoma" pitchFamily="34" charset="-122"/>
                <a:cs typeface="Tahoma" pitchFamily="34" charset="-120"/>
              </a:rPr>
              <a:t>event → action โดยอัตโนมัติ</a:t>
            </a:r>
            <a:endParaRPr lang="en-US" sz="1300" dirty="0"/>
          </a:p>
        </p:txBody>
      </p:sp>
      <p:pic>
        <p:nvPicPr>
          <p:cNvPr id="45" name="Image 7" descr="preencoded.png"/>
          <p:cNvPicPr>
            <a:picLocks noChangeAspect="1"/>
          </p:cNvPicPr>
          <p:nvPr/>
        </p:nvPicPr>
        <p:blipFill>
          <a:blip r:embed="rId7"/>
          <a:stretch>
            <a:fillRect/>
          </a:stretch>
        </p:blipFill>
        <p:spPr>
          <a:xfrm>
            <a:off x="7223760" y="5797296"/>
            <a:ext cx="237744" cy="237744"/>
          </a:xfrm>
          <a:prstGeom prst="rect">
            <a:avLst/>
          </a:prstGeom>
        </p:spPr>
      </p:pic>
      <p:sp>
        <p:nvSpPr>
          <p:cNvPr id="46" name="Text 36"/>
          <p:cNvSpPr txBox="1"/>
          <p:nvPr/>
        </p:nvSpPr>
        <p:spPr>
          <a:xfrm>
            <a:off x="7571232" y="5760720"/>
            <a:ext cx="3824935" cy="329184"/>
          </a:xfrm>
          <a:prstGeom prst="rect">
            <a:avLst/>
          </a:prstGeom>
          <a:noFill/>
          <a:ln/>
        </p:spPr>
        <p:txBody>
          <a:bodyPr wrap="square" lIns="0" tIns="0" rIns="0" bIns="0" rtlCol="0" anchor="ctr"/>
          <a:lstStyle/>
          <a:p>
            <a:pPr marL="0" indent="0">
              <a:buNone/>
            </a:pPr>
            <a:r>
              <a:rPr lang="en-US" sz="1300" b="1" dirty="0">
                <a:solidFill>
                  <a:srgbClr val="13233F"/>
                </a:solidFill>
                <a:latin typeface="Tahoma" pitchFamily="34" charset="0"/>
                <a:ea typeface="Tahoma" pitchFamily="34" charset="-122"/>
                <a:cs typeface="Tahoma" pitchFamily="34" charset="-120"/>
              </a:rPr>
              <a:t>ตรวจสอบได้  </a:t>
            </a:r>
            <a:r>
              <a:rPr lang="en-US" sz="1300" dirty="0">
                <a:solidFill>
                  <a:srgbClr val="1E2733"/>
                </a:solidFill>
                <a:latin typeface="Tahoma" pitchFamily="34" charset="0"/>
                <a:ea typeface="Tahoma" pitchFamily="34" charset="-122"/>
                <a:cs typeface="Tahoma" pitchFamily="34" charset="-120"/>
              </a:rPr>
              <a:t>config เป็นโค้ด เก็บเวอร์ชันใน Git</a:t>
            </a:r>
            <a:endParaRPr lang="en-US" sz="1300" dirty="0"/>
          </a:p>
        </p:txBody>
      </p:sp>
      <p:sp>
        <p:nvSpPr>
          <p:cNvPr id="47" name="Text 37"/>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48" name="Text 38"/>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1  ·  แนวคิดเบื้องต้นและสถาปัตยกรรม</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สถาปัตยกรรม: 3 แนวทางของ Automation</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แบ่งตาม “ตรรกะทำงานที่ไหน” และ “อุปกรณ์ปลายทางต้องติดตั้งซอฟต์แวร์เพิ่มหรือไม่”</a:t>
            </a:r>
            <a:endParaRPr lang="en-US" sz="1400" dirty="0"/>
          </a:p>
        </p:txBody>
      </p:sp>
      <p:sp>
        <p:nvSpPr>
          <p:cNvPr id="5" name="Shape 3"/>
          <p:cNvSpPr/>
          <p:nvPr/>
        </p:nvSpPr>
        <p:spPr>
          <a:xfrm>
            <a:off x="9722815"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3520440" cy="4434840"/>
          </a:xfrm>
          <a:prstGeom prst="roundRect">
            <a:avLst>
              <a:gd name="adj" fmla="val 2078"/>
            </a:avLst>
          </a:prstGeom>
          <a:solidFill>
            <a:srgbClr val="FFFFFF"/>
          </a:solidFill>
          <a:ln w="9525">
            <a:solidFill>
              <a:srgbClr val="D6DCE4"/>
            </a:solidFill>
            <a:prstDash val="solid"/>
          </a:ln>
        </p:spPr>
        <p:txBody>
          <a:bodyPr/>
          <a:lstStyle/>
          <a:p>
            <a:endParaRPr lang="en-TH"/>
          </a:p>
        </p:txBody>
      </p:sp>
      <p:sp>
        <p:nvSpPr>
          <p:cNvPr id="16" name="Shape 14"/>
          <p:cNvSpPr/>
          <p:nvPr/>
        </p:nvSpPr>
        <p:spPr>
          <a:xfrm>
            <a:off x="548640" y="1783080"/>
            <a:ext cx="3520440" cy="868680"/>
          </a:xfrm>
          <a:prstGeom prst="roundRect">
            <a:avLst>
              <a:gd name="adj" fmla="val 8421"/>
            </a:avLst>
          </a:prstGeom>
          <a:solidFill>
            <a:srgbClr val="13233F"/>
          </a:solidFill>
          <a:ln w="12700">
            <a:solidFill>
              <a:srgbClr val="13233F"/>
            </a:solidFill>
            <a:prstDash val="solid"/>
          </a:ln>
        </p:spPr>
        <p:txBody>
          <a:bodyPr/>
          <a:lstStyle/>
          <a:p>
            <a:endParaRPr lang="en-TH"/>
          </a:p>
        </p:txBody>
      </p:sp>
      <p:sp>
        <p:nvSpPr>
          <p:cNvPr id="17" name="Shape 15"/>
          <p:cNvSpPr/>
          <p:nvPr/>
        </p:nvSpPr>
        <p:spPr>
          <a:xfrm>
            <a:off x="548640" y="2240280"/>
            <a:ext cx="3520440" cy="411480"/>
          </a:xfrm>
          <a:prstGeom prst="rect">
            <a:avLst/>
          </a:prstGeom>
          <a:solidFill>
            <a:srgbClr val="13233F"/>
          </a:solidFill>
          <a:ln w="12700">
            <a:solidFill>
              <a:srgbClr val="13233F"/>
            </a:solidFill>
            <a:prstDash val="solid"/>
          </a:ln>
        </p:spPr>
        <p:txBody>
          <a:bodyPr/>
          <a:lstStyle/>
          <a:p>
            <a:endParaRPr lang="en-TH"/>
          </a:p>
        </p:txBody>
      </p:sp>
      <p:sp>
        <p:nvSpPr>
          <p:cNvPr id="18" name="Shape 16"/>
          <p:cNvSpPr/>
          <p:nvPr/>
        </p:nvSpPr>
        <p:spPr>
          <a:xfrm>
            <a:off x="731520" y="1938528"/>
            <a:ext cx="548640" cy="548640"/>
          </a:xfrm>
          <a:prstGeom prst="ellipse">
            <a:avLst/>
          </a:prstGeom>
          <a:solidFill>
            <a:srgbClr val="1F3A5F"/>
          </a:solidFill>
          <a:ln w="12700">
            <a:solidFill>
              <a:srgbClr val="1F3A5F"/>
            </a:solidFill>
            <a:prstDash val="solid"/>
          </a:ln>
        </p:spPr>
        <p:txBody>
          <a:bodyPr/>
          <a:lstStyle/>
          <a:p>
            <a:endParaRPr lang="en-TH"/>
          </a:p>
        </p:txBody>
      </p:sp>
      <p:pic>
        <p:nvPicPr>
          <p:cNvPr id="19" name="Image 0" descr="preencoded.png"/>
          <p:cNvPicPr>
            <a:picLocks noChangeAspect="1"/>
          </p:cNvPicPr>
          <p:nvPr/>
        </p:nvPicPr>
        <p:blipFill>
          <a:blip r:embed="rId3"/>
          <a:stretch>
            <a:fillRect/>
          </a:stretch>
        </p:blipFill>
        <p:spPr>
          <a:xfrm>
            <a:off x="857707" y="2064715"/>
            <a:ext cx="296266" cy="296266"/>
          </a:xfrm>
          <a:prstGeom prst="rect">
            <a:avLst/>
          </a:prstGeom>
        </p:spPr>
      </p:pic>
      <p:sp>
        <p:nvSpPr>
          <p:cNvPr id="20" name="Text 17"/>
          <p:cNvSpPr txBox="1"/>
          <p:nvPr/>
        </p:nvSpPr>
        <p:spPr>
          <a:xfrm>
            <a:off x="1417320" y="1892808"/>
            <a:ext cx="2514600" cy="347472"/>
          </a:xfrm>
          <a:prstGeom prst="rect">
            <a:avLst/>
          </a:prstGeom>
          <a:noFill/>
          <a:ln/>
        </p:spPr>
        <p:txBody>
          <a:bodyPr wrap="square" lIns="0" tIns="0" rIns="0" bIns="0" rtlCol="0" anchor="ctr"/>
          <a:lstStyle/>
          <a:p>
            <a:pPr marL="0" indent="0">
              <a:buNone/>
            </a:pPr>
            <a:r>
              <a:rPr lang="en-US" sz="1600" b="1" dirty="0">
                <a:solidFill>
                  <a:srgbClr val="FFFFFF"/>
                </a:solidFill>
                <a:latin typeface="Tahoma" pitchFamily="34" charset="0"/>
                <a:ea typeface="Tahoma" pitchFamily="34" charset="-122"/>
                <a:cs typeface="Tahoma" pitchFamily="34" charset="-120"/>
              </a:rPr>
              <a:t>On-box</a:t>
            </a:r>
            <a:endParaRPr lang="en-US" sz="1600" dirty="0"/>
          </a:p>
        </p:txBody>
      </p:sp>
      <p:sp>
        <p:nvSpPr>
          <p:cNvPr id="21" name="Text 18"/>
          <p:cNvSpPr txBox="1"/>
          <p:nvPr/>
        </p:nvSpPr>
        <p:spPr>
          <a:xfrm>
            <a:off x="1417320" y="2240280"/>
            <a:ext cx="2514600" cy="292608"/>
          </a:xfrm>
          <a:prstGeom prst="rect">
            <a:avLst/>
          </a:prstGeom>
          <a:noFill/>
          <a:ln/>
        </p:spPr>
        <p:txBody>
          <a:bodyPr wrap="square" lIns="0" tIns="0" rIns="0" bIns="0" rtlCol="0" anchor="ctr"/>
          <a:lstStyle/>
          <a:p>
            <a:pPr marL="0" indent="0">
              <a:buNone/>
            </a:pPr>
            <a:r>
              <a:rPr lang="en-US" sz="1150" dirty="0">
                <a:solidFill>
                  <a:srgbClr val="D9BE82"/>
                </a:solidFill>
                <a:latin typeface="Tahoma" pitchFamily="34" charset="0"/>
                <a:ea typeface="Tahoma" pitchFamily="34" charset="-122"/>
                <a:cs typeface="Tahoma" pitchFamily="34" charset="-120"/>
              </a:rPr>
              <a:t>Embedded Event Manager (EEM)</a:t>
            </a:r>
            <a:endParaRPr lang="en-US" sz="1150" dirty="0"/>
          </a:p>
        </p:txBody>
      </p:sp>
      <p:sp>
        <p:nvSpPr>
          <p:cNvPr id="22" name="Shape 19"/>
          <p:cNvSpPr/>
          <p:nvPr/>
        </p:nvSpPr>
        <p:spPr>
          <a:xfrm>
            <a:off x="731520" y="2834640"/>
            <a:ext cx="3154680" cy="1417320"/>
          </a:xfrm>
          <a:prstGeom prst="roundRect">
            <a:avLst>
              <a:gd name="adj" fmla="val 5161"/>
            </a:avLst>
          </a:prstGeom>
          <a:solidFill>
            <a:srgbClr val="F3F5F8"/>
          </a:solidFill>
          <a:ln w="12700">
            <a:solidFill>
              <a:srgbClr val="4A6A8F"/>
            </a:solidFill>
            <a:prstDash val="solid"/>
          </a:ln>
        </p:spPr>
        <p:txBody>
          <a:bodyPr/>
          <a:lstStyle/>
          <a:p>
            <a:endParaRPr lang="en-TH"/>
          </a:p>
        </p:txBody>
      </p:sp>
      <p:sp>
        <p:nvSpPr>
          <p:cNvPr id="23" name="Text 20"/>
          <p:cNvSpPr txBox="1"/>
          <p:nvPr/>
        </p:nvSpPr>
        <p:spPr>
          <a:xfrm>
            <a:off x="822960" y="2889504"/>
            <a:ext cx="1828800" cy="237744"/>
          </a:xfrm>
          <a:prstGeom prst="rect">
            <a:avLst/>
          </a:prstGeom>
          <a:noFill/>
          <a:ln/>
        </p:spPr>
        <p:txBody>
          <a:bodyPr wrap="square" lIns="0" tIns="0" rIns="0" bIns="0" rtlCol="0" anchor="t"/>
          <a:lstStyle/>
          <a:p>
            <a:pPr marL="0" indent="0">
              <a:buNone/>
            </a:pPr>
            <a:r>
              <a:rPr lang="en-US" sz="1050" b="1" dirty="0">
                <a:solidFill>
                  <a:srgbClr val="4A6A8F"/>
                </a:solidFill>
                <a:latin typeface="Tahoma" pitchFamily="34" charset="0"/>
                <a:ea typeface="Tahoma" pitchFamily="34" charset="-122"/>
                <a:cs typeface="Tahoma" pitchFamily="34" charset="-120"/>
              </a:rPr>
              <a:t>R1 (Cisco IOS)</a:t>
            </a:r>
            <a:endParaRPr lang="en-US" sz="1050" dirty="0"/>
          </a:p>
        </p:txBody>
      </p:sp>
      <p:sp>
        <p:nvSpPr>
          <p:cNvPr id="24" name="Shape 21"/>
          <p:cNvSpPr/>
          <p:nvPr/>
        </p:nvSpPr>
        <p:spPr>
          <a:xfrm>
            <a:off x="902970" y="3273552"/>
            <a:ext cx="822960" cy="731520"/>
          </a:xfrm>
          <a:prstGeom prst="roundRect">
            <a:avLst>
              <a:gd name="adj" fmla="val 10000"/>
            </a:avLst>
          </a:prstGeom>
          <a:solidFill>
            <a:srgbClr val="FFFFFF"/>
          </a:solidFill>
          <a:ln w="9525">
            <a:solidFill>
              <a:srgbClr val="8FA6C1"/>
            </a:solidFill>
            <a:prstDash val="solid"/>
          </a:ln>
        </p:spPr>
        <p:txBody>
          <a:bodyPr/>
          <a:lstStyle/>
          <a:p>
            <a:endParaRPr lang="en-TH"/>
          </a:p>
        </p:txBody>
      </p:sp>
      <p:sp>
        <p:nvSpPr>
          <p:cNvPr id="25" name="Text 22"/>
          <p:cNvSpPr txBox="1"/>
          <p:nvPr/>
        </p:nvSpPr>
        <p:spPr>
          <a:xfrm>
            <a:off x="902970" y="3273552"/>
            <a:ext cx="822960" cy="731520"/>
          </a:xfrm>
          <a:prstGeom prst="rect">
            <a:avLst/>
          </a:prstGeom>
          <a:noFill/>
          <a:ln/>
        </p:spPr>
        <p:txBody>
          <a:bodyPr wrap="square" lIns="0" tIns="0" rIns="0" bIns="0" rtlCol="0" anchor="ctr"/>
          <a:lstStyle/>
          <a:p>
            <a:pPr marL="0" indent="0" algn="ctr">
              <a:buNone/>
            </a:pPr>
            <a:r>
              <a:rPr lang="en-US" sz="1050" b="1" dirty="0">
                <a:solidFill>
                  <a:srgbClr val="13233F"/>
                </a:solidFill>
                <a:latin typeface="Tahoma" pitchFamily="34" charset="0"/>
                <a:ea typeface="Tahoma" pitchFamily="34" charset="-122"/>
                <a:cs typeface="Tahoma" pitchFamily="34" charset="-120"/>
              </a:rPr>
              <a:t>Event</a:t>
            </a:r>
            <a:endParaRPr lang="en-US" sz="1050" dirty="0"/>
          </a:p>
          <a:p>
            <a:pPr marL="0" indent="0" algn="ctr">
              <a:buNone/>
            </a:pPr>
            <a:r>
              <a:rPr lang="en-US" sz="1050" b="1" dirty="0">
                <a:solidFill>
                  <a:srgbClr val="13233F"/>
                </a:solidFill>
                <a:latin typeface="Tahoma" pitchFamily="34" charset="0"/>
                <a:ea typeface="Tahoma" pitchFamily="34" charset="-122"/>
                <a:cs typeface="Tahoma" pitchFamily="34" charset="-120"/>
              </a:rPr>
              <a:t>Detector</a:t>
            </a:r>
            <a:endParaRPr lang="en-US" sz="1050" dirty="0"/>
          </a:p>
        </p:txBody>
      </p:sp>
      <p:sp>
        <p:nvSpPr>
          <p:cNvPr id="26" name="Shape 23"/>
          <p:cNvSpPr/>
          <p:nvPr/>
        </p:nvSpPr>
        <p:spPr>
          <a:xfrm>
            <a:off x="1744218" y="3639312"/>
            <a:ext cx="134874" cy="0"/>
          </a:xfrm>
          <a:prstGeom prst="line">
            <a:avLst/>
          </a:prstGeom>
          <a:noFill/>
          <a:ln w="19050">
            <a:solidFill>
              <a:srgbClr val="A9812F"/>
            </a:solidFill>
            <a:prstDash val="solid"/>
            <a:tailEnd type="triangle"/>
          </a:ln>
        </p:spPr>
        <p:txBody>
          <a:bodyPr/>
          <a:lstStyle/>
          <a:p>
            <a:endParaRPr lang="en-TH"/>
          </a:p>
        </p:txBody>
      </p:sp>
      <p:sp>
        <p:nvSpPr>
          <p:cNvPr id="27" name="Shape 24"/>
          <p:cNvSpPr/>
          <p:nvPr/>
        </p:nvSpPr>
        <p:spPr>
          <a:xfrm>
            <a:off x="1897380" y="3273552"/>
            <a:ext cx="822960" cy="731520"/>
          </a:xfrm>
          <a:prstGeom prst="roundRect">
            <a:avLst>
              <a:gd name="adj" fmla="val 10000"/>
            </a:avLst>
          </a:prstGeom>
          <a:solidFill>
            <a:srgbClr val="FFFFFF"/>
          </a:solidFill>
          <a:ln w="9525">
            <a:solidFill>
              <a:srgbClr val="8FA6C1"/>
            </a:solidFill>
            <a:prstDash val="solid"/>
          </a:ln>
        </p:spPr>
        <p:txBody>
          <a:bodyPr/>
          <a:lstStyle/>
          <a:p>
            <a:endParaRPr lang="en-TH"/>
          </a:p>
        </p:txBody>
      </p:sp>
      <p:sp>
        <p:nvSpPr>
          <p:cNvPr id="28" name="Text 25"/>
          <p:cNvSpPr txBox="1"/>
          <p:nvPr/>
        </p:nvSpPr>
        <p:spPr>
          <a:xfrm>
            <a:off x="1897380" y="3273552"/>
            <a:ext cx="822960" cy="731520"/>
          </a:xfrm>
          <a:prstGeom prst="rect">
            <a:avLst/>
          </a:prstGeom>
          <a:noFill/>
          <a:ln/>
        </p:spPr>
        <p:txBody>
          <a:bodyPr wrap="square" lIns="0" tIns="0" rIns="0" bIns="0" rtlCol="0" anchor="ctr"/>
          <a:lstStyle/>
          <a:p>
            <a:pPr marL="0" indent="0" algn="ctr">
              <a:buNone/>
            </a:pPr>
            <a:r>
              <a:rPr lang="en-US" sz="1050" b="1" dirty="0">
                <a:solidFill>
                  <a:srgbClr val="13233F"/>
                </a:solidFill>
                <a:latin typeface="Tahoma" pitchFamily="34" charset="0"/>
                <a:ea typeface="Tahoma" pitchFamily="34" charset="-122"/>
                <a:cs typeface="Tahoma" pitchFamily="34" charset="-120"/>
              </a:rPr>
              <a:t>EEM</a:t>
            </a:r>
            <a:endParaRPr lang="en-US" sz="1050" dirty="0"/>
          </a:p>
          <a:p>
            <a:pPr marL="0" indent="0" algn="ctr">
              <a:buNone/>
            </a:pPr>
            <a:r>
              <a:rPr lang="en-US" sz="1050" b="1" dirty="0">
                <a:solidFill>
                  <a:srgbClr val="13233F"/>
                </a:solidFill>
                <a:latin typeface="Tahoma" pitchFamily="34" charset="0"/>
                <a:ea typeface="Tahoma" pitchFamily="34" charset="-122"/>
                <a:cs typeface="Tahoma" pitchFamily="34" charset="-120"/>
              </a:rPr>
              <a:t>Server</a:t>
            </a:r>
            <a:endParaRPr lang="en-US" sz="1050" dirty="0"/>
          </a:p>
        </p:txBody>
      </p:sp>
      <p:sp>
        <p:nvSpPr>
          <p:cNvPr id="29" name="Shape 26"/>
          <p:cNvSpPr/>
          <p:nvPr/>
        </p:nvSpPr>
        <p:spPr>
          <a:xfrm>
            <a:off x="2738628" y="3639312"/>
            <a:ext cx="134874" cy="0"/>
          </a:xfrm>
          <a:prstGeom prst="line">
            <a:avLst/>
          </a:prstGeom>
          <a:noFill/>
          <a:ln w="19050">
            <a:solidFill>
              <a:srgbClr val="A9812F"/>
            </a:solidFill>
            <a:prstDash val="solid"/>
            <a:tailEnd type="triangle"/>
          </a:ln>
        </p:spPr>
        <p:txBody>
          <a:bodyPr/>
          <a:lstStyle/>
          <a:p>
            <a:endParaRPr lang="en-TH"/>
          </a:p>
        </p:txBody>
      </p:sp>
      <p:sp>
        <p:nvSpPr>
          <p:cNvPr id="30" name="Shape 27"/>
          <p:cNvSpPr/>
          <p:nvPr/>
        </p:nvSpPr>
        <p:spPr>
          <a:xfrm>
            <a:off x="2891790" y="3273552"/>
            <a:ext cx="822960" cy="731520"/>
          </a:xfrm>
          <a:prstGeom prst="roundRect">
            <a:avLst>
              <a:gd name="adj" fmla="val 10000"/>
            </a:avLst>
          </a:prstGeom>
          <a:solidFill>
            <a:srgbClr val="FFFFFF"/>
          </a:solidFill>
          <a:ln w="9525">
            <a:solidFill>
              <a:srgbClr val="8FA6C1"/>
            </a:solidFill>
            <a:prstDash val="solid"/>
          </a:ln>
        </p:spPr>
        <p:txBody>
          <a:bodyPr/>
          <a:lstStyle/>
          <a:p>
            <a:endParaRPr lang="en-TH"/>
          </a:p>
        </p:txBody>
      </p:sp>
      <p:sp>
        <p:nvSpPr>
          <p:cNvPr id="31" name="Text 28"/>
          <p:cNvSpPr txBox="1"/>
          <p:nvPr/>
        </p:nvSpPr>
        <p:spPr>
          <a:xfrm>
            <a:off x="2891790" y="3273552"/>
            <a:ext cx="822960" cy="731520"/>
          </a:xfrm>
          <a:prstGeom prst="rect">
            <a:avLst/>
          </a:prstGeom>
          <a:noFill/>
          <a:ln/>
        </p:spPr>
        <p:txBody>
          <a:bodyPr wrap="square" lIns="0" tIns="0" rIns="0" bIns="0" rtlCol="0" anchor="ctr"/>
          <a:lstStyle/>
          <a:p>
            <a:pPr marL="0" indent="0" algn="ctr">
              <a:buNone/>
            </a:pPr>
            <a:r>
              <a:rPr lang="en-US" sz="1050" b="1" dirty="0">
                <a:solidFill>
                  <a:srgbClr val="13233F"/>
                </a:solidFill>
                <a:latin typeface="Tahoma" pitchFamily="34" charset="0"/>
                <a:ea typeface="Tahoma" pitchFamily="34" charset="-122"/>
                <a:cs typeface="Tahoma" pitchFamily="34" charset="-120"/>
              </a:rPr>
              <a:t>Applet /</a:t>
            </a:r>
            <a:endParaRPr lang="en-US" sz="1050" dirty="0"/>
          </a:p>
          <a:p>
            <a:pPr marL="0" indent="0" algn="ctr">
              <a:buNone/>
            </a:pPr>
            <a:r>
              <a:rPr lang="en-US" sz="1050" b="1" dirty="0">
                <a:solidFill>
                  <a:srgbClr val="13233F"/>
                </a:solidFill>
                <a:latin typeface="Tahoma" pitchFamily="34" charset="0"/>
                <a:ea typeface="Tahoma" pitchFamily="34" charset="-122"/>
                <a:cs typeface="Tahoma" pitchFamily="34" charset="-120"/>
              </a:rPr>
              <a:t>Tcl Policy</a:t>
            </a:r>
            <a:endParaRPr lang="en-US" sz="1050" dirty="0"/>
          </a:p>
        </p:txBody>
      </p:sp>
      <p:sp>
        <p:nvSpPr>
          <p:cNvPr id="32" name="Text 29"/>
          <p:cNvSpPr txBox="1"/>
          <p:nvPr/>
        </p:nvSpPr>
        <p:spPr>
          <a:xfrm>
            <a:off x="777240" y="4434840"/>
            <a:ext cx="3108960" cy="1691640"/>
          </a:xfrm>
          <a:prstGeom prst="rect">
            <a:avLst/>
          </a:prstGeom>
          <a:noFill/>
          <a:ln/>
        </p:spPr>
        <p:txBody>
          <a:bodyPr wrap="square" lIns="0" tIns="0" rIns="0" bIns="0" rtlCol="0" anchor="t"/>
          <a:lstStyle/>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ทำงาน: </a:t>
            </a:r>
            <a:r>
              <a:rPr lang="en-US" sz="1250" dirty="0">
                <a:solidFill>
                  <a:srgbClr val="1E2733"/>
                </a:solidFill>
                <a:latin typeface="Tahoma" pitchFamily="34" charset="0"/>
                <a:ea typeface="Tahoma" pitchFamily="34" charset="-122"/>
                <a:cs typeface="Tahoma" pitchFamily="34" charset="-120"/>
              </a:rPr>
              <a:t>ภายใน Cisco IOS / IOS XE ไม่ต้องมี server</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รูปแบบ: </a:t>
            </a:r>
            <a:r>
              <a:rPr lang="en-US" sz="1250" dirty="0">
                <a:solidFill>
                  <a:srgbClr val="1E2733"/>
                </a:solidFill>
                <a:latin typeface="Tahoma" pitchFamily="34" charset="0"/>
                <a:ea typeface="Tahoma" pitchFamily="34" charset="-122"/>
                <a:cs typeface="Tahoma" pitchFamily="34" charset="-120"/>
              </a:rPr>
              <a:t>Event-driven (if event → then action)</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ภาษา: </a:t>
            </a:r>
            <a:r>
              <a:rPr lang="en-US" sz="1250" dirty="0">
                <a:solidFill>
                  <a:srgbClr val="1E2733"/>
                </a:solidFill>
                <a:latin typeface="Tahoma" pitchFamily="34" charset="0"/>
                <a:ea typeface="Tahoma" pitchFamily="34" charset="-122"/>
                <a:cs typeface="Tahoma" pitchFamily="34" charset="-120"/>
              </a:rPr>
              <a:t>CLI applet หรือ Tcl script</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Transport: </a:t>
            </a:r>
            <a:r>
              <a:rPr lang="en-US" sz="1250" dirty="0">
                <a:solidFill>
                  <a:srgbClr val="1E2733"/>
                </a:solidFill>
                <a:latin typeface="Tahoma" pitchFamily="34" charset="0"/>
                <a:ea typeface="Tahoma" pitchFamily="34" charset="-122"/>
                <a:cs typeface="Tahoma" pitchFamily="34" charset="-120"/>
              </a:rPr>
              <a:t>ไม่มี (ประมวลผลในเครื่อง)</a:t>
            </a:r>
            <a:endParaRPr lang="en-US" sz="1250" dirty="0"/>
          </a:p>
        </p:txBody>
      </p:sp>
      <p:sp>
        <p:nvSpPr>
          <p:cNvPr id="33" name="Shape 30"/>
          <p:cNvSpPr/>
          <p:nvPr/>
        </p:nvSpPr>
        <p:spPr>
          <a:xfrm>
            <a:off x="4335628" y="1783080"/>
            <a:ext cx="3520440" cy="4434840"/>
          </a:xfrm>
          <a:prstGeom prst="roundRect">
            <a:avLst>
              <a:gd name="adj" fmla="val 2078"/>
            </a:avLst>
          </a:prstGeom>
          <a:solidFill>
            <a:srgbClr val="FFFFFF"/>
          </a:solidFill>
          <a:ln w="9525">
            <a:solidFill>
              <a:srgbClr val="D6DCE4"/>
            </a:solidFill>
            <a:prstDash val="solid"/>
          </a:ln>
        </p:spPr>
        <p:txBody>
          <a:bodyPr/>
          <a:lstStyle/>
          <a:p>
            <a:endParaRPr lang="en-TH"/>
          </a:p>
        </p:txBody>
      </p:sp>
      <p:sp>
        <p:nvSpPr>
          <p:cNvPr id="34" name="Shape 31"/>
          <p:cNvSpPr/>
          <p:nvPr/>
        </p:nvSpPr>
        <p:spPr>
          <a:xfrm>
            <a:off x="4335628" y="1783080"/>
            <a:ext cx="3520440" cy="868680"/>
          </a:xfrm>
          <a:prstGeom prst="roundRect">
            <a:avLst>
              <a:gd name="adj" fmla="val 8421"/>
            </a:avLst>
          </a:prstGeom>
          <a:solidFill>
            <a:srgbClr val="13233F"/>
          </a:solidFill>
          <a:ln w="12700">
            <a:solidFill>
              <a:srgbClr val="13233F"/>
            </a:solidFill>
            <a:prstDash val="solid"/>
          </a:ln>
        </p:spPr>
        <p:txBody>
          <a:bodyPr/>
          <a:lstStyle/>
          <a:p>
            <a:endParaRPr lang="en-TH"/>
          </a:p>
        </p:txBody>
      </p:sp>
      <p:sp>
        <p:nvSpPr>
          <p:cNvPr id="35" name="Shape 32"/>
          <p:cNvSpPr/>
          <p:nvPr/>
        </p:nvSpPr>
        <p:spPr>
          <a:xfrm>
            <a:off x="4335628" y="2240280"/>
            <a:ext cx="3520440" cy="411480"/>
          </a:xfrm>
          <a:prstGeom prst="rect">
            <a:avLst/>
          </a:prstGeom>
          <a:solidFill>
            <a:srgbClr val="13233F"/>
          </a:solidFill>
          <a:ln w="12700">
            <a:solidFill>
              <a:srgbClr val="13233F"/>
            </a:solidFill>
            <a:prstDash val="solid"/>
          </a:ln>
        </p:spPr>
        <p:txBody>
          <a:bodyPr/>
          <a:lstStyle/>
          <a:p>
            <a:endParaRPr lang="en-TH"/>
          </a:p>
        </p:txBody>
      </p:sp>
      <p:sp>
        <p:nvSpPr>
          <p:cNvPr id="36" name="Shape 33"/>
          <p:cNvSpPr/>
          <p:nvPr/>
        </p:nvSpPr>
        <p:spPr>
          <a:xfrm>
            <a:off x="4518508" y="1938528"/>
            <a:ext cx="548640" cy="548640"/>
          </a:xfrm>
          <a:prstGeom prst="ellipse">
            <a:avLst/>
          </a:prstGeom>
          <a:solidFill>
            <a:srgbClr val="1F3A5F"/>
          </a:solidFill>
          <a:ln w="12700">
            <a:solidFill>
              <a:srgbClr val="1F3A5F"/>
            </a:solidFill>
            <a:prstDash val="solid"/>
          </a:ln>
        </p:spPr>
        <p:txBody>
          <a:bodyPr/>
          <a:lstStyle/>
          <a:p>
            <a:endParaRPr lang="en-TH"/>
          </a:p>
        </p:txBody>
      </p:sp>
      <p:pic>
        <p:nvPicPr>
          <p:cNvPr id="37" name="Image 1" descr="preencoded.png"/>
          <p:cNvPicPr>
            <a:picLocks noChangeAspect="1"/>
          </p:cNvPicPr>
          <p:nvPr/>
        </p:nvPicPr>
        <p:blipFill>
          <a:blip r:embed="rId4"/>
          <a:stretch>
            <a:fillRect/>
          </a:stretch>
        </p:blipFill>
        <p:spPr>
          <a:xfrm>
            <a:off x="4644695" y="2064715"/>
            <a:ext cx="296266" cy="296266"/>
          </a:xfrm>
          <a:prstGeom prst="rect">
            <a:avLst/>
          </a:prstGeom>
        </p:spPr>
      </p:pic>
      <p:sp>
        <p:nvSpPr>
          <p:cNvPr id="38" name="Text 34"/>
          <p:cNvSpPr txBox="1"/>
          <p:nvPr/>
        </p:nvSpPr>
        <p:spPr>
          <a:xfrm>
            <a:off x="5204308" y="1892808"/>
            <a:ext cx="2514600" cy="347472"/>
          </a:xfrm>
          <a:prstGeom prst="rect">
            <a:avLst/>
          </a:prstGeom>
          <a:noFill/>
          <a:ln/>
        </p:spPr>
        <p:txBody>
          <a:bodyPr wrap="square" lIns="0" tIns="0" rIns="0" bIns="0" rtlCol="0" anchor="ctr"/>
          <a:lstStyle/>
          <a:p>
            <a:pPr marL="0" indent="0">
              <a:buNone/>
            </a:pPr>
            <a:r>
              <a:rPr lang="en-US" sz="1600" b="1" dirty="0">
                <a:solidFill>
                  <a:srgbClr val="FFFFFF"/>
                </a:solidFill>
                <a:latin typeface="Tahoma" pitchFamily="34" charset="0"/>
                <a:ea typeface="Tahoma" pitchFamily="34" charset="-122"/>
                <a:cs typeface="Tahoma" pitchFamily="34" charset="-120"/>
              </a:rPr>
              <a:t>Off-box · Agent-based</a:t>
            </a:r>
            <a:endParaRPr lang="en-US" sz="1600" dirty="0"/>
          </a:p>
        </p:txBody>
      </p:sp>
      <p:sp>
        <p:nvSpPr>
          <p:cNvPr id="39" name="Text 35"/>
          <p:cNvSpPr txBox="1"/>
          <p:nvPr/>
        </p:nvSpPr>
        <p:spPr>
          <a:xfrm>
            <a:off x="5204308" y="2240280"/>
            <a:ext cx="2514600" cy="292608"/>
          </a:xfrm>
          <a:prstGeom prst="rect">
            <a:avLst/>
          </a:prstGeom>
          <a:noFill/>
          <a:ln/>
        </p:spPr>
        <p:txBody>
          <a:bodyPr wrap="square" lIns="0" tIns="0" rIns="0" bIns="0" rtlCol="0" anchor="ctr"/>
          <a:lstStyle/>
          <a:p>
            <a:pPr marL="0" indent="0">
              <a:buNone/>
            </a:pPr>
            <a:r>
              <a:rPr lang="en-US" sz="1150" dirty="0">
                <a:solidFill>
                  <a:srgbClr val="D9BE82"/>
                </a:solidFill>
                <a:latin typeface="Tahoma" pitchFamily="34" charset="0"/>
                <a:ea typeface="Tahoma" pitchFamily="34" charset="-122"/>
                <a:cs typeface="Tahoma" pitchFamily="34" charset="-120"/>
              </a:rPr>
              <a:t>Puppet  ·  Chef  ·  SaltStack</a:t>
            </a:r>
            <a:endParaRPr lang="en-US" sz="1150" dirty="0"/>
          </a:p>
        </p:txBody>
      </p:sp>
      <p:sp>
        <p:nvSpPr>
          <p:cNvPr id="40" name="Shape 36"/>
          <p:cNvSpPr/>
          <p:nvPr/>
        </p:nvSpPr>
        <p:spPr>
          <a:xfrm>
            <a:off x="4518508" y="2999232"/>
            <a:ext cx="1097280" cy="1097280"/>
          </a:xfrm>
          <a:prstGeom prst="roundRect">
            <a:avLst>
              <a:gd name="adj" fmla="val 6667"/>
            </a:avLst>
          </a:prstGeom>
          <a:solidFill>
            <a:srgbClr val="1F3A5F"/>
          </a:solidFill>
          <a:ln w="12700">
            <a:solidFill>
              <a:srgbClr val="1F3A5F"/>
            </a:solidFill>
            <a:prstDash val="solid"/>
          </a:ln>
        </p:spPr>
        <p:txBody>
          <a:bodyPr/>
          <a:lstStyle/>
          <a:p>
            <a:endParaRPr lang="en-TH"/>
          </a:p>
        </p:txBody>
      </p:sp>
      <p:sp>
        <p:nvSpPr>
          <p:cNvPr id="41" name="Text 37"/>
          <p:cNvSpPr txBox="1"/>
          <p:nvPr/>
        </p:nvSpPr>
        <p:spPr>
          <a:xfrm>
            <a:off x="4518508" y="2999232"/>
            <a:ext cx="1097280" cy="1097280"/>
          </a:xfrm>
          <a:prstGeom prst="rect">
            <a:avLst/>
          </a:prstGeom>
          <a:noFill/>
          <a:ln/>
        </p:spPr>
        <p:txBody>
          <a:bodyPr wrap="square" lIns="0" tIns="0" rIns="0" bIns="0" rtlCol="0" anchor="ctr"/>
          <a:lstStyle/>
          <a:p>
            <a:pPr marL="0" indent="0" algn="ctr">
              <a:buNone/>
            </a:pPr>
            <a:r>
              <a:rPr lang="en-US" sz="1050" b="1" dirty="0">
                <a:solidFill>
                  <a:srgbClr val="FFFFFF"/>
                </a:solidFill>
                <a:latin typeface="Tahoma" pitchFamily="34" charset="0"/>
                <a:ea typeface="Tahoma" pitchFamily="34" charset="-122"/>
                <a:cs typeface="Tahoma" pitchFamily="34" charset="-120"/>
              </a:rPr>
              <a:t>Puppet / Chef</a:t>
            </a:r>
            <a:endParaRPr lang="en-US" sz="1050" dirty="0"/>
          </a:p>
          <a:p>
            <a:pPr marL="0" indent="0" algn="ctr">
              <a:buNone/>
            </a:pPr>
            <a:r>
              <a:rPr lang="en-US" sz="1050" b="1" dirty="0">
                <a:solidFill>
                  <a:srgbClr val="FFFFFF"/>
                </a:solidFill>
                <a:latin typeface="Tahoma" pitchFamily="34" charset="0"/>
                <a:ea typeface="Tahoma" pitchFamily="34" charset="-122"/>
                <a:cs typeface="Tahoma" pitchFamily="34" charset="-120"/>
              </a:rPr>
              <a:t>Server · Salt</a:t>
            </a:r>
            <a:endParaRPr lang="en-US" sz="1050" dirty="0"/>
          </a:p>
          <a:p>
            <a:pPr marL="0" indent="0" algn="ctr">
              <a:buNone/>
            </a:pPr>
            <a:r>
              <a:rPr lang="en-US" sz="1050" b="1" dirty="0">
                <a:solidFill>
                  <a:srgbClr val="FFFFFF"/>
                </a:solidFill>
                <a:latin typeface="Tahoma" pitchFamily="34" charset="0"/>
                <a:ea typeface="Tahoma" pitchFamily="34" charset="-122"/>
                <a:cs typeface="Tahoma" pitchFamily="34" charset="-120"/>
              </a:rPr>
              <a:t>Master</a:t>
            </a:r>
            <a:endParaRPr lang="en-US" sz="1050" dirty="0"/>
          </a:p>
        </p:txBody>
      </p:sp>
      <p:sp>
        <p:nvSpPr>
          <p:cNvPr id="42" name="Shape 38"/>
          <p:cNvSpPr/>
          <p:nvPr/>
        </p:nvSpPr>
        <p:spPr>
          <a:xfrm>
            <a:off x="6347308" y="2926080"/>
            <a:ext cx="1325880" cy="347472"/>
          </a:xfrm>
          <a:prstGeom prst="roundRect">
            <a:avLst>
              <a:gd name="adj" fmla="val 21053"/>
            </a:avLst>
          </a:prstGeom>
          <a:solidFill>
            <a:srgbClr val="F3F5F8"/>
          </a:solidFill>
          <a:ln w="9525">
            <a:solidFill>
              <a:srgbClr val="8FA6C1"/>
            </a:solidFill>
            <a:prstDash val="solid"/>
          </a:ln>
        </p:spPr>
        <p:txBody>
          <a:bodyPr/>
          <a:lstStyle/>
          <a:p>
            <a:endParaRPr lang="en-TH"/>
          </a:p>
        </p:txBody>
      </p:sp>
      <p:sp>
        <p:nvSpPr>
          <p:cNvPr id="43" name="Text 39"/>
          <p:cNvSpPr txBox="1"/>
          <p:nvPr/>
        </p:nvSpPr>
        <p:spPr>
          <a:xfrm>
            <a:off x="6347308" y="2926080"/>
            <a:ext cx="1325880" cy="347472"/>
          </a:xfrm>
          <a:prstGeom prst="rect">
            <a:avLst/>
          </a:prstGeom>
          <a:noFill/>
          <a:ln/>
        </p:spPr>
        <p:txBody>
          <a:bodyPr wrap="square" lIns="0" tIns="0" rIns="0" bIns="0" rtlCol="0" anchor="ctr"/>
          <a:lstStyle/>
          <a:p>
            <a:pPr marL="0" indent="0" algn="ctr">
              <a:buNone/>
            </a:pPr>
            <a:r>
              <a:rPr lang="en-US" sz="1000" dirty="0">
                <a:solidFill>
                  <a:srgbClr val="13233F"/>
                </a:solidFill>
                <a:latin typeface="Tahoma" pitchFamily="34" charset="0"/>
                <a:ea typeface="Tahoma" pitchFamily="34" charset="-122"/>
                <a:cs typeface="Tahoma" pitchFamily="34" charset="-120"/>
              </a:rPr>
              <a:t>Node + agent</a:t>
            </a:r>
            <a:endParaRPr lang="en-US" sz="1000" dirty="0"/>
          </a:p>
        </p:txBody>
      </p:sp>
      <p:sp>
        <p:nvSpPr>
          <p:cNvPr id="44" name="Shape 40"/>
          <p:cNvSpPr/>
          <p:nvPr/>
        </p:nvSpPr>
        <p:spPr>
          <a:xfrm flipH="1">
            <a:off x="5643220" y="3099816"/>
            <a:ext cx="685800" cy="448056"/>
          </a:xfrm>
          <a:prstGeom prst="line">
            <a:avLst/>
          </a:prstGeom>
          <a:noFill/>
          <a:ln w="15875">
            <a:solidFill>
              <a:srgbClr val="A9812F"/>
            </a:solidFill>
            <a:prstDash val="solid"/>
            <a:tailEnd type="triangle"/>
          </a:ln>
        </p:spPr>
        <p:txBody>
          <a:bodyPr/>
          <a:lstStyle/>
          <a:p>
            <a:endParaRPr lang="en-TH"/>
          </a:p>
        </p:txBody>
      </p:sp>
      <p:sp>
        <p:nvSpPr>
          <p:cNvPr id="45" name="Shape 41"/>
          <p:cNvSpPr/>
          <p:nvPr/>
        </p:nvSpPr>
        <p:spPr>
          <a:xfrm>
            <a:off x="6347308" y="3383280"/>
            <a:ext cx="1325880" cy="347472"/>
          </a:xfrm>
          <a:prstGeom prst="roundRect">
            <a:avLst>
              <a:gd name="adj" fmla="val 21053"/>
            </a:avLst>
          </a:prstGeom>
          <a:solidFill>
            <a:srgbClr val="F3F5F8"/>
          </a:solidFill>
          <a:ln w="9525">
            <a:solidFill>
              <a:srgbClr val="8FA6C1"/>
            </a:solidFill>
            <a:prstDash val="solid"/>
          </a:ln>
        </p:spPr>
        <p:txBody>
          <a:bodyPr/>
          <a:lstStyle/>
          <a:p>
            <a:endParaRPr lang="en-TH"/>
          </a:p>
        </p:txBody>
      </p:sp>
      <p:sp>
        <p:nvSpPr>
          <p:cNvPr id="46" name="Text 42"/>
          <p:cNvSpPr txBox="1"/>
          <p:nvPr/>
        </p:nvSpPr>
        <p:spPr>
          <a:xfrm>
            <a:off x="6347308" y="3383280"/>
            <a:ext cx="1325880" cy="347472"/>
          </a:xfrm>
          <a:prstGeom prst="rect">
            <a:avLst/>
          </a:prstGeom>
          <a:noFill/>
          <a:ln/>
        </p:spPr>
        <p:txBody>
          <a:bodyPr wrap="square" lIns="0" tIns="0" rIns="0" bIns="0" rtlCol="0" anchor="ctr"/>
          <a:lstStyle/>
          <a:p>
            <a:pPr marL="0" indent="0" algn="ctr">
              <a:buNone/>
            </a:pPr>
            <a:r>
              <a:rPr lang="en-US" sz="1000" dirty="0">
                <a:solidFill>
                  <a:srgbClr val="13233F"/>
                </a:solidFill>
                <a:latin typeface="Tahoma" pitchFamily="34" charset="0"/>
                <a:ea typeface="Tahoma" pitchFamily="34" charset="-122"/>
                <a:cs typeface="Tahoma" pitchFamily="34" charset="-120"/>
              </a:rPr>
              <a:t>Node + agent</a:t>
            </a:r>
            <a:endParaRPr lang="en-US" sz="1000" dirty="0"/>
          </a:p>
        </p:txBody>
      </p:sp>
      <p:sp>
        <p:nvSpPr>
          <p:cNvPr id="47" name="Shape 43"/>
          <p:cNvSpPr/>
          <p:nvPr/>
        </p:nvSpPr>
        <p:spPr>
          <a:xfrm flipH="1" flipV="1">
            <a:off x="5643220" y="3547872"/>
            <a:ext cx="685800" cy="9144"/>
          </a:xfrm>
          <a:prstGeom prst="line">
            <a:avLst/>
          </a:prstGeom>
          <a:noFill/>
          <a:ln w="15875">
            <a:solidFill>
              <a:srgbClr val="A9812F"/>
            </a:solidFill>
            <a:prstDash val="solid"/>
            <a:tailEnd type="triangle"/>
          </a:ln>
        </p:spPr>
        <p:txBody>
          <a:bodyPr/>
          <a:lstStyle/>
          <a:p>
            <a:endParaRPr lang="en-TH"/>
          </a:p>
        </p:txBody>
      </p:sp>
      <p:sp>
        <p:nvSpPr>
          <p:cNvPr id="48" name="Shape 44"/>
          <p:cNvSpPr/>
          <p:nvPr/>
        </p:nvSpPr>
        <p:spPr>
          <a:xfrm>
            <a:off x="6347308" y="3840480"/>
            <a:ext cx="1325880" cy="347472"/>
          </a:xfrm>
          <a:prstGeom prst="roundRect">
            <a:avLst>
              <a:gd name="adj" fmla="val 21053"/>
            </a:avLst>
          </a:prstGeom>
          <a:solidFill>
            <a:srgbClr val="F3F5F8"/>
          </a:solidFill>
          <a:ln w="9525">
            <a:solidFill>
              <a:srgbClr val="8FA6C1"/>
            </a:solidFill>
            <a:prstDash val="solid"/>
          </a:ln>
        </p:spPr>
        <p:txBody>
          <a:bodyPr/>
          <a:lstStyle/>
          <a:p>
            <a:endParaRPr lang="en-TH"/>
          </a:p>
        </p:txBody>
      </p:sp>
      <p:sp>
        <p:nvSpPr>
          <p:cNvPr id="49" name="Text 45"/>
          <p:cNvSpPr txBox="1"/>
          <p:nvPr/>
        </p:nvSpPr>
        <p:spPr>
          <a:xfrm>
            <a:off x="6347308" y="3840480"/>
            <a:ext cx="1325880" cy="347472"/>
          </a:xfrm>
          <a:prstGeom prst="rect">
            <a:avLst/>
          </a:prstGeom>
          <a:noFill/>
          <a:ln/>
        </p:spPr>
        <p:txBody>
          <a:bodyPr wrap="square" lIns="0" tIns="0" rIns="0" bIns="0" rtlCol="0" anchor="ctr"/>
          <a:lstStyle/>
          <a:p>
            <a:pPr marL="0" indent="0" algn="ctr">
              <a:buNone/>
            </a:pPr>
            <a:r>
              <a:rPr lang="en-US" sz="1000" dirty="0">
                <a:solidFill>
                  <a:srgbClr val="13233F"/>
                </a:solidFill>
                <a:latin typeface="Tahoma" pitchFamily="34" charset="0"/>
                <a:ea typeface="Tahoma" pitchFamily="34" charset="-122"/>
                <a:cs typeface="Tahoma" pitchFamily="34" charset="-120"/>
              </a:rPr>
              <a:t>Node + agent</a:t>
            </a:r>
            <a:endParaRPr lang="en-US" sz="1000" dirty="0"/>
          </a:p>
        </p:txBody>
      </p:sp>
      <p:sp>
        <p:nvSpPr>
          <p:cNvPr id="50" name="Shape 46"/>
          <p:cNvSpPr/>
          <p:nvPr/>
        </p:nvSpPr>
        <p:spPr>
          <a:xfrm flipH="1" flipV="1">
            <a:off x="5643220" y="3547872"/>
            <a:ext cx="685800" cy="466344"/>
          </a:xfrm>
          <a:prstGeom prst="line">
            <a:avLst/>
          </a:prstGeom>
          <a:noFill/>
          <a:ln w="15875">
            <a:solidFill>
              <a:srgbClr val="A9812F"/>
            </a:solidFill>
            <a:prstDash val="solid"/>
            <a:tailEnd type="triangle"/>
          </a:ln>
        </p:spPr>
        <p:txBody>
          <a:bodyPr/>
          <a:lstStyle/>
          <a:p>
            <a:endParaRPr lang="en-TH"/>
          </a:p>
        </p:txBody>
      </p:sp>
      <p:sp>
        <p:nvSpPr>
          <p:cNvPr id="51" name="Text 47"/>
          <p:cNvSpPr txBox="1"/>
          <p:nvPr/>
        </p:nvSpPr>
        <p:spPr>
          <a:xfrm>
            <a:off x="5707228" y="3977640"/>
            <a:ext cx="640080" cy="237744"/>
          </a:xfrm>
          <a:prstGeom prst="rect">
            <a:avLst/>
          </a:prstGeom>
          <a:noFill/>
          <a:ln/>
        </p:spPr>
        <p:txBody>
          <a:bodyPr wrap="square" lIns="0" tIns="0" rIns="0" bIns="0" rtlCol="0" anchor="t"/>
          <a:lstStyle/>
          <a:p>
            <a:pPr marL="0" indent="0" algn="ctr">
              <a:buNone/>
            </a:pPr>
            <a:r>
              <a:rPr lang="en-US" sz="1000" i="1" dirty="0">
                <a:solidFill>
                  <a:srgbClr val="A9812F"/>
                </a:solidFill>
                <a:latin typeface="Tahoma" pitchFamily="34" charset="0"/>
                <a:ea typeface="Tahoma" pitchFamily="34" charset="-122"/>
                <a:cs typeface="Tahoma" pitchFamily="34" charset="-120"/>
              </a:rPr>
              <a:t>pull</a:t>
            </a:r>
            <a:endParaRPr lang="en-US" sz="1000" dirty="0"/>
          </a:p>
        </p:txBody>
      </p:sp>
      <p:sp>
        <p:nvSpPr>
          <p:cNvPr id="52" name="Text 48"/>
          <p:cNvSpPr txBox="1"/>
          <p:nvPr/>
        </p:nvSpPr>
        <p:spPr>
          <a:xfrm>
            <a:off x="4564228" y="4434840"/>
            <a:ext cx="3108960" cy="1691640"/>
          </a:xfrm>
          <a:prstGeom prst="rect">
            <a:avLst/>
          </a:prstGeom>
          <a:noFill/>
          <a:ln/>
        </p:spPr>
        <p:txBody>
          <a:bodyPr wrap="square" lIns="0" tIns="0" rIns="0" bIns="0" rtlCol="0" anchor="t"/>
          <a:lstStyle/>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ทำงาน: </a:t>
            </a:r>
            <a:r>
              <a:rPr lang="en-US" sz="1250" dirty="0">
                <a:solidFill>
                  <a:srgbClr val="1E2733"/>
                </a:solidFill>
                <a:latin typeface="Tahoma" pitchFamily="34" charset="0"/>
                <a:ea typeface="Tahoma" pitchFamily="34" charset="-122"/>
                <a:cs typeface="Tahoma" pitchFamily="34" charset="-120"/>
              </a:rPr>
              <a:t>ต้องติดตั้ง agent / minion บนปลายทาง</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รูปแบบ: </a:t>
            </a:r>
            <a:r>
              <a:rPr lang="en-US" sz="1250" dirty="0">
                <a:solidFill>
                  <a:srgbClr val="1E2733"/>
                </a:solidFill>
                <a:latin typeface="Tahoma" pitchFamily="34" charset="0"/>
                <a:ea typeface="Tahoma" pitchFamily="34" charset="-122"/>
                <a:cs typeface="Tahoma" pitchFamily="34" charset="-120"/>
              </a:rPr>
              <a:t>Pull ตามรอบเวลา (Salt: push + event bus)</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Port: </a:t>
            </a:r>
            <a:r>
              <a:rPr lang="en-US" sz="1250" dirty="0">
                <a:solidFill>
                  <a:srgbClr val="1E2733"/>
                </a:solidFill>
                <a:latin typeface="Tahoma" pitchFamily="34" charset="0"/>
                <a:ea typeface="Tahoma" pitchFamily="34" charset="-122"/>
                <a:cs typeface="Tahoma" pitchFamily="34" charset="-120"/>
              </a:rPr>
              <a:t>Puppet 8140 · Chef 443 · Salt 4505/4506</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เหมาะกับ: </a:t>
            </a:r>
            <a:r>
              <a:rPr lang="en-US" sz="1250" dirty="0">
                <a:solidFill>
                  <a:srgbClr val="1E2733"/>
                </a:solidFill>
                <a:latin typeface="Tahoma" pitchFamily="34" charset="0"/>
                <a:ea typeface="Tahoma" pitchFamily="34" charset="-122"/>
                <a:cs typeface="Tahoma" pitchFamily="34" charset="-120"/>
              </a:rPr>
              <a:t>server / OS จำนวนมาก</a:t>
            </a:r>
            <a:endParaRPr lang="en-US" sz="1250" dirty="0"/>
          </a:p>
        </p:txBody>
      </p:sp>
      <p:sp>
        <p:nvSpPr>
          <p:cNvPr id="53" name="Shape 49"/>
          <p:cNvSpPr/>
          <p:nvPr/>
        </p:nvSpPr>
        <p:spPr>
          <a:xfrm>
            <a:off x="8122615" y="1783080"/>
            <a:ext cx="3520440" cy="4434840"/>
          </a:xfrm>
          <a:prstGeom prst="roundRect">
            <a:avLst>
              <a:gd name="adj" fmla="val 2078"/>
            </a:avLst>
          </a:prstGeom>
          <a:solidFill>
            <a:srgbClr val="FFFFFF"/>
          </a:solidFill>
          <a:ln w="9525">
            <a:solidFill>
              <a:srgbClr val="D6DCE4"/>
            </a:solidFill>
            <a:prstDash val="solid"/>
          </a:ln>
        </p:spPr>
        <p:txBody>
          <a:bodyPr/>
          <a:lstStyle/>
          <a:p>
            <a:endParaRPr lang="en-TH"/>
          </a:p>
        </p:txBody>
      </p:sp>
      <p:sp>
        <p:nvSpPr>
          <p:cNvPr id="54" name="Shape 50"/>
          <p:cNvSpPr/>
          <p:nvPr/>
        </p:nvSpPr>
        <p:spPr>
          <a:xfrm>
            <a:off x="8122615" y="1783080"/>
            <a:ext cx="3520440" cy="868680"/>
          </a:xfrm>
          <a:prstGeom prst="roundRect">
            <a:avLst>
              <a:gd name="adj" fmla="val 8421"/>
            </a:avLst>
          </a:prstGeom>
          <a:solidFill>
            <a:srgbClr val="13233F"/>
          </a:solidFill>
          <a:ln w="12700">
            <a:solidFill>
              <a:srgbClr val="13233F"/>
            </a:solidFill>
            <a:prstDash val="solid"/>
          </a:ln>
        </p:spPr>
        <p:txBody>
          <a:bodyPr/>
          <a:lstStyle/>
          <a:p>
            <a:endParaRPr lang="en-TH"/>
          </a:p>
        </p:txBody>
      </p:sp>
      <p:sp>
        <p:nvSpPr>
          <p:cNvPr id="55" name="Shape 51"/>
          <p:cNvSpPr/>
          <p:nvPr/>
        </p:nvSpPr>
        <p:spPr>
          <a:xfrm>
            <a:off x="8122615" y="2240280"/>
            <a:ext cx="3520440" cy="411480"/>
          </a:xfrm>
          <a:prstGeom prst="rect">
            <a:avLst/>
          </a:prstGeom>
          <a:solidFill>
            <a:srgbClr val="13233F"/>
          </a:solidFill>
          <a:ln w="12700">
            <a:solidFill>
              <a:srgbClr val="13233F"/>
            </a:solidFill>
            <a:prstDash val="solid"/>
          </a:ln>
        </p:spPr>
        <p:txBody>
          <a:bodyPr/>
          <a:lstStyle/>
          <a:p>
            <a:endParaRPr lang="en-TH"/>
          </a:p>
        </p:txBody>
      </p:sp>
      <p:sp>
        <p:nvSpPr>
          <p:cNvPr id="56" name="Shape 52"/>
          <p:cNvSpPr/>
          <p:nvPr/>
        </p:nvSpPr>
        <p:spPr>
          <a:xfrm>
            <a:off x="8305495" y="1938528"/>
            <a:ext cx="548640" cy="548640"/>
          </a:xfrm>
          <a:prstGeom prst="ellipse">
            <a:avLst/>
          </a:prstGeom>
          <a:solidFill>
            <a:srgbClr val="1F3A5F"/>
          </a:solidFill>
          <a:ln w="12700">
            <a:solidFill>
              <a:srgbClr val="1F3A5F"/>
            </a:solidFill>
            <a:prstDash val="solid"/>
          </a:ln>
        </p:spPr>
        <p:txBody>
          <a:bodyPr/>
          <a:lstStyle/>
          <a:p>
            <a:endParaRPr lang="en-TH"/>
          </a:p>
        </p:txBody>
      </p:sp>
      <p:pic>
        <p:nvPicPr>
          <p:cNvPr id="57" name="Image 2" descr="preencoded.png"/>
          <p:cNvPicPr>
            <a:picLocks noChangeAspect="1"/>
          </p:cNvPicPr>
          <p:nvPr/>
        </p:nvPicPr>
        <p:blipFill>
          <a:blip r:embed="rId5"/>
          <a:stretch>
            <a:fillRect/>
          </a:stretch>
        </p:blipFill>
        <p:spPr>
          <a:xfrm>
            <a:off x="8431682" y="2064715"/>
            <a:ext cx="296266" cy="296266"/>
          </a:xfrm>
          <a:prstGeom prst="rect">
            <a:avLst/>
          </a:prstGeom>
        </p:spPr>
      </p:pic>
      <p:sp>
        <p:nvSpPr>
          <p:cNvPr id="58" name="Text 53"/>
          <p:cNvSpPr txBox="1"/>
          <p:nvPr/>
        </p:nvSpPr>
        <p:spPr>
          <a:xfrm>
            <a:off x="8991295" y="1892808"/>
            <a:ext cx="2514600" cy="347472"/>
          </a:xfrm>
          <a:prstGeom prst="rect">
            <a:avLst/>
          </a:prstGeom>
          <a:noFill/>
          <a:ln/>
        </p:spPr>
        <p:txBody>
          <a:bodyPr wrap="square" lIns="0" tIns="0" rIns="0" bIns="0" rtlCol="0" anchor="ctr"/>
          <a:lstStyle/>
          <a:p>
            <a:pPr marL="0" indent="0">
              <a:buNone/>
            </a:pPr>
            <a:r>
              <a:rPr lang="en-US" sz="1600" b="1" dirty="0">
                <a:solidFill>
                  <a:srgbClr val="FFFFFF"/>
                </a:solidFill>
                <a:latin typeface="Tahoma" pitchFamily="34" charset="0"/>
                <a:ea typeface="Tahoma" pitchFamily="34" charset="-122"/>
                <a:cs typeface="Tahoma" pitchFamily="34" charset="-120"/>
              </a:rPr>
              <a:t>Off-box · Agentless</a:t>
            </a:r>
            <a:endParaRPr lang="en-US" sz="1600" dirty="0"/>
          </a:p>
        </p:txBody>
      </p:sp>
      <p:sp>
        <p:nvSpPr>
          <p:cNvPr id="59" name="Text 54"/>
          <p:cNvSpPr txBox="1"/>
          <p:nvPr/>
        </p:nvSpPr>
        <p:spPr>
          <a:xfrm>
            <a:off x="8991295" y="2240280"/>
            <a:ext cx="2514600" cy="292608"/>
          </a:xfrm>
          <a:prstGeom prst="rect">
            <a:avLst/>
          </a:prstGeom>
          <a:noFill/>
          <a:ln/>
        </p:spPr>
        <p:txBody>
          <a:bodyPr wrap="square" lIns="0" tIns="0" rIns="0" bIns="0" rtlCol="0" anchor="ctr"/>
          <a:lstStyle/>
          <a:p>
            <a:pPr marL="0" indent="0">
              <a:buNone/>
            </a:pPr>
            <a:r>
              <a:rPr lang="en-US" sz="1150" dirty="0">
                <a:solidFill>
                  <a:srgbClr val="D9BE82"/>
                </a:solidFill>
                <a:latin typeface="Tahoma" pitchFamily="34" charset="0"/>
                <a:ea typeface="Tahoma" pitchFamily="34" charset="-122"/>
                <a:cs typeface="Tahoma" pitchFamily="34" charset="-120"/>
              </a:rPr>
              <a:t>Ansible  ·  Puppet Bolt  ·  Salt SSH</a:t>
            </a:r>
            <a:endParaRPr lang="en-US" sz="1150" dirty="0"/>
          </a:p>
        </p:txBody>
      </p:sp>
      <p:sp>
        <p:nvSpPr>
          <p:cNvPr id="60" name="Shape 55"/>
          <p:cNvSpPr/>
          <p:nvPr/>
        </p:nvSpPr>
        <p:spPr>
          <a:xfrm>
            <a:off x="8305495" y="2999232"/>
            <a:ext cx="1097280" cy="1097280"/>
          </a:xfrm>
          <a:prstGeom prst="roundRect">
            <a:avLst>
              <a:gd name="adj" fmla="val 6667"/>
            </a:avLst>
          </a:prstGeom>
          <a:solidFill>
            <a:srgbClr val="1F3A5F"/>
          </a:solidFill>
          <a:ln w="12700">
            <a:solidFill>
              <a:srgbClr val="1F3A5F"/>
            </a:solidFill>
            <a:prstDash val="solid"/>
          </a:ln>
        </p:spPr>
        <p:txBody>
          <a:bodyPr/>
          <a:lstStyle/>
          <a:p>
            <a:endParaRPr lang="en-TH"/>
          </a:p>
        </p:txBody>
      </p:sp>
      <p:sp>
        <p:nvSpPr>
          <p:cNvPr id="61" name="Text 56"/>
          <p:cNvSpPr txBox="1"/>
          <p:nvPr/>
        </p:nvSpPr>
        <p:spPr>
          <a:xfrm>
            <a:off x="8305495" y="2999232"/>
            <a:ext cx="1097280" cy="1097280"/>
          </a:xfrm>
          <a:prstGeom prst="rect">
            <a:avLst/>
          </a:prstGeom>
          <a:noFill/>
          <a:ln/>
        </p:spPr>
        <p:txBody>
          <a:bodyPr wrap="square" lIns="0" tIns="0" rIns="0" bIns="0" rtlCol="0" anchor="ctr"/>
          <a:lstStyle/>
          <a:p>
            <a:pPr marL="0" indent="0" algn="ctr">
              <a:buNone/>
            </a:pPr>
            <a:r>
              <a:rPr lang="en-US" sz="1050" b="1" dirty="0">
                <a:solidFill>
                  <a:srgbClr val="FFFFFF"/>
                </a:solidFill>
                <a:latin typeface="Tahoma" pitchFamily="34" charset="0"/>
                <a:ea typeface="Tahoma" pitchFamily="34" charset="-122"/>
                <a:cs typeface="Tahoma" pitchFamily="34" charset="-120"/>
              </a:rPr>
              <a:t>Control</a:t>
            </a:r>
            <a:endParaRPr lang="en-US" sz="1050" dirty="0"/>
          </a:p>
          <a:p>
            <a:pPr marL="0" indent="0" algn="ctr">
              <a:buNone/>
            </a:pPr>
            <a:r>
              <a:rPr lang="en-US" sz="1050" b="1" dirty="0">
                <a:solidFill>
                  <a:srgbClr val="FFFFFF"/>
                </a:solidFill>
                <a:latin typeface="Tahoma" pitchFamily="34" charset="0"/>
                <a:ea typeface="Tahoma" pitchFamily="34" charset="-122"/>
                <a:cs typeface="Tahoma" pitchFamily="34" charset="-120"/>
              </a:rPr>
              <a:t>Node</a:t>
            </a:r>
            <a:endParaRPr lang="en-US" sz="1050" dirty="0"/>
          </a:p>
        </p:txBody>
      </p:sp>
      <p:sp>
        <p:nvSpPr>
          <p:cNvPr id="62" name="Shape 57"/>
          <p:cNvSpPr/>
          <p:nvPr/>
        </p:nvSpPr>
        <p:spPr>
          <a:xfrm>
            <a:off x="10134295" y="2926080"/>
            <a:ext cx="1325880" cy="347472"/>
          </a:xfrm>
          <a:prstGeom prst="roundRect">
            <a:avLst>
              <a:gd name="adj" fmla="val 21053"/>
            </a:avLst>
          </a:prstGeom>
          <a:solidFill>
            <a:srgbClr val="F3F5F8"/>
          </a:solidFill>
          <a:ln w="9525">
            <a:solidFill>
              <a:srgbClr val="8FA6C1"/>
            </a:solidFill>
            <a:prstDash val="solid"/>
          </a:ln>
        </p:spPr>
        <p:txBody>
          <a:bodyPr/>
          <a:lstStyle/>
          <a:p>
            <a:endParaRPr lang="en-TH"/>
          </a:p>
        </p:txBody>
      </p:sp>
      <p:sp>
        <p:nvSpPr>
          <p:cNvPr id="63" name="Text 58"/>
          <p:cNvSpPr txBox="1"/>
          <p:nvPr/>
        </p:nvSpPr>
        <p:spPr>
          <a:xfrm>
            <a:off x="10134295" y="2926080"/>
            <a:ext cx="1325880" cy="347472"/>
          </a:xfrm>
          <a:prstGeom prst="rect">
            <a:avLst/>
          </a:prstGeom>
          <a:noFill/>
          <a:ln/>
        </p:spPr>
        <p:txBody>
          <a:bodyPr wrap="square" lIns="0" tIns="0" rIns="0" bIns="0" rtlCol="0" anchor="ctr"/>
          <a:lstStyle/>
          <a:p>
            <a:pPr marL="0" indent="0" algn="ctr">
              <a:buNone/>
            </a:pPr>
            <a:r>
              <a:rPr lang="en-US" sz="1000" dirty="0">
                <a:solidFill>
                  <a:srgbClr val="13233F"/>
                </a:solidFill>
                <a:latin typeface="Tahoma" pitchFamily="34" charset="0"/>
                <a:ea typeface="Tahoma" pitchFamily="34" charset="-122"/>
                <a:cs typeface="Tahoma" pitchFamily="34" charset="-120"/>
              </a:rPr>
              <a:t>Router / Switch</a:t>
            </a:r>
            <a:endParaRPr lang="en-US" sz="1000" dirty="0"/>
          </a:p>
        </p:txBody>
      </p:sp>
      <p:sp>
        <p:nvSpPr>
          <p:cNvPr id="64" name="Shape 59"/>
          <p:cNvSpPr/>
          <p:nvPr/>
        </p:nvSpPr>
        <p:spPr>
          <a:xfrm flipV="1">
            <a:off x="9430207" y="3099816"/>
            <a:ext cx="685800" cy="448056"/>
          </a:xfrm>
          <a:prstGeom prst="line">
            <a:avLst/>
          </a:prstGeom>
          <a:noFill/>
          <a:ln w="15875">
            <a:solidFill>
              <a:srgbClr val="A9812F"/>
            </a:solidFill>
            <a:prstDash val="solid"/>
            <a:tailEnd type="triangle"/>
          </a:ln>
        </p:spPr>
        <p:txBody>
          <a:bodyPr/>
          <a:lstStyle/>
          <a:p>
            <a:endParaRPr lang="en-TH"/>
          </a:p>
        </p:txBody>
      </p:sp>
      <p:sp>
        <p:nvSpPr>
          <p:cNvPr id="65" name="Shape 60"/>
          <p:cNvSpPr/>
          <p:nvPr/>
        </p:nvSpPr>
        <p:spPr>
          <a:xfrm>
            <a:off x="10134295" y="3383280"/>
            <a:ext cx="1325880" cy="347472"/>
          </a:xfrm>
          <a:prstGeom prst="roundRect">
            <a:avLst>
              <a:gd name="adj" fmla="val 21053"/>
            </a:avLst>
          </a:prstGeom>
          <a:solidFill>
            <a:srgbClr val="F3F5F8"/>
          </a:solidFill>
          <a:ln w="9525">
            <a:solidFill>
              <a:srgbClr val="8FA6C1"/>
            </a:solidFill>
            <a:prstDash val="solid"/>
          </a:ln>
        </p:spPr>
        <p:txBody>
          <a:bodyPr/>
          <a:lstStyle/>
          <a:p>
            <a:endParaRPr lang="en-TH"/>
          </a:p>
        </p:txBody>
      </p:sp>
      <p:sp>
        <p:nvSpPr>
          <p:cNvPr id="66" name="Text 61"/>
          <p:cNvSpPr txBox="1"/>
          <p:nvPr/>
        </p:nvSpPr>
        <p:spPr>
          <a:xfrm>
            <a:off x="10134295" y="3383280"/>
            <a:ext cx="1325880" cy="347472"/>
          </a:xfrm>
          <a:prstGeom prst="rect">
            <a:avLst/>
          </a:prstGeom>
          <a:noFill/>
          <a:ln/>
        </p:spPr>
        <p:txBody>
          <a:bodyPr wrap="square" lIns="0" tIns="0" rIns="0" bIns="0" rtlCol="0" anchor="ctr"/>
          <a:lstStyle/>
          <a:p>
            <a:pPr marL="0" indent="0" algn="ctr">
              <a:buNone/>
            </a:pPr>
            <a:r>
              <a:rPr lang="en-US" sz="1000" dirty="0">
                <a:solidFill>
                  <a:srgbClr val="13233F"/>
                </a:solidFill>
                <a:latin typeface="Tahoma" pitchFamily="34" charset="0"/>
                <a:ea typeface="Tahoma" pitchFamily="34" charset="-122"/>
                <a:cs typeface="Tahoma" pitchFamily="34" charset="-120"/>
              </a:rPr>
              <a:t>Router / Switch</a:t>
            </a:r>
            <a:endParaRPr lang="en-US" sz="1000" dirty="0"/>
          </a:p>
        </p:txBody>
      </p:sp>
      <p:sp>
        <p:nvSpPr>
          <p:cNvPr id="67" name="Shape 62"/>
          <p:cNvSpPr/>
          <p:nvPr/>
        </p:nvSpPr>
        <p:spPr>
          <a:xfrm>
            <a:off x="9430207" y="3547872"/>
            <a:ext cx="685800" cy="9144"/>
          </a:xfrm>
          <a:prstGeom prst="line">
            <a:avLst/>
          </a:prstGeom>
          <a:noFill/>
          <a:ln w="15875">
            <a:solidFill>
              <a:srgbClr val="A9812F"/>
            </a:solidFill>
            <a:prstDash val="solid"/>
            <a:tailEnd type="triangle"/>
          </a:ln>
        </p:spPr>
        <p:txBody>
          <a:bodyPr/>
          <a:lstStyle/>
          <a:p>
            <a:endParaRPr lang="en-TH"/>
          </a:p>
        </p:txBody>
      </p:sp>
      <p:sp>
        <p:nvSpPr>
          <p:cNvPr id="68" name="Shape 63"/>
          <p:cNvSpPr/>
          <p:nvPr/>
        </p:nvSpPr>
        <p:spPr>
          <a:xfrm>
            <a:off x="10134295" y="3840480"/>
            <a:ext cx="1325880" cy="347472"/>
          </a:xfrm>
          <a:prstGeom prst="roundRect">
            <a:avLst>
              <a:gd name="adj" fmla="val 21053"/>
            </a:avLst>
          </a:prstGeom>
          <a:solidFill>
            <a:srgbClr val="F3F5F8"/>
          </a:solidFill>
          <a:ln w="9525">
            <a:solidFill>
              <a:srgbClr val="8FA6C1"/>
            </a:solidFill>
            <a:prstDash val="solid"/>
          </a:ln>
        </p:spPr>
        <p:txBody>
          <a:bodyPr/>
          <a:lstStyle/>
          <a:p>
            <a:endParaRPr lang="en-TH"/>
          </a:p>
        </p:txBody>
      </p:sp>
      <p:sp>
        <p:nvSpPr>
          <p:cNvPr id="69" name="Text 64"/>
          <p:cNvSpPr txBox="1"/>
          <p:nvPr/>
        </p:nvSpPr>
        <p:spPr>
          <a:xfrm>
            <a:off x="10134295" y="3840480"/>
            <a:ext cx="1325880" cy="347472"/>
          </a:xfrm>
          <a:prstGeom prst="rect">
            <a:avLst/>
          </a:prstGeom>
          <a:noFill/>
          <a:ln/>
        </p:spPr>
        <p:txBody>
          <a:bodyPr wrap="square" lIns="0" tIns="0" rIns="0" bIns="0" rtlCol="0" anchor="ctr"/>
          <a:lstStyle/>
          <a:p>
            <a:pPr marL="0" indent="0" algn="ctr">
              <a:buNone/>
            </a:pPr>
            <a:r>
              <a:rPr lang="en-US" sz="1000" dirty="0">
                <a:solidFill>
                  <a:srgbClr val="13233F"/>
                </a:solidFill>
                <a:latin typeface="Tahoma" pitchFamily="34" charset="0"/>
                <a:ea typeface="Tahoma" pitchFamily="34" charset="-122"/>
                <a:cs typeface="Tahoma" pitchFamily="34" charset="-120"/>
              </a:rPr>
              <a:t>Router / Switch</a:t>
            </a:r>
            <a:endParaRPr lang="en-US" sz="1000" dirty="0"/>
          </a:p>
        </p:txBody>
      </p:sp>
      <p:sp>
        <p:nvSpPr>
          <p:cNvPr id="70" name="Shape 65"/>
          <p:cNvSpPr/>
          <p:nvPr/>
        </p:nvSpPr>
        <p:spPr>
          <a:xfrm>
            <a:off x="9430207" y="3547872"/>
            <a:ext cx="685800" cy="466344"/>
          </a:xfrm>
          <a:prstGeom prst="line">
            <a:avLst/>
          </a:prstGeom>
          <a:noFill/>
          <a:ln w="15875">
            <a:solidFill>
              <a:srgbClr val="A9812F"/>
            </a:solidFill>
            <a:prstDash val="solid"/>
            <a:tailEnd type="triangle"/>
          </a:ln>
        </p:spPr>
        <p:txBody>
          <a:bodyPr/>
          <a:lstStyle/>
          <a:p>
            <a:endParaRPr lang="en-TH"/>
          </a:p>
        </p:txBody>
      </p:sp>
      <p:sp>
        <p:nvSpPr>
          <p:cNvPr id="71" name="Text 66"/>
          <p:cNvSpPr txBox="1"/>
          <p:nvPr/>
        </p:nvSpPr>
        <p:spPr>
          <a:xfrm>
            <a:off x="9494215" y="3977640"/>
            <a:ext cx="640080" cy="237744"/>
          </a:xfrm>
          <a:prstGeom prst="rect">
            <a:avLst/>
          </a:prstGeom>
          <a:noFill/>
          <a:ln/>
        </p:spPr>
        <p:txBody>
          <a:bodyPr wrap="square" lIns="0" tIns="0" rIns="0" bIns="0" rtlCol="0" anchor="t"/>
          <a:lstStyle/>
          <a:p>
            <a:pPr marL="0" indent="0" algn="ctr">
              <a:buNone/>
            </a:pPr>
            <a:r>
              <a:rPr lang="en-US" sz="1000" i="1" dirty="0">
                <a:solidFill>
                  <a:srgbClr val="A9812F"/>
                </a:solidFill>
                <a:latin typeface="Tahoma" pitchFamily="34" charset="0"/>
                <a:ea typeface="Tahoma" pitchFamily="34" charset="-122"/>
                <a:cs typeface="Tahoma" pitchFamily="34" charset="-120"/>
              </a:rPr>
              <a:t>SSH</a:t>
            </a:r>
            <a:endParaRPr lang="en-US" sz="1000" dirty="0"/>
          </a:p>
        </p:txBody>
      </p:sp>
      <p:sp>
        <p:nvSpPr>
          <p:cNvPr id="72" name="Text 67"/>
          <p:cNvSpPr txBox="1"/>
          <p:nvPr/>
        </p:nvSpPr>
        <p:spPr>
          <a:xfrm>
            <a:off x="8351215" y="4434840"/>
            <a:ext cx="3108960" cy="1691640"/>
          </a:xfrm>
          <a:prstGeom prst="rect">
            <a:avLst/>
          </a:prstGeom>
          <a:noFill/>
          <a:ln/>
        </p:spPr>
        <p:txBody>
          <a:bodyPr wrap="square" lIns="0" tIns="0" rIns="0" bIns="0" rtlCol="0" anchor="t"/>
          <a:lstStyle/>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ทำงาน: </a:t>
            </a:r>
            <a:r>
              <a:rPr lang="en-US" sz="1250" dirty="0">
                <a:solidFill>
                  <a:srgbClr val="1E2733"/>
                </a:solidFill>
                <a:latin typeface="Tahoma" pitchFamily="34" charset="0"/>
                <a:ea typeface="Tahoma" pitchFamily="34" charset="-122"/>
                <a:cs typeface="Tahoma" pitchFamily="34" charset="-120"/>
              </a:rPr>
              <a:t>ไม่ต้องติดตั้งอะไรบนอุปกรณ์</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รูปแบบ: </a:t>
            </a:r>
            <a:r>
              <a:rPr lang="en-US" sz="1250" dirty="0">
                <a:solidFill>
                  <a:srgbClr val="1E2733"/>
                </a:solidFill>
                <a:latin typeface="Tahoma" pitchFamily="34" charset="0"/>
                <a:ea typeface="Tahoma" pitchFamily="34" charset="-122"/>
                <a:cs typeface="Tahoma" pitchFamily="34" charset="-120"/>
              </a:rPr>
              <a:t>Push จาก control node</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Transport: </a:t>
            </a:r>
            <a:r>
              <a:rPr lang="en-US" sz="1250" dirty="0">
                <a:solidFill>
                  <a:srgbClr val="1E2733"/>
                </a:solidFill>
                <a:latin typeface="Tahoma" pitchFamily="34" charset="0"/>
                <a:ea typeface="Tahoma" pitchFamily="34" charset="-122"/>
                <a:cs typeface="Tahoma" pitchFamily="34" charset="-120"/>
              </a:rPr>
              <a:t>SSH 22 · WinRM 5985/5986 · HTTPS API</a:t>
            </a:r>
            <a:endParaRPr lang="en-US" sz="1250" dirty="0"/>
          </a:p>
          <a:p>
            <a:pPr marL="0" indent="0">
              <a:spcAft>
                <a:spcPts val="700"/>
              </a:spcAft>
              <a:buNone/>
            </a:pPr>
            <a:r>
              <a:rPr lang="en-US" sz="1250" b="1" dirty="0">
                <a:solidFill>
                  <a:srgbClr val="13233F"/>
                </a:solidFill>
                <a:latin typeface="Tahoma" pitchFamily="34" charset="0"/>
                <a:ea typeface="Tahoma" pitchFamily="34" charset="-122"/>
                <a:cs typeface="Tahoma" pitchFamily="34" charset="-120"/>
              </a:rPr>
              <a:t>เหมาะกับ: </a:t>
            </a:r>
            <a:r>
              <a:rPr lang="en-US" sz="1250" dirty="0">
                <a:solidFill>
                  <a:srgbClr val="1E2733"/>
                </a:solidFill>
                <a:latin typeface="Tahoma" pitchFamily="34" charset="0"/>
                <a:ea typeface="Tahoma" pitchFamily="34" charset="-122"/>
                <a:cs typeface="Tahoma" pitchFamily="34" charset="-120"/>
              </a:rPr>
              <a:t>router / switch ที่ลง agent ไม่ได้</a:t>
            </a:r>
            <a:endParaRPr lang="en-US" sz="1250" dirty="0"/>
          </a:p>
        </p:txBody>
      </p:sp>
      <p:sp>
        <p:nvSpPr>
          <p:cNvPr id="73" name="Text 68"/>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74" name="Text 69"/>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1  ·  แนวคิดเบื้องต้นและสถาปัตยกรรม</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EEM: กลไกการทำงานภายในอุปกรณ์</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Event Detector ตรวจจับเหตุการณ์ → EEM Server จับคู่กับ policy ที่ลงทะเบียนไว้ → Policy Director สั่งรัน action</a:t>
            </a:r>
            <a:endParaRPr lang="en-US" sz="1400" dirty="0"/>
          </a:p>
        </p:txBody>
      </p:sp>
      <p:sp>
        <p:nvSpPr>
          <p:cNvPr id="5" name="Shape 3"/>
          <p:cNvSpPr/>
          <p:nvPr/>
        </p:nvSpPr>
        <p:spPr>
          <a:xfrm>
            <a:off x="9722815"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2788920" cy="658368"/>
          </a:xfrm>
          <a:prstGeom prst="roundRect">
            <a:avLst>
              <a:gd name="adj" fmla="val 8333"/>
            </a:avLst>
          </a:prstGeom>
          <a:solidFill>
            <a:srgbClr val="FFFFFF"/>
          </a:solidFill>
          <a:ln w="12700">
            <a:solidFill>
              <a:srgbClr val="4A6A8F"/>
            </a:solidFill>
            <a:prstDash val="solid"/>
          </a:ln>
        </p:spPr>
        <p:txBody>
          <a:bodyPr/>
          <a:lstStyle/>
          <a:p>
            <a:endParaRPr lang="en-TH"/>
          </a:p>
        </p:txBody>
      </p:sp>
      <p:sp>
        <p:nvSpPr>
          <p:cNvPr id="16" name="Text 14"/>
          <p:cNvSpPr txBox="1"/>
          <p:nvPr/>
        </p:nvSpPr>
        <p:spPr>
          <a:xfrm>
            <a:off x="548640" y="1783080"/>
            <a:ext cx="2788920" cy="658368"/>
          </a:xfrm>
          <a:prstGeom prst="rect">
            <a:avLst/>
          </a:prstGeom>
          <a:noFill/>
          <a:ln/>
        </p:spPr>
        <p:txBody>
          <a:bodyPr wrap="square" lIns="0" tIns="0" rIns="0" bIns="0" rtlCol="0" anchor="ctr"/>
          <a:lstStyle/>
          <a:p>
            <a:pPr marL="0" indent="0" algn="ctr">
              <a:buNone/>
            </a:pPr>
            <a:r>
              <a:rPr lang="en-US" sz="1250" b="1" dirty="0">
                <a:solidFill>
                  <a:srgbClr val="13233F"/>
                </a:solidFill>
                <a:latin typeface="Tahoma" pitchFamily="34" charset="0"/>
                <a:ea typeface="Tahoma" pitchFamily="34" charset="-122"/>
                <a:cs typeface="Tahoma" pitchFamily="34" charset="-120"/>
              </a:rPr>
              <a:t>Applet Policy</a:t>
            </a:r>
            <a:endParaRPr lang="en-US" sz="1250" dirty="0"/>
          </a:p>
          <a:p>
            <a:pPr marL="0" indent="0" algn="ctr">
              <a:buNone/>
            </a:pPr>
            <a:r>
              <a:rPr lang="en-US" sz="1050" dirty="0">
                <a:solidFill>
                  <a:srgbClr val="5F6B7A"/>
                </a:solidFill>
                <a:latin typeface="Tahoma" pitchFamily="34" charset="0"/>
                <a:ea typeface="Tahoma" pitchFamily="34" charset="-122"/>
                <a:cs typeface="Tahoma" pitchFamily="34" charset="-120"/>
              </a:rPr>
              <a:t>เขียนด้วยคำสั่ง CLI</a:t>
            </a:r>
            <a:endParaRPr lang="en-US" sz="1250" dirty="0"/>
          </a:p>
        </p:txBody>
      </p:sp>
      <p:sp>
        <p:nvSpPr>
          <p:cNvPr id="17" name="Shape 15"/>
          <p:cNvSpPr/>
          <p:nvPr/>
        </p:nvSpPr>
        <p:spPr>
          <a:xfrm>
            <a:off x="3520440" y="1783080"/>
            <a:ext cx="2788920" cy="658368"/>
          </a:xfrm>
          <a:prstGeom prst="roundRect">
            <a:avLst>
              <a:gd name="adj" fmla="val 8333"/>
            </a:avLst>
          </a:prstGeom>
          <a:solidFill>
            <a:srgbClr val="FFFFFF"/>
          </a:solidFill>
          <a:ln w="12700">
            <a:solidFill>
              <a:srgbClr val="4A6A8F"/>
            </a:solidFill>
            <a:prstDash val="solid"/>
          </a:ln>
        </p:spPr>
        <p:txBody>
          <a:bodyPr/>
          <a:lstStyle/>
          <a:p>
            <a:endParaRPr lang="en-TH"/>
          </a:p>
        </p:txBody>
      </p:sp>
      <p:sp>
        <p:nvSpPr>
          <p:cNvPr id="18" name="Text 16"/>
          <p:cNvSpPr txBox="1"/>
          <p:nvPr/>
        </p:nvSpPr>
        <p:spPr>
          <a:xfrm>
            <a:off x="3520440" y="1783080"/>
            <a:ext cx="2788920" cy="658368"/>
          </a:xfrm>
          <a:prstGeom prst="rect">
            <a:avLst/>
          </a:prstGeom>
          <a:noFill/>
          <a:ln/>
        </p:spPr>
        <p:txBody>
          <a:bodyPr wrap="square" lIns="0" tIns="0" rIns="0" bIns="0" rtlCol="0" anchor="ctr"/>
          <a:lstStyle/>
          <a:p>
            <a:pPr marL="0" indent="0" algn="ctr">
              <a:buNone/>
            </a:pPr>
            <a:r>
              <a:rPr lang="en-US" sz="1250" b="1" dirty="0">
                <a:solidFill>
                  <a:srgbClr val="13233F"/>
                </a:solidFill>
                <a:latin typeface="Tahoma" pitchFamily="34" charset="0"/>
                <a:ea typeface="Tahoma" pitchFamily="34" charset="-122"/>
                <a:cs typeface="Tahoma" pitchFamily="34" charset="-120"/>
              </a:rPr>
              <a:t>Tcl Policy</a:t>
            </a:r>
            <a:endParaRPr lang="en-US" sz="1250" dirty="0"/>
          </a:p>
          <a:p>
            <a:pPr marL="0" indent="0" algn="ctr">
              <a:buNone/>
            </a:pPr>
            <a:r>
              <a:rPr lang="en-US" sz="1050" dirty="0">
                <a:solidFill>
                  <a:srgbClr val="5F6B7A"/>
                </a:solidFill>
                <a:latin typeface="Tahoma" pitchFamily="34" charset="0"/>
                <a:ea typeface="Tahoma" pitchFamily="34" charset="-122"/>
                <a:cs typeface="Tahoma" pitchFamily="34" charset="-120"/>
              </a:rPr>
              <a:t>script ใน flash: (logic ซับซ้อน)</a:t>
            </a:r>
            <a:endParaRPr lang="en-US" sz="1250" dirty="0"/>
          </a:p>
        </p:txBody>
      </p:sp>
      <p:sp>
        <p:nvSpPr>
          <p:cNvPr id="19" name="Shape 17"/>
          <p:cNvSpPr/>
          <p:nvPr/>
        </p:nvSpPr>
        <p:spPr>
          <a:xfrm flipV="1">
            <a:off x="1938528" y="2487168"/>
            <a:ext cx="0" cy="210312"/>
          </a:xfrm>
          <a:prstGeom prst="line">
            <a:avLst/>
          </a:prstGeom>
          <a:noFill/>
          <a:ln w="19050">
            <a:solidFill>
              <a:srgbClr val="A9812F"/>
            </a:solidFill>
            <a:prstDash val="solid"/>
            <a:tailEnd type="triangle"/>
          </a:ln>
        </p:spPr>
        <p:txBody>
          <a:bodyPr/>
          <a:lstStyle/>
          <a:p>
            <a:endParaRPr lang="en-TH"/>
          </a:p>
        </p:txBody>
      </p:sp>
      <p:sp>
        <p:nvSpPr>
          <p:cNvPr id="20" name="Shape 18"/>
          <p:cNvSpPr/>
          <p:nvPr/>
        </p:nvSpPr>
        <p:spPr>
          <a:xfrm flipV="1">
            <a:off x="4910328" y="2487168"/>
            <a:ext cx="0" cy="210312"/>
          </a:xfrm>
          <a:prstGeom prst="line">
            <a:avLst/>
          </a:prstGeom>
          <a:noFill/>
          <a:ln w="19050">
            <a:solidFill>
              <a:srgbClr val="A9812F"/>
            </a:solidFill>
            <a:prstDash val="solid"/>
            <a:tailEnd type="triangle"/>
          </a:ln>
        </p:spPr>
        <p:txBody>
          <a:bodyPr/>
          <a:lstStyle/>
          <a:p>
            <a:endParaRPr lang="en-TH"/>
          </a:p>
        </p:txBody>
      </p:sp>
      <p:sp>
        <p:nvSpPr>
          <p:cNvPr id="21" name="Shape 19"/>
          <p:cNvSpPr/>
          <p:nvPr/>
        </p:nvSpPr>
        <p:spPr>
          <a:xfrm>
            <a:off x="548640" y="2724912"/>
            <a:ext cx="5760720" cy="457200"/>
          </a:xfrm>
          <a:prstGeom prst="rect">
            <a:avLst/>
          </a:prstGeom>
          <a:solidFill>
            <a:srgbClr val="13233F"/>
          </a:solidFill>
          <a:ln w="12700">
            <a:solidFill>
              <a:srgbClr val="13233F"/>
            </a:solidFill>
            <a:prstDash val="solid"/>
          </a:ln>
        </p:spPr>
        <p:txBody>
          <a:bodyPr/>
          <a:lstStyle/>
          <a:p>
            <a:endParaRPr lang="en-TH"/>
          </a:p>
        </p:txBody>
      </p:sp>
      <p:sp>
        <p:nvSpPr>
          <p:cNvPr id="22" name="Text 20"/>
          <p:cNvSpPr txBox="1"/>
          <p:nvPr/>
        </p:nvSpPr>
        <p:spPr>
          <a:xfrm>
            <a:off x="548640" y="2724912"/>
            <a:ext cx="57607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Policy Director</a:t>
            </a:r>
            <a:endParaRPr lang="en-US" sz="1400" dirty="0"/>
          </a:p>
        </p:txBody>
      </p:sp>
      <p:sp>
        <p:nvSpPr>
          <p:cNvPr id="23" name="Shape 21"/>
          <p:cNvSpPr/>
          <p:nvPr/>
        </p:nvSpPr>
        <p:spPr>
          <a:xfrm flipV="1">
            <a:off x="3429000" y="3227832"/>
            <a:ext cx="0" cy="210312"/>
          </a:xfrm>
          <a:prstGeom prst="line">
            <a:avLst/>
          </a:prstGeom>
          <a:noFill/>
          <a:ln w="19050">
            <a:solidFill>
              <a:srgbClr val="A9812F"/>
            </a:solidFill>
            <a:prstDash val="solid"/>
            <a:tailEnd type="triangle"/>
          </a:ln>
        </p:spPr>
        <p:txBody>
          <a:bodyPr/>
          <a:lstStyle/>
          <a:p>
            <a:endParaRPr lang="en-TH"/>
          </a:p>
        </p:txBody>
      </p:sp>
      <p:sp>
        <p:nvSpPr>
          <p:cNvPr id="24" name="Shape 22"/>
          <p:cNvSpPr/>
          <p:nvPr/>
        </p:nvSpPr>
        <p:spPr>
          <a:xfrm>
            <a:off x="548640" y="3465576"/>
            <a:ext cx="5760720" cy="457200"/>
          </a:xfrm>
          <a:prstGeom prst="rect">
            <a:avLst/>
          </a:prstGeom>
          <a:solidFill>
            <a:srgbClr val="1F3A5F"/>
          </a:solidFill>
          <a:ln w="12700">
            <a:solidFill>
              <a:srgbClr val="1F3A5F"/>
            </a:solidFill>
            <a:prstDash val="solid"/>
          </a:ln>
        </p:spPr>
        <p:txBody>
          <a:bodyPr/>
          <a:lstStyle/>
          <a:p>
            <a:endParaRPr lang="en-TH"/>
          </a:p>
        </p:txBody>
      </p:sp>
      <p:sp>
        <p:nvSpPr>
          <p:cNvPr id="25" name="Text 23"/>
          <p:cNvSpPr txBox="1"/>
          <p:nvPr/>
        </p:nvSpPr>
        <p:spPr>
          <a:xfrm>
            <a:off x="548640" y="3465576"/>
            <a:ext cx="57607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EEM Server</a:t>
            </a:r>
            <a:endParaRPr lang="en-US" sz="1400" dirty="0"/>
          </a:p>
        </p:txBody>
      </p:sp>
      <p:sp>
        <p:nvSpPr>
          <p:cNvPr id="26" name="Shape 24"/>
          <p:cNvSpPr/>
          <p:nvPr/>
        </p:nvSpPr>
        <p:spPr>
          <a:xfrm flipV="1">
            <a:off x="3429000" y="3968496"/>
            <a:ext cx="0" cy="210312"/>
          </a:xfrm>
          <a:prstGeom prst="line">
            <a:avLst/>
          </a:prstGeom>
          <a:noFill/>
          <a:ln w="19050">
            <a:solidFill>
              <a:srgbClr val="A9812F"/>
            </a:solidFill>
            <a:prstDash val="solid"/>
            <a:tailEnd type="triangle"/>
          </a:ln>
        </p:spPr>
        <p:txBody>
          <a:bodyPr/>
          <a:lstStyle/>
          <a:p>
            <a:endParaRPr lang="en-TH"/>
          </a:p>
        </p:txBody>
      </p:sp>
      <p:sp>
        <p:nvSpPr>
          <p:cNvPr id="27" name="Shape 25"/>
          <p:cNvSpPr/>
          <p:nvPr/>
        </p:nvSpPr>
        <p:spPr>
          <a:xfrm>
            <a:off x="548640" y="4206240"/>
            <a:ext cx="5760720" cy="1115568"/>
          </a:xfrm>
          <a:prstGeom prst="roundRect">
            <a:avLst>
              <a:gd name="adj" fmla="val 4918"/>
            </a:avLst>
          </a:prstGeom>
          <a:solidFill>
            <a:srgbClr val="F3F5F8"/>
          </a:solidFill>
          <a:ln w="9525">
            <a:solidFill>
              <a:srgbClr val="D6DCE4"/>
            </a:solidFill>
            <a:prstDash val="solid"/>
          </a:ln>
        </p:spPr>
        <p:txBody>
          <a:bodyPr/>
          <a:lstStyle/>
          <a:p>
            <a:endParaRPr lang="en-TH"/>
          </a:p>
        </p:txBody>
      </p:sp>
      <p:sp>
        <p:nvSpPr>
          <p:cNvPr id="28" name="Text 26"/>
          <p:cNvSpPr txBox="1"/>
          <p:nvPr/>
        </p:nvSpPr>
        <p:spPr>
          <a:xfrm>
            <a:off x="685800" y="4242816"/>
            <a:ext cx="2743200" cy="237744"/>
          </a:xfrm>
          <a:prstGeom prst="rect">
            <a:avLst/>
          </a:prstGeom>
          <a:noFill/>
          <a:ln/>
        </p:spPr>
        <p:txBody>
          <a:bodyPr wrap="square" lIns="0" tIns="0" rIns="0" bIns="0" rtlCol="0" anchor="t"/>
          <a:lstStyle/>
          <a:p>
            <a:pPr marL="0" indent="0">
              <a:buNone/>
            </a:pPr>
            <a:r>
              <a:rPr lang="en-US" sz="1050" b="1" dirty="0">
                <a:solidFill>
                  <a:srgbClr val="4A6A8F"/>
                </a:solidFill>
                <a:latin typeface="Tahoma" pitchFamily="34" charset="0"/>
                <a:ea typeface="Tahoma" pitchFamily="34" charset="-122"/>
                <a:cs typeface="Tahoma" pitchFamily="34" charset="-120"/>
              </a:rPr>
              <a:t>Event Detectors</a:t>
            </a:r>
            <a:endParaRPr lang="en-US" sz="1050" dirty="0"/>
          </a:p>
        </p:txBody>
      </p:sp>
      <p:sp>
        <p:nvSpPr>
          <p:cNvPr id="29" name="Shape 27"/>
          <p:cNvSpPr/>
          <p:nvPr/>
        </p:nvSpPr>
        <p:spPr>
          <a:xfrm>
            <a:off x="685800" y="4507992"/>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30" name="Text 28"/>
          <p:cNvSpPr txBox="1"/>
          <p:nvPr/>
        </p:nvSpPr>
        <p:spPr>
          <a:xfrm>
            <a:off x="685800" y="4507992"/>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syslog</a:t>
            </a:r>
            <a:endParaRPr lang="en-US" sz="1100" dirty="0"/>
          </a:p>
        </p:txBody>
      </p:sp>
      <p:sp>
        <p:nvSpPr>
          <p:cNvPr id="31" name="Shape 29"/>
          <p:cNvSpPr/>
          <p:nvPr/>
        </p:nvSpPr>
        <p:spPr>
          <a:xfrm>
            <a:off x="2084832" y="4507992"/>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32" name="Text 30"/>
          <p:cNvSpPr txBox="1"/>
          <p:nvPr/>
        </p:nvSpPr>
        <p:spPr>
          <a:xfrm>
            <a:off x="2084832" y="4507992"/>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cli</a:t>
            </a:r>
            <a:endParaRPr lang="en-US" sz="1100" dirty="0"/>
          </a:p>
        </p:txBody>
      </p:sp>
      <p:sp>
        <p:nvSpPr>
          <p:cNvPr id="33" name="Shape 31"/>
          <p:cNvSpPr/>
          <p:nvPr/>
        </p:nvSpPr>
        <p:spPr>
          <a:xfrm>
            <a:off x="3483864" y="4507992"/>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34" name="Text 32"/>
          <p:cNvSpPr txBox="1"/>
          <p:nvPr/>
        </p:nvSpPr>
        <p:spPr>
          <a:xfrm>
            <a:off x="3483864" y="4507992"/>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timer</a:t>
            </a:r>
            <a:endParaRPr lang="en-US" sz="1100" dirty="0"/>
          </a:p>
        </p:txBody>
      </p:sp>
      <p:sp>
        <p:nvSpPr>
          <p:cNvPr id="35" name="Shape 33"/>
          <p:cNvSpPr/>
          <p:nvPr/>
        </p:nvSpPr>
        <p:spPr>
          <a:xfrm>
            <a:off x="4882896" y="4507992"/>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36" name="Text 34"/>
          <p:cNvSpPr txBox="1"/>
          <p:nvPr/>
        </p:nvSpPr>
        <p:spPr>
          <a:xfrm>
            <a:off x="4882896" y="4507992"/>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interface</a:t>
            </a:r>
            <a:endParaRPr lang="en-US" sz="1100" dirty="0"/>
          </a:p>
        </p:txBody>
      </p:sp>
      <p:sp>
        <p:nvSpPr>
          <p:cNvPr id="37" name="Shape 35"/>
          <p:cNvSpPr/>
          <p:nvPr/>
        </p:nvSpPr>
        <p:spPr>
          <a:xfrm>
            <a:off x="685800" y="4910328"/>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38" name="Text 36"/>
          <p:cNvSpPr txBox="1"/>
          <p:nvPr/>
        </p:nvSpPr>
        <p:spPr>
          <a:xfrm>
            <a:off x="685800" y="4910328"/>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snmp</a:t>
            </a:r>
            <a:endParaRPr lang="en-US" sz="1100" dirty="0"/>
          </a:p>
        </p:txBody>
      </p:sp>
      <p:sp>
        <p:nvSpPr>
          <p:cNvPr id="39" name="Shape 37"/>
          <p:cNvSpPr/>
          <p:nvPr/>
        </p:nvSpPr>
        <p:spPr>
          <a:xfrm>
            <a:off x="2084832" y="4910328"/>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40" name="Text 38"/>
          <p:cNvSpPr txBox="1"/>
          <p:nvPr/>
        </p:nvSpPr>
        <p:spPr>
          <a:xfrm>
            <a:off x="2084832" y="4910328"/>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track</a:t>
            </a:r>
            <a:endParaRPr lang="en-US" sz="1100" dirty="0"/>
          </a:p>
        </p:txBody>
      </p:sp>
      <p:sp>
        <p:nvSpPr>
          <p:cNvPr id="41" name="Shape 39"/>
          <p:cNvSpPr/>
          <p:nvPr/>
        </p:nvSpPr>
        <p:spPr>
          <a:xfrm>
            <a:off x="3483864" y="4910328"/>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42" name="Text 40"/>
          <p:cNvSpPr txBox="1"/>
          <p:nvPr/>
        </p:nvSpPr>
        <p:spPr>
          <a:xfrm>
            <a:off x="3483864" y="4910328"/>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counter</a:t>
            </a:r>
            <a:endParaRPr lang="en-US" sz="1100" dirty="0"/>
          </a:p>
        </p:txBody>
      </p:sp>
      <p:sp>
        <p:nvSpPr>
          <p:cNvPr id="43" name="Shape 41"/>
          <p:cNvSpPr/>
          <p:nvPr/>
        </p:nvSpPr>
        <p:spPr>
          <a:xfrm>
            <a:off x="4882896" y="4910328"/>
            <a:ext cx="1289304" cy="329184"/>
          </a:xfrm>
          <a:prstGeom prst="roundRect">
            <a:avLst>
              <a:gd name="adj" fmla="val 13889"/>
            </a:avLst>
          </a:prstGeom>
          <a:solidFill>
            <a:srgbClr val="FFFFFF"/>
          </a:solidFill>
          <a:ln w="9525">
            <a:solidFill>
              <a:srgbClr val="8FA6C1"/>
            </a:solidFill>
            <a:prstDash val="solid"/>
          </a:ln>
        </p:spPr>
        <p:txBody>
          <a:bodyPr/>
          <a:lstStyle/>
          <a:p>
            <a:endParaRPr lang="en-TH"/>
          </a:p>
        </p:txBody>
      </p:sp>
      <p:sp>
        <p:nvSpPr>
          <p:cNvPr id="44" name="Text 42"/>
          <p:cNvSpPr txBox="1"/>
          <p:nvPr/>
        </p:nvSpPr>
        <p:spPr>
          <a:xfrm>
            <a:off x="4882896" y="4910328"/>
            <a:ext cx="1289304" cy="32918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none</a:t>
            </a:r>
            <a:endParaRPr lang="en-US" sz="1100" dirty="0"/>
          </a:p>
        </p:txBody>
      </p:sp>
      <p:sp>
        <p:nvSpPr>
          <p:cNvPr id="45" name="Shape 43"/>
          <p:cNvSpPr/>
          <p:nvPr/>
        </p:nvSpPr>
        <p:spPr>
          <a:xfrm flipV="1">
            <a:off x="3429000" y="5358384"/>
            <a:ext cx="0" cy="201168"/>
          </a:xfrm>
          <a:prstGeom prst="line">
            <a:avLst/>
          </a:prstGeom>
          <a:noFill/>
          <a:ln w="19050">
            <a:solidFill>
              <a:srgbClr val="A9812F"/>
            </a:solidFill>
            <a:prstDash val="solid"/>
            <a:tailEnd type="triangle"/>
          </a:ln>
        </p:spPr>
        <p:txBody>
          <a:bodyPr/>
          <a:lstStyle/>
          <a:p>
            <a:endParaRPr lang="en-TH"/>
          </a:p>
        </p:txBody>
      </p:sp>
      <p:sp>
        <p:nvSpPr>
          <p:cNvPr id="46" name="Shape 44"/>
          <p:cNvSpPr/>
          <p:nvPr/>
        </p:nvSpPr>
        <p:spPr>
          <a:xfrm>
            <a:off x="548640" y="5577840"/>
            <a:ext cx="5760720" cy="420624"/>
          </a:xfrm>
          <a:prstGeom prst="rect">
            <a:avLst/>
          </a:prstGeom>
          <a:solidFill>
            <a:srgbClr val="E8EDF4"/>
          </a:solidFill>
          <a:ln w="12700">
            <a:solidFill>
              <a:srgbClr val="E8EDF4"/>
            </a:solidFill>
            <a:prstDash val="solid"/>
          </a:ln>
        </p:spPr>
        <p:txBody>
          <a:bodyPr/>
          <a:lstStyle/>
          <a:p>
            <a:endParaRPr lang="en-TH"/>
          </a:p>
        </p:txBody>
      </p:sp>
      <p:sp>
        <p:nvSpPr>
          <p:cNvPr id="47" name="Text 45"/>
          <p:cNvSpPr txBox="1"/>
          <p:nvPr/>
        </p:nvSpPr>
        <p:spPr>
          <a:xfrm>
            <a:off x="548640" y="5577840"/>
            <a:ext cx="5760720" cy="420624"/>
          </a:xfrm>
          <a:prstGeom prst="rect">
            <a:avLst/>
          </a:prstGeom>
          <a:noFill/>
          <a:ln/>
        </p:spPr>
        <p:txBody>
          <a:bodyPr wrap="square" lIns="0" tIns="0" rIns="0" bIns="0" rtlCol="0" anchor="ctr"/>
          <a:lstStyle/>
          <a:p>
            <a:pPr marL="0" indent="0" algn="ctr">
              <a:buNone/>
            </a:pPr>
            <a:r>
              <a:rPr lang="en-US" sz="1100" dirty="0">
                <a:solidFill>
                  <a:srgbClr val="13233F"/>
                </a:solidFill>
                <a:latin typeface="Tahoma" pitchFamily="34" charset="0"/>
                <a:ea typeface="Tahoma" pitchFamily="34" charset="-122"/>
                <a:cs typeface="Tahoma" pitchFamily="34" charset="-120"/>
              </a:rPr>
              <a:t>IOS subsystems: Syslog · CLI parser · Interface (IDB) · Counters · SNMP · OIR · HA</a:t>
            </a:r>
            <a:endParaRPr lang="en-US" sz="1100" dirty="0"/>
          </a:p>
        </p:txBody>
      </p:sp>
      <p:sp>
        <p:nvSpPr>
          <p:cNvPr id="48" name="Text 46"/>
          <p:cNvSpPr txBox="1"/>
          <p:nvPr/>
        </p:nvSpPr>
        <p:spPr>
          <a:xfrm>
            <a:off x="548640" y="6053328"/>
            <a:ext cx="5760720" cy="237744"/>
          </a:xfrm>
          <a:prstGeom prst="rect">
            <a:avLst/>
          </a:prstGeom>
          <a:noFill/>
          <a:ln/>
        </p:spPr>
        <p:txBody>
          <a:bodyPr wrap="square" lIns="0" tIns="0" rIns="0" bIns="0" rtlCol="0" anchor="t"/>
          <a:lstStyle/>
          <a:p>
            <a:pPr marL="0" indent="0">
              <a:buNone/>
            </a:pPr>
            <a:r>
              <a:rPr lang="en-US" sz="950" i="1" dirty="0">
                <a:solidFill>
                  <a:srgbClr val="5F6B7A"/>
                </a:solidFill>
                <a:latin typeface="Tahoma" pitchFamily="34" charset="0"/>
                <a:ea typeface="Tahoma" pitchFamily="34" charset="-122"/>
                <a:cs typeface="Tahoma" pitchFamily="34" charset="-120"/>
              </a:rPr>
              <a:t>ปรับจาก Figure 29-1 (EEM Event Detectors), CCNP Enterprise Core Ch.29</a:t>
            </a:r>
            <a:endParaRPr lang="en-US" sz="950" dirty="0"/>
          </a:p>
        </p:txBody>
      </p:sp>
      <p:sp>
        <p:nvSpPr>
          <p:cNvPr id="49" name="Shape 47"/>
          <p:cNvSpPr/>
          <p:nvPr/>
        </p:nvSpPr>
        <p:spPr>
          <a:xfrm>
            <a:off x="6583680" y="1783080"/>
            <a:ext cx="5059375" cy="1847088"/>
          </a:xfrm>
          <a:prstGeom prst="roundRect">
            <a:avLst>
              <a:gd name="adj" fmla="val 2970"/>
            </a:avLst>
          </a:prstGeom>
          <a:solidFill>
            <a:srgbClr val="0F1A2B"/>
          </a:solidFill>
          <a:ln w="12700">
            <a:solidFill>
              <a:srgbClr val="0F1A2B"/>
            </a:solidFill>
            <a:prstDash val="solid"/>
          </a:ln>
        </p:spPr>
        <p:txBody>
          <a:bodyPr/>
          <a:lstStyle/>
          <a:p>
            <a:endParaRPr lang="en-TH"/>
          </a:p>
        </p:txBody>
      </p:sp>
      <p:sp>
        <p:nvSpPr>
          <p:cNvPr id="50" name="Shape 48"/>
          <p:cNvSpPr/>
          <p:nvPr/>
        </p:nvSpPr>
        <p:spPr>
          <a:xfrm>
            <a:off x="6729984" y="1901952"/>
            <a:ext cx="91440" cy="91440"/>
          </a:xfrm>
          <a:prstGeom prst="ellipse">
            <a:avLst/>
          </a:prstGeom>
          <a:solidFill>
            <a:srgbClr val="E06C6C"/>
          </a:solidFill>
          <a:ln w="12700">
            <a:solidFill>
              <a:srgbClr val="E06C6C"/>
            </a:solidFill>
            <a:prstDash val="solid"/>
          </a:ln>
        </p:spPr>
        <p:txBody>
          <a:bodyPr/>
          <a:lstStyle/>
          <a:p>
            <a:endParaRPr lang="en-TH"/>
          </a:p>
        </p:txBody>
      </p:sp>
      <p:sp>
        <p:nvSpPr>
          <p:cNvPr id="51" name="Shape 49"/>
          <p:cNvSpPr/>
          <p:nvPr/>
        </p:nvSpPr>
        <p:spPr>
          <a:xfrm>
            <a:off x="6885432" y="1901952"/>
            <a:ext cx="91440" cy="91440"/>
          </a:xfrm>
          <a:prstGeom prst="ellipse">
            <a:avLst/>
          </a:prstGeom>
          <a:solidFill>
            <a:srgbClr val="E0B25C"/>
          </a:solidFill>
          <a:ln w="12700">
            <a:solidFill>
              <a:srgbClr val="E0B25C"/>
            </a:solidFill>
            <a:prstDash val="solid"/>
          </a:ln>
        </p:spPr>
        <p:txBody>
          <a:bodyPr/>
          <a:lstStyle/>
          <a:p>
            <a:endParaRPr lang="en-TH"/>
          </a:p>
        </p:txBody>
      </p:sp>
      <p:sp>
        <p:nvSpPr>
          <p:cNvPr id="52" name="Shape 50"/>
          <p:cNvSpPr/>
          <p:nvPr/>
        </p:nvSpPr>
        <p:spPr>
          <a:xfrm>
            <a:off x="7040880" y="1901952"/>
            <a:ext cx="91440" cy="91440"/>
          </a:xfrm>
          <a:prstGeom prst="ellipse">
            <a:avLst/>
          </a:prstGeom>
          <a:solidFill>
            <a:srgbClr val="6CC08B"/>
          </a:solidFill>
          <a:ln w="12700">
            <a:solidFill>
              <a:srgbClr val="6CC08B"/>
            </a:solidFill>
            <a:prstDash val="solid"/>
          </a:ln>
        </p:spPr>
        <p:txBody>
          <a:bodyPr/>
          <a:lstStyle/>
          <a:p>
            <a:endParaRPr lang="en-TH"/>
          </a:p>
        </p:txBody>
      </p:sp>
      <p:sp>
        <p:nvSpPr>
          <p:cNvPr id="53" name="Text 51"/>
          <p:cNvSpPr txBox="1"/>
          <p:nvPr/>
        </p:nvSpPr>
        <p:spPr>
          <a:xfrm>
            <a:off x="7242048" y="1819656"/>
            <a:ext cx="4282135"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โครงสร้าง applet (ปรับจาก Example 29-1)</a:t>
            </a:r>
            <a:endParaRPr lang="en-US" sz="1000" dirty="0"/>
          </a:p>
        </p:txBody>
      </p:sp>
      <p:sp>
        <p:nvSpPr>
          <p:cNvPr id="54" name="Shape 52"/>
          <p:cNvSpPr/>
          <p:nvPr/>
        </p:nvSpPr>
        <p:spPr>
          <a:xfrm>
            <a:off x="6583680" y="2112264"/>
            <a:ext cx="5059375" cy="0"/>
          </a:xfrm>
          <a:prstGeom prst="line">
            <a:avLst/>
          </a:prstGeom>
          <a:noFill/>
          <a:ln w="9525">
            <a:solidFill>
              <a:srgbClr val="26364F"/>
            </a:solidFill>
            <a:prstDash val="solid"/>
          </a:ln>
        </p:spPr>
        <p:txBody>
          <a:bodyPr/>
          <a:lstStyle/>
          <a:p>
            <a:endParaRPr lang="en-TH"/>
          </a:p>
        </p:txBody>
      </p:sp>
      <p:sp>
        <p:nvSpPr>
          <p:cNvPr id="55" name="Text 53"/>
          <p:cNvSpPr txBox="1"/>
          <p:nvPr/>
        </p:nvSpPr>
        <p:spPr>
          <a:xfrm>
            <a:off x="6748272" y="2203704"/>
            <a:ext cx="4785055" cy="1353312"/>
          </a:xfrm>
          <a:prstGeom prst="rect">
            <a:avLst/>
          </a:prstGeom>
          <a:noFill/>
          <a:ln/>
        </p:spPr>
        <p:txBody>
          <a:bodyPr wrap="square" lIns="0" tIns="0" rIns="0" bIns="0" rtlCol="0" anchor="t"/>
          <a:lstStyle/>
          <a:p>
            <a:pPr marL="0" indent="0">
              <a:buNone/>
            </a:pPr>
            <a:r>
              <a:rPr lang="en-US" sz="1050" b="1" dirty="0">
                <a:solidFill>
                  <a:srgbClr val="8FCB9B"/>
                </a:solidFill>
                <a:latin typeface="Courier New" pitchFamily="34" charset="0"/>
                <a:ea typeface="Courier New" pitchFamily="34" charset="-122"/>
                <a:cs typeface="Courier New" pitchFamily="34" charset="-120"/>
              </a:rPr>
              <a:t>R1(config)# </a:t>
            </a:r>
            <a:r>
              <a:rPr lang="en-US" sz="1050" b="1" dirty="0">
                <a:solidFill>
                  <a:srgbClr val="FFFFFF"/>
                </a:solidFill>
                <a:latin typeface="Courier New" pitchFamily="34" charset="0"/>
                <a:ea typeface="Courier New" pitchFamily="34" charset="-122"/>
                <a:cs typeface="Courier New" pitchFamily="34" charset="-120"/>
              </a:rPr>
              <a:t>event manager applet LOOP0</a:t>
            </a:r>
            <a:endParaRPr lang="en-US" sz="1050" dirty="0"/>
          </a:p>
          <a:p>
            <a:pPr marL="0" indent="0">
              <a:buNone/>
            </a:pPr>
            <a:r>
              <a:rPr lang="en-US" sz="1050" dirty="0">
                <a:solidFill>
                  <a:srgbClr val="E8C46A"/>
                </a:solidFill>
                <a:latin typeface="Courier New" pitchFamily="34" charset="0"/>
                <a:ea typeface="Courier New" pitchFamily="34" charset="-122"/>
                <a:cs typeface="Courier New" pitchFamily="34" charset="-120"/>
              </a:rPr>
              <a:t> event syslog pattern "Interface Loopback0.* down"</a:t>
            </a:r>
            <a:endParaRPr lang="en-US" sz="1050" dirty="0"/>
          </a:p>
          <a:p>
            <a:pPr marL="0" indent="0">
              <a:buNone/>
            </a:pPr>
            <a:r>
              <a:rPr lang="en-US" sz="1050" dirty="0">
                <a:solidFill>
                  <a:srgbClr val="D5DCE6"/>
                </a:solidFill>
                <a:latin typeface="Courier New" pitchFamily="34" charset="0"/>
                <a:ea typeface="Courier New" pitchFamily="34" charset="-122"/>
                <a:cs typeface="Courier New" pitchFamily="34" charset="-120"/>
              </a:rPr>
              <a:t> action 1.0 cli command "enable"</a:t>
            </a:r>
            <a:endParaRPr lang="en-US" sz="1050" dirty="0"/>
          </a:p>
          <a:p>
            <a:pPr marL="0" indent="0">
              <a:buNone/>
            </a:pPr>
            <a:r>
              <a:rPr lang="en-US" sz="1050" dirty="0">
                <a:solidFill>
                  <a:srgbClr val="D5DCE6"/>
                </a:solidFill>
                <a:latin typeface="Courier New" pitchFamily="34" charset="0"/>
                <a:ea typeface="Courier New" pitchFamily="34" charset="-122"/>
                <a:cs typeface="Courier New" pitchFamily="34" charset="-120"/>
              </a:rPr>
              <a:t> action 2.0 cli command "config terminal"</a:t>
            </a:r>
            <a:endParaRPr lang="en-US" sz="1050" dirty="0"/>
          </a:p>
          <a:p>
            <a:pPr marL="0" indent="0">
              <a:buNone/>
            </a:pPr>
            <a:r>
              <a:rPr lang="en-US" sz="1050" dirty="0">
                <a:solidFill>
                  <a:srgbClr val="D5DCE6"/>
                </a:solidFill>
                <a:latin typeface="Courier New" pitchFamily="34" charset="0"/>
                <a:ea typeface="Courier New" pitchFamily="34" charset="-122"/>
                <a:cs typeface="Courier New" pitchFamily="34" charset="-120"/>
              </a:rPr>
              <a:t> action 3.0 cli command "interface loopback0"</a:t>
            </a:r>
            <a:endParaRPr lang="en-US" sz="1050" dirty="0"/>
          </a:p>
          <a:p>
            <a:pPr marL="0" indent="0">
              <a:buNone/>
            </a:pPr>
            <a:r>
              <a:rPr lang="en-US" sz="1050" dirty="0">
                <a:solidFill>
                  <a:srgbClr val="D5DCE6"/>
                </a:solidFill>
                <a:latin typeface="Courier New" pitchFamily="34" charset="0"/>
                <a:ea typeface="Courier New" pitchFamily="34" charset="-122"/>
                <a:cs typeface="Courier New" pitchFamily="34" charset="-120"/>
              </a:rPr>
              <a:t> action 4.0 cli command "no shutdown"</a:t>
            </a:r>
            <a:endParaRPr lang="en-US" sz="1050" dirty="0"/>
          </a:p>
          <a:p>
            <a:pPr marL="0" indent="0">
              <a:buNone/>
            </a:pPr>
            <a:r>
              <a:rPr lang="en-US" sz="1050" dirty="0">
                <a:solidFill>
                  <a:srgbClr val="8FCB9B"/>
                </a:solidFill>
                <a:latin typeface="Courier New" pitchFamily="34" charset="0"/>
                <a:ea typeface="Courier New" pitchFamily="34" charset="-122"/>
                <a:cs typeface="Courier New" pitchFamily="34" charset="-120"/>
              </a:rPr>
              <a:t> action 5.0 syslog msg "Loopback0 recovered by EEM"</a:t>
            </a:r>
            <a:endParaRPr lang="en-US" sz="1050" dirty="0"/>
          </a:p>
        </p:txBody>
      </p:sp>
      <p:sp>
        <p:nvSpPr>
          <p:cNvPr id="56" name="Shape 54"/>
          <p:cNvSpPr/>
          <p:nvPr/>
        </p:nvSpPr>
        <p:spPr>
          <a:xfrm>
            <a:off x="6583680" y="3794760"/>
            <a:ext cx="1600200" cy="420624"/>
          </a:xfrm>
          <a:prstGeom prst="roundRect">
            <a:avLst>
              <a:gd name="adj" fmla="val 10870"/>
            </a:avLst>
          </a:prstGeom>
          <a:solidFill>
            <a:srgbClr val="E8EDF4"/>
          </a:solidFill>
          <a:ln w="12700">
            <a:solidFill>
              <a:srgbClr val="E8EDF4"/>
            </a:solidFill>
            <a:prstDash val="solid"/>
          </a:ln>
        </p:spPr>
        <p:txBody>
          <a:bodyPr/>
          <a:lstStyle/>
          <a:p>
            <a:endParaRPr lang="en-TH"/>
          </a:p>
        </p:txBody>
      </p:sp>
      <p:sp>
        <p:nvSpPr>
          <p:cNvPr id="57" name="Text 55"/>
          <p:cNvSpPr txBox="1"/>
          <p:nvPr/>
        </p:nvSpPr>
        <p:spPr>
          <a:xfrm>
            <a:off x="6583680" y="3794760"/>
            <a:ext cx="1600200" cy="42062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event</a:t>
            </a:r>
            <a:endParaRPr lang="en-US" sz="1100" dirty="0"/>
          </a:p>
        </p:txBody>
      </p:sp>
      <p:sp>
        <p:nvSpPr>
          <p:cNvPr id="58" name="Text 56"/>
          <p:cNvSpPr txBox="1"/>
          <p:nvPr/>
        </p:nvSpPr>
        <p:spPr>
          <a:xfrm>
            <a:off x="8321040" y="3758184"/>
            <a:ext cx="3322015" cy="512064"/>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เงื่อนไขที่ทำให้ applet ทำงาน (EEM 3.0+ รวมหลาย event ได้ด้วย tag + trigger)</a:t>
            </a:r>
            <a:endParaRPr lang="en-US" sz="1150" dirty="0"/>
          </a:p>
        </p:txBody>
      </p:sp>
      <p:sp>
        <p:nvSpPr>
          <p:cNvPr id="59" name="Shape 57"/>
          <p:cNvSpPr/>
          <p:nvPr/>
        </p:nvSpPr>
        <p:spPr>
          <a:xfrm>
            <a:off x="6583680" y="4398264"/>
            <a:ext cx="1600200" cy="420624"/>
          </a:xfrm>
          <a:prstGeom prst="roundRect">
            <a:avLst>
              <a:gd name="adj" fmla="val 10870"/>
            </a:avLst>
          </a:prstGeom>
          <a:solidFill>
            <a:srgbClr val="E8EDF4"/>
          </a:solidFill>
          <a:ln w="12700">
            <a:solidFill>
              <a:srgbClr val="E8EDF4"/>
            </a:solidFill>
            <a:prstDash val="solid"/>
          </a:ln>
        </p:spPr>
        <p:txBody>
          <a:bodyPr/>
          <a:lstStyle/>
          <a:p>
            <a:endParaRPr lang="en-TH"/>
          </a:p>
        </p:txBody>
      </p:sp>
      <p:sp>
        <p:nvSpPr>
          <p:cNvPr id="60" name="Text 58"/>
          <p:cNvSpPr txBox="1"/>
          <p:nvPr/>
        </p:nvSpPr>
        <p:spPr>
          <a:xfrm>
            <a:off x="6583680" y="4398264"/>
            <a:ext cx="1600200" cy="42062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action &lt;label&gt;</a:t>
            </a:r>
            <a:endParaRPr lang="en-US" sz="1100" dirty="0"/>
          </a:p>
        </p:txBody>
      </p:sp>
      <p:sp>
        <p:nvSpPr>
          <p:cNvPr id="61" name="Text 59"/>
          <p:cNvSpPr txBox="1"/>
          <p:nvPr/>
        </p:nvSpPr>
        <p:spPr>
          <a:xfrm>
            <a:off x="8321040" y="4361688"/>
            <a:ext cx="3322015" cy="512064"/>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เรียงตามตัวอักษร (lexicographic) → “10.0” มาก่อน “2.0” จึงควรใช้เลขหลักเท่ากัน</a:t>
            </a:r>
            <a:endParaRPr lang="en-US" sz="1150" dirty="0"/>
          </a:p>
        </p:txBody>
      </p:sp>
      <p:sp>
        <p:nvSpPr>
          <p:cNvPr id="62" name="Shape 60"/>
          <p:cNvSpPr/>
          <p:nvPr/>
        </p:nvSpPr>
        <p:spPr>
          <a:xfrm>
            <a:off x="6583680" y="5001768"/>
            <a:ext cx="1600200" cy="420624"/>
          </a:xfrm>
          <a:prstGeom prst="roundRect">
            <a:avLst>
              <a:gd name="adj" fmla="val 10870"/>
            </a:avLst>
          </a:prstGeom>
          <a:solidFill>
            <a:srgbClr val="E8EDF4"/>
          </a:solidFill>
          <a:ln w="12700">
            <a:solidFill>
              <a:srgbClr val="E8EDF4"/>
            </a:solidFill>
            <a:prstDash val="solid"/>
          </a:ln>
        </p:spPr>
        <p:txBody>
          <a:bodyPr/>
          <a:lstStyle/>
          <a:p>
            <a:endParaRPr lang="en-TH"/>
          </a:p>
        </p:txBody>
      </p:sp>
      <p:sp>
        <p:nvSpPr>
          <p:cNvPr id="63" name="Text 61"/>
          <p:cNvSpPr txBox="1"/>
          <p:nvPr/>
        </p:nvSpPr>
        <p:spPr>
          <a:xfrm>
            <a:off x="6583680" y="5001768"/>
            <a:ext cx="1600200" cy="42062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cli "enable"</a:t>
            </a:r>
            <a:endParaRPr lang="en-US" sz="1100" dirty="0"/>
          </a:p>
        </p:txBody>
      </p:sp>
      <p:sp>
        <p:nvSpPr>
          <p:cNvPr id="64" name="Text 62"/>
          <p:cNvSpPr txBox="1"/>
          <p:nvPr/>
        </p:nvSpPr>
        <p:spPr>
          <a:xfrm>
            <a:off x="8321040" y="4965192"/>
            <a:ext cx="3322015" cy="512064"/>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session ของ applet เริ่มที่ user EXEC ต้องยกระดับก่อนสั่งคำสั่งสิทธิ์สูง</a:t>
            </a:r>
            <a:endParaRPr lang="en-US" sz="1150" dirty="0"/>
          </a:p>
        </p:txBody>
      </p:sp>
      <p:sp>
        <p:nvSpPr>
          <p:cNvPr id="65" name="Shape 63"/>
          <p:cNvSpPr/>
          <p:nvPr/>
        </p:nvSpPr>
        <p:spPr>
          <a:xfrm>
            <a:off x="6583680" y="5605272"/>
            <a:ext cx="1600200" cy="420624"/>
          </a:xfrm>
          <a:prstGeom prst="roundRect">
            <a:avLst>
              <a:gd name="adj" fmla="val 10870"/>
            </a:avLst>
          </a:prstGeom>
          <a:solidFill>
            <a:srgbClr val="E8EDF4"/>
          </a:solidFill>
          <a:ln w="12700">
            <a:solidFill>
              <a:srgbClr val="E8EDF4"/>
            </a:solidFill>
            <a:prstDash val="solid"/>
          </a:ln>
        </p:spPr>
        <p:txBody>
          <a:bodyPr/>
          <a:lstStyle/>
          <a:p>
            <a:endParaRPr lang="en-TH"/>
          </a:p>
        </p:txBody>
      </p:sp>
      <p:sp>
        <p:nvSpPr>
          <p:cNvPr id="66" name="Text 64"/>
          <p:cNvSpPr txBox="1"/>
          <p:nvPr/>
        </p:nvSpPr>
        <p:spPr>
          <a:xfrm>
            <a:off x="6583680" y="5605272"/>
            <a:ext cx="1600200" cy="420624"/>
          </a:xfrm>
          <a:prstGeom prst="rect">
            <a:avLst/>
          </a:prstGeom>
          <a:noFill/>
          <a:ln/>
        </p:spPr>
        <p:txBody>
          <a:bodyPr wrap="square" lIns="0" tIns="0" rIns="0" bIns="0" rtlCol="0" anchor="ctr"/>
          <a:lstStyle/>
          <a:p>
            <a:pPr marL="0" indent="0" algn="ctr">
              <a:buNone/>
            </a:pPr>
            <a:r>
              <a:rPr lang="en-US" sz="1100" b="1" dirty="0">
                <a:solidFill>
                  <a:srgbClr val="13233F"/>
                </a:solidFill>
                <a:latin typeface="Courier New" pitchFamily="34" charset="0"/>
                <a:ea typeface="Courier New" pitchFamily="34" charset="-122"/>
                <a:cs typeface="Courier New" pitchFamily="34" charset="-120"/>
              </a:rPr>
              <a:t>maxrun</a:t>
            </a:r>
            <a:endParaRPr lang="en-US" sz="1100" dirty="0"/>
          </a:p>
        </p:txBody>
      </p:sp>
      <p:sp>
        <p:nvSpPr>
          <p:cNvPr id="67" name="Text 65"/>
          <p:cNvSpPr txBox="1"/>
          <p:nvPr/>
        </p:nvSpPr>
        <p:spPr>
          <a:xfrm>
            <a:off x="8321040" y="5568696"/>
            <a:ext cx="3322015" cy="512064"/>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applet ถูกยกเลิกเมื่อรันเกิน 20 วินาที (ค่าเริ่มต้น) ปรับได้ด้วย maxrun</a:t>
            </a:r>
            <a:endParaRPr lang="en-US" sz="1150" dirty="0"/>
          </a:p>
        </p:txBody>
      </p:sp>
      <p:sp>
        <p:nvSpPr>
          <p:cNvPr id="68" name="Text 66"/>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69" name="Text 67"/>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1  ·  แนวคิดเบื้องต้นและสถาปัตยกรรม</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Agent-Based: รอบการทำงานแบบ Pull</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agent บนปลายทางรายงานสถานะ แล้วดึง desired state มาบังคับใช้เอง และทำซ้ำตามรอบเวลา (ตัวอย่าง: Puppet)</a:t>
            </a:r>
            <a:endParaRPr lang="en-US" sz="1400" dirty="0"/>
          </a:p>
        </p:txBody>
      </p:sp>
      <p:sp>
        <p:nvSpPr>
          <p:cNvPr id="5" name="Shape 3"/>
          <p:cNvSpPr/>
          <p:nvPr/>
        </p:nvSpPr>
        <p:spPr>
          <a:xfrm>
            <a:off x="9722815"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960120" y="1783080"/>
            <a:ext cx="2103120" cy="566928"/>
          </a:xfrm>
          <a:prstGeom prst="roundRect">
            <a:avLst>
              <a:gd name="adj" fmla="val 12903"/>
            </a:avLst>
          </a:prstGeom>
          <a:solidFill>
            <a:srgbClr val="1F3A5F"/>
          </a:solidFill>
          <a:ln w="12700">
            <a:solidFill>
              <a:srgbClr val="1F3A5F"/>
            </a:solidFill>
            <a:prstDash val="solid"/>
          </a:ln>
        </p:spPr>
        <p:txBody>
          <a:bodyPr/>
          <a:lstStyle/>
          <a:p>
            <a:endParaRPr lang="en-TH"/>
          </a:p>
        </p:txBody>
      </p:sp>
      <p:sp>
        <p:nvSpPr>
          <p:cNvPr id="16" name="Text 14"/>
          <p:cNvSpPr txBox="1"/>
          <p:nvPr/>
        </p:nvSpPr>
        <p:spPr>
          <a:xfrm>
            <a:off x="960120" y="1783080"/>
            <a:ext cx="210312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Tahoma" pitchFamily="34" charset="0"/>
                <a:ea typeface="Tahoma" pitchFamily="34" charset="-122"/>
                <a:cs typeface="Tahoma" pitchFamily="34" charset="-120"/>
              </a:rPr>
              <a:t>Puppet agent</a:t>
            </a:r>
            <a:endParaRPr lang="en-US" sz="1300" dirty="0"/>
          </a:p>
          <a:p>
            <a:pPr marL="0" indent="0" algn="ctr">
              <a:buNone/>
            </a:pPr>
            <a:r>
              <a:rPr lang="en-US" sz="1050" dirty="0">
                <a:solidFill>
                  <a:srgbClr val="FFFFFF"/>
                </a:solidFill>
                <a:latin typeface="Tahoma" pitchFamily="34" charset="0"/>
                <a:ea typeface="Tahoma" pitchFamily="34" charset="-122"/>
                <a:cs typeface="Tahoma" pitchFamily="34" charset="-120"/>
              </a:rPr>
              <a:t>บน node ปลายทาง</a:t>
            </a:r>
            <a:endParaRPr lang="en-US" sz="1300" dirty="0"/>
          </a:p>
        </p:txBody>
      </p:sp>
      <p:sp>
        <p:nvSpPr>
          <p:cNvPr id="17" name="Shape 15"/>
          <p:cNvSpPr/>
          <p:nvPr/>
        </p:nvSpPr>
        <p:spPr>
          <a:xfrm>
            <a:off x="4343400" y="1783080"/>
            <a:ext cx="2103120" cy="566928"/>
          </a:xfrm>
          <a:prstGeom prst="roundRect">
            <a:avLst>
              <a:gd name="adj" fmla="val 12903"/>
            </a:avLst>
          </a:prstGeom>
          <a:solidFill>
            <a:srgbClr val="13233F"/>
          </a:solidFill>
          <a:ln w="12700">
            <a:solidFill>
              <a:srgbClr val="13233F"/>
            </a:solidFill>
            <a:prstDash val="solid"/>
          </a:ln>
        </p:spPr>
        <p:txBody>
          <a:bodyPr/>
          <a:lstStyle/>
          <a:p>
            <a:endParaRPr lang="en-TH"/>
          </a:p>
        </p:txBody>
      </p:sp>
      <p:sp>
        <p:nvSpPr>
          <p:cNvPr id="18" name="Text 16"/>
          <p:cNvSpPr txBox="1"/>
          <p:nvPr/>
        </p:nvSpPr>
        <p:spPr>
          <a:xfrm>
            <a:off x="4343400" y="1783080"/>
            <a:ext cx="210312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Tahoma" pitchFamily="34" charset="0"/>
                <a:ea typeface="Tahoma" pitchFamily="34" charset="-122"/>
                <a:cs typeface="Tahoma" pitchFamily="34" charset="-120"/>
              </a:rPr>
              <a:t>Puppet server</a:t>
            </a:r>
            <a:endParaRPr lang="en-US" sz="1300" dirty="0"/>
          </a:p>
          <a:p>
            <a:pPr marL="0" indent="0" algn="ctr">
              <a:buNone/>
            </a:pPr>
            <a:r>
              <a:rPr lang="en-US" sz="1050" dirty="0">
                <a:solidFill>
                  <a:srgbClr val="FFFFFF"/>
                </a:solidFill>
                <a:latin typeface="Tahoma" pitchFamily="34" charset="0"/>
                <a:ea typeface="Tahoma" pitchFamily="34" charset="-122"/>
                <a:cs typeface="Tahoma" pitchFamily="34" charset="-120"/>
              </a:rPr>
              <a:t>+ PuppetDB</a:t>
            </a:r>
            <a:endParaRPr lang="en-US" sz="1300" dirty="0"/>
          </a:p>
        </p:txBody>
      </p:sp>
      <p:sp>
        <p:nvSpPr>
          <p:cNvPr id="19" name="Shape 17"/>
          <p:cNvSpPr/>
          <p:nvPr/>
        </p:nvSpPr>
        <p:spPr>
          <a:xfrm>
            <a:off x="2011680" y="2368296"/>
            <a:ext cx="0" cy="3163824"/>
          </a:xfrm>
          <a:prstGeom prst="line">
            <a:avLst/>
          </a:prstGeom>
          <a:noFill/>
          <a:ln w="12700">
            <a:solidFill>
              <a:srgbClr val="8FA6C1"/>
            </a:solidFill>
            <a:prstDash val="dash"/>
          </a:ln>
        </p:spPr>
        <p:txBody>
          <a:bodyPr/>
          <a:lstStyle/>
          <a:p>
            <a:endParaRPr lang="en-TH"/>
          </a:p>
        </p:txBody>
      </p:sp>
      <p:sp>
        <p:nvSpPr>
          <p:cNvPr id="20" name="Shape 18"/>
          <p:cNvSpPr/>
          <p:nvPr/>
        </p:nvSpPr>
        <p:spPr>
          <a:xfrm>
            <a:off x="5394960" y="2368296"/>
            <a:ext cx="0" cy="3163824"/>
          </a:xfrm>
          <a:prstGeom prst="line">
            <a:avLst/>
          </a:prstGeom>
          <a:noFill/>
          <a:ln w="12700">
            <a:solidFill>
              <a:srgbClr val="8FA6C1"/>
            </a:solidFill>
            <a:prstDash val="dash"/>
          </a:ln>
        </p:spPr>
        <p:txBody>
          <a:bodyPr/>
          <a:lstStyle/>
          <a:p>
            <a:endParaRPr lang="en-TH"/>
          </a:p>
        </p:txBody>
      </p:sp>
      <p:sp>
        <p:nvSpPr>
          <p:cNvPr id="21" name="Shape 19"/>
          <p:cNvSpPr/>
          <p:nvPr/>
        </p:nvSpPr>
        <p:spPr>
          <a:xfrm>
            <a:off x="2057400" y="2788920"/>
            <a:ext cx="3291840" cy="0"/>
          </a:xfrm>
          <a:prstGeom prst="line">
            <a:avLst/>
          </a:prstGeom>
          <a:noFill/>
          <a:ln w="22225">
            <a:solidFill>
              <a:srgbClr val="13233F"/>
            </a:solidFill>
            <a:prstDash val="solid"/>
            <a:tailEnd type="triangle"/>
          </a:ln>
        </p:spPr>
        <p:txBody>
          <a:bodyPr/>
          <a:lstStyle/>
          <a:p>
            <a:endParaRPr lang="en-TH"/>
          </a:p>
        </p:txBody>
      </p:sp>
      <p:sp>
        <p:nvSpPr>
          <p:cNvPr id="22" name="Text 20"/>
          <p:cNvSpPr txBox="1"/>
          <p:nvPr/>
        </p:nvSpPr>
        <p:spPr>
          <a:xfrm>
            <a:off x="2148840" y="2441448"/>
            <a:ext cx="3108960" cy="292608"/>
          </a:xfrm>
          <a:prstGeom prst="rect">
            <a:avLst/>
          </a:prstGeom>
          <a:noFill/>
          <a:ln/>
        </p:spPr>
        <p:txBody>
          <a:bodyPr wrap="square" lIns="0" tIns="0" rIns="0" bIns="0" rtlCol="0" anchor="b"/>
          <a:lstStyle/>
          <a:p>
            <a:pPr marL="0" indent="0" algn="ctr">
              <a:buNone/>
            </a:pPr>
            <a:r>
              <a:rPr lang="en-US" sz="1200" dirty="0">
                <a:solidFill>
                  <a:srgbClr val="1E2733"/>
                </a:solidFill>
                <a:latin typeface="Tahoma" pitchFamily="34" charset="0"/>
                <a:ea typeface="Tahoma" pitchFamily="34" charset="-122"/>
                <a:cs typeface="Tahoma" pitchFamily="34" charset="-120"/>
              </a:rPr>
              <a:t>1) ส่ง facts (Facter) + ขอ catalog</a:t>
            </a:r>
            <a:endParaRPr lang="en-US" sz="1200" dirty="0"/>
          </a:p>
        </p:txBody>
      </p:sp>
      <p:sp>
        <p:nvSpPr>
          <p:cNvPr id="23" name="Shape 21"/>
          <p:cNvSpPr/>
          <p:nvPr/>
        </p:nvSpPr>
        <p:spPr>
          <a:xfrm flipH="1">
            <a:off x="2057400" y="3566160"/>
            <a:ext cx="3291840" cy="0"/>
          </a:xfrm>
          <a:prstGeom prst="line">
            <a:avLst/>
          </a:prstGeom>
          <a:noFill/>
          <a:ln w="22225">
            <a:solidFill>
              <a:srgbClr val="A9812F"/>
            </a:solidFill>
            <a:prstDash val="solid"/>
            <a:tailEnd type="triangle"/>
          </a:ln>
        </p:spPr>
        <p:txBody>
          <a:bodyPr/>
          <a:lstStyle/>
          <a:p>
            <a:endParaRPr lang="en-TH"/>
          </a:p>
        </p:txBody>
      </p:sp>
      <p:sp>
        <p:nvSpPr>
          <p:cNvPr id="24" name="Text 22"/>
          <p:cNvSpPr txBox="1"/>
          <p:nvPr/>
        </p:nvSpPr>
        <p:spPr>
          <a:xfrm>
            <a:off x="2148840" y="3218688"/>
            <a:ext cx="3108960" cy="292608"/>
          </a:xfrm>
          <a:prstGeom prst="rect">
            <a:avLst/>
          </a:prstGeom>
          <a:noFill/>
          <a:ln/>
        </p:spPr>
        <p:txBody>
          <a:bodyPr wrap="square" lIns="0" tIns="0" rIns="0" bIns="0" rtlCol="0" anchor="b"/>
          <a:lstStyle/>
          <a:p>
            <a:pPr marL="0" indent="0" algn="ctr">
              <a:buNone/>
            </a:pPr>
            <a:r>
              <a:rPr lang="en-US" sz="1200" dirty="0">
                <a:solidFill>
                  <a:srgbClr val="1E2733"/>
                </a:solidFill>
                <a:latin typeface="Tahoma" pitchFamily="34" charset="0"/>
                <a:ea typeface="Tahoma" pitchFamily="34" charset="-122"/>
                <a:cs typeface="Tahoma" pitchFamily="34" charset="-120"/>
              </a:rPr>
              <a:t>2) ส่ง catalog ที่ compile จาก manifests</a:t>
            </a:r>
            <a:endParaRPr lang="en-US" sz="1200" dirty="0"/>
          </a:p>
        </p:txBody>
      </p:sp>
      <p:sp>
        <p:nvSpPr>
          <p:cNvPr id="25" name="Shape 23"/>
          <p:cNvSpPr/>
          <p:nvPr/>
        </p:nvSpPr>
        <p:spPr>
          <a:xfrm>
            <a:off x="2057400" y="4983480"/>
            <a:ext cx="3291840" cy="0"/>
          </a:xfrm>
          <a:prstGeom prst="line">
            <a:avLst/>
          </a:prstGeom>
          <a:noFill/>
          <a:ln w="22225">
            <a:solidFill>
              <a:srgbClr val="13233F"/>
            </a:solidFill>
            <a:prstDash val="solid"/>
            <a:tailEnd type="triangle"/>
          </a:ln>
        </p:spPr>
        <p:txBody>
          <a:bodyPr/>
          <a:lstStyle/>
          <a:p>
            <a:endParaRPr lang="en-TH"/>
          </a:p>
        </p:txBody>
      </p:sp>
      <p:sp>
        <p:nvSpPr>
          <p:cNvPr id="26" name="Text 24"/>
          <p:cNvSpPr txBox="1"/>
          <p:nvPr/>
        </p:nvSpPr>
        <p:spPr>
          <a:xfrm>
            <a:off x="2148840" y="4636008"/>
            <a:ext cx="3108960" cy="292608"/>
          </a:xfrm>
          <a:prstGeom prst="rect">
            <a:avLst/>
          </a:prstGeom>
          <a:noFill/>
          <a:ln/>
        </p:spPr>
        <p:txBody>
          <a:bodyPr wrap="square" lIns="0" tIns="0" rIns="0" bIns="0" rtlCol="0" anchor="b"/>
          <a:lstStyle/>
          <a:p>
            <a:pPr marL="0" indent="0" algn="ctr">
              <a:buNone/>
            </a:pPr>
            <a:r>
              <a:rPr lang="en-US" sz="1200" dirty="0">
                <a:solidFill>
                  <a:srgbClr val="1E2733"/>
                </a:solidFill>
                <a:latin typeface="Tahoma" pitchFamily="34" charset="0"/>
                <a:ea typeface="Tahoma" pitchFamily="34" charset="-122"/>
                <a:cs typeface="Tahoma" pitchFamily="34" charset="-120"/>
              </a:rPr>
              <a:t>4) ส่ง report → PuppetDB (ตรวจ drift)</a:t>
            </a:r>
            <a:endParaRPr lang="en-US" sz="1200" dirty="0"/>
          </a:p>
        </p:txBody>
      </p:sp>
      <p:sp>
        <p:nvSpPr>
          <p:cNvPr id="27" name="Shape 25"/>
          <p:cNvSpPr/>
          <p:nvPr/>
        </p:nvSpPr>
        <p:spPr>
          <a:xfrm>
            <a:off x="1874520" y="3886200"/>
            <a:ext cx="2651760" cy="713232"/>
          </a:xfrm>
          <a:prstGeom prst="roundRect">
            <a:avLst>
              <a:gd name="adj" fmla="val 7692"/>
            </a:avLst>
          </a:prstGeom>
          <a:solidFill>
            <a:srgbClr val="F6F0E3"/>
          </a:solidFill>
          <a:ln w="9525">
            <a:solidFill>
              <a:srgbClr val="D9BE82"/>
            </a:solidFill>
            <a:prstDash val="solid"/>
          </a:ln>
        </p:spPr>
        <p:txBody>
          <a:bodyPr/>
          <a:lstStyle/>
          <a:p>
            <a:endParaRPr lang="en-TH"/>
          </a:p>
        </p:txBody>
      </p:sp>
      <p:sp>
        <p:nvSpPr>
          <p:cNvPr id="28" name="Text 26"/>
          <p:cNvSpPr txBox="1"/>
          <p:nvPr/>
        </p:nvSpPr>
        <p:spPr>
          <a:xfrm>
            <a:off x="1965960" y="3886200"/>
            <a:ext cx="2514600" cy="713232"/>
          </a:xfrm>
          <a:prstGeom prst="rect">
            <a:avLst/>
          </a:prstGeom>
          <a:noFill/>
          <a:ln/>
        </p:spPr>
        <p:txBody>
          <a:bodyPr wrap="square" lIns="0" tIns="0" rIns="0" bIns="0" rtlCol="0" anchor="ctr"/>
          <a:lstStyle/>
          <a:p>
            <a:pPr marL="0" indent="0">
              <a:buNone/>
            </a:pPr>
            <a:r>
              <a:rPr lang="en-US" sz="1150" b="1" dirty="0">
                <a:solidFill>
                  <a:srgbClr val="1E2733"/>
                </a:solidFill>
                <a:latin typeface="Tahoma" pitchFamily="34" charset="0"/>
                <a:ea typeface="Tahoma" pitchFamily="34" charset="-122"/>
                <a:cs typeface="Tahoma" pitchFamily="34" charset="-120"/>
              </a:rPr>
              <a:t>3) apply catalog</a:t>
            </a:r>
            <a:endParaRPr lang="en-US" sz="1150" dirty="0"/>
          </a:p>
          <a:p>
            <a:pPr marL="0" indent="0">
              <a:buNone/>
            </a:pPr>
            <a:r>
              <a:rPr lang="en-US" sz="1150" dirty="0">
                <a:solidFill>
                  <a:srgbClr val="1E2733"/>
                </a:solidFill>
                <a:latin typeface="Tahoma" pitchFamily="34" charset="0"/>
                <a:ea typeface="Tahoma" pitchFamily="34" charset="-122"/>
                <a:cs typeface="Tahoma" pitchFamily="34" charset="-120"/>
              </a:rPr>
              <a:t>เทียบกับสถานะจริง แก้เฉพาะส่วนที่ต่าง (idempotent)</a:t>
            </a:r>
            <a:endParaRPr lang="en-US" sz="1150" dirty="0"/>
          </a:p>
        </p:txBody>
      </p:sp>
      <p:sp>
        <p:nvSpPr>
          <p:cNvPr id="29" name="Shape 27"/>
          <p:cNvSpPr/>
          <p:nvPr/>
        </p:nvSpPr>
        <p:spPr>
          <a:xfrm>
            <a:off x="548640" y="5623560"/>
            <a:ext cx="6126480" cy="603504"/>
          </a:xfrm>
          <a:prstGeom prst="roundRect">
            <a:avLst>
              <a:gd name="adj" fmla="val 9091"/>
            </a:avLst>
          </a:prstGeom>
          <a:solidFill>
            <a:srgbClr val="F3F5F8"/>
          </a:solidFill>
          <a:ln w="9525">
            <a:solidFill>
              <a:srgbClr val="D6DCE4"/>
            </a:solidFill>
            <a:prstDash val="solid"/>
          </a:ln>
        </p:spPr>
        <p:txBody>
          <a:bodyPr/>
          <a:lstStyle/>
          <a:p>
            <a:endParaRPr lang="en-TH"/>
          </a:p>
        </p:txBody>
      </p:sp>
      <p:sp>
        <p:nvSpPr>
          <p:cNvPr id="30" name="Text 28"/>
          <p:cNvSpPr txBox="1"/>
          <p:nvPr/>
        </p:nvSpPr>
        <p:spPr>
          <a:xfrm>
            <a:off x="731520" y="5623560"/>
            <a:ext cx="5852160" cy="603504"/>
          </a:xfrm>
          <a:prstGeom prst="rect">
            <a:avLst/>
          </a:prstGeom>
          <a:noFill/>
          <a:ln/>
        </p:spPr>
        <p:txBody>
          <a:bodyPr wrap="square" lIns="0" tIns="0" rIns="0" bIns="0" rtlCol="0" anchor="ctr"/>
          <a:lstStyle/>
          <a:p>
            <a:pPr marL="0" indent="0">
              <a:buNone/>
            </a:pPr>
            <a:r>
              <a:rPr lang="en-US" sz="1200" b="1" dirty="0">
                <a:solidFill>
                  <a:srgbClr val="13233F"/>
                </a:solidFill>
                <a:latin typeface="Tahoma" pitchFamily="34" charset="0"/>
                <a:ea typeface="Tahoma" pitchFamily="34" charset="-122"/>
                <a:cs typeface="Tahoma" pitchFamily="34" charset="-120"/>
              </a:rPr>
              <a:t>ทำซ้ำทุก runinterval </a:t>
            </a:r>
            <a:r>
              <a:rPr lang="en-US" sz="1200" dirty="0">
                <a:solidFill>
                  <a:srgbClr val="1E2733"/>
                </a:solidFill>
                <a:latin typeface="Tahoma" pitchFamily="34" charset="0"/>
                <a:ea typeface="Tahoma" pitchFamily="34" charset="-122"/>
                <a:cs typeface="Tahoma" pitchFamily="34" charset="-120"/>
              </a:rPr>
              <a:t>(ค่าเริ่มต้น 30 นาที)  ·  HTTPS 8140 + mutual TLS certificate</a:t>
            </a:r>
            <a:endParaRPr lang="en-US" sz="1200" dirty="0"/>
          </a:p>
        </p:txBody>
      </p:sp>
      <p:sp>
        <p:nvSpPr>
          <p:cNvPr id="31" name="Text 29"/>
          <p:cNvSpPr txBox="1"/>
          <p:nvPr/>
        </p:nvSpPr>
        <p:spPr>
          <a:xfrm>
            <a:off x="6995160" y="1755648"/>
            <a:ext cx="464789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ศัพท์เทียบกันของ 3 เครื่องมือ</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995160" y="2121408"/>
          <a:ext cx="4736592" cy="3127248"/>
        </p:xfrm>
        <a:graphic>
          <a:graphicData uri="http://schemas.openxmlformats.org/drawingml/2006/table">
            <a:tbl>
              <a:tblPr/>
              <a:tblGrid>
                <a:gridCol w="1170432">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8448">
                  <a:extLst>
                    <a:ext uri="{9D8B030D-6E8A-4147-A177-3AD203B41FA5}">
                      <a16:colId xmlns:a16="http://schemas.microsoft.com/office/drawing/2014/main" val="20002"/>
                    </a:ext>
                  </a:extLst>
                </a:gridCol>
                <a:gridCol w="1124712">
                  <a:extLst>
                    <a:ext uri="{9D8B030D-6E8A-4147-A177-3AD203B41FA5}">
                      <a16:colId xmlns:a16="http://schemas.microsoft.com/office/drawing/2014/main" val="20003"/>
                    </a:ext>
                  </a:extLst>
                </a:gridCol>
              </a:tblGrid>
              <a:tr h="347472">
                <a:tc>
                  <a:txBody>
                    <a:bodyPr/>
                    <a:lstStyle/>
                    <a:p>
                      <a:pPr marL="0" indent="0">
                        <a:buNone/>
                      </a:pPr>
                      <a:r>
                        <a:rPr lang="en-US" sz="1050" b="1" dirty="0">
                          <a:solidFill>
                            <a:srgbClr val="FFFFFF"/>
                          </a:solidFill>
                          <a:latin typeface="Tahoma" pitchFamily="34" charset="0"/>
                          <a:ea typeface="Tahoma" pitchFamily="34" charset="-122"/>
                          <a:cs typeface="Tahoma" pitchFamily="34" charset="-120"/>
                        </a:rPr>
                        <a:t>บทบาท</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050" b="1" dirty="0">
                          <a:solidFill>
                            <a:srgbClr val="FFFFFF"/>
                          </a:solidFill>
                          <a:latin typeface="Tahoma" pitchFamily="34" charset="0"/>
                          <a:ea typeface="Tahoma" pitchFamily="34" charset="-122"/>
                          <a:cs typeface="Tahoma" pitchFamily="34" charset="-120"/>
                        </a:rPr>
                        <a:t>Puppet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050" b="1" dirty="0">
                          <a:solidFill>
                            <a:srgbClr val="FFFFFF"/>
                          </a:solidFill>
                          <a:latin typeface="Tahoma" pitchFamily="34" charset="0"/>
                          <a:ea typeface="Tahoma" pitchFamily="34" charset="-122"/>
                          <a:cs typeface="Tahoma" pitchFamily="34" charset="-120"/>
                        </a:rPr>
                        <a:t>Chef</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050" b="1" dirty="0">
                          <a:solidFill>
                            <a:srgbClr val="FFFFFF"/>
                          </a:solidFill>
                          <a:latin typeface="Tahoma" pitchFamily="34" charset="0"/>
                          <a:ea typeface="Tahoma" pitchFamily="34" charset="-122"/>
                          <a:cs typeface="Tahoma" pitchFamily="34" charset="-120"/>
                        </a:rPr>
                        <a:t>SaltStack</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Server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Puppet server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Chef Infra Server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Salt master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Client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Puppet agent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chef-client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salt-minion</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โค้ด config</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Manifest (.pp)</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Recipe (.rb)</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State (.sls)</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ชุดโค้ด</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Module</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Cookbook</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Formula</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ข้อมูล node</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Facts (Facter)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Ohai</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Grains</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ข้อมูล/ความลับ</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Hiera</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Data bags</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Pillar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ภาษา</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Puppet DSL</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Ruby DSL</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YAML + Jinja2</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050" b="1" dirty="0">
                          <a:solidFill>
                            <a:srgbClr val="13233F"/>
                          </a:solidFill>
                          <a:latin typeface="Tahoma" pitchFamily="34" charset="0"/>
                          <a:ea typeface="Tahoma" pitchFamily="34" charset="-122"/>
                          <a:cs typeface="Tahoma" pitchFamily="34" charset="-120"/>
                        </a:rPr>
                        <a:t>Port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8140</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443</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Tahoma" pitchFamily="34" charset="0"/>
                          <a:ea typeface="Tahoma" pitchFamily="34" charset="-122"/>
                          <a:cs typeface="Tahoma" pitchFamily="34" charset="-120"/>
                        </a:rPr>
                        <a:t>4505 / 4506</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33" name="Shape 30"/>
          <p:cNvSpPr/>
          <p:nvPr/>
        </p:nvSpPr>
        <p:spPr>
          <a:xfrm>
            <a:off x="6995160" y="5440680"/>
            <a:ext cx="4647895" cy="786384"/>
          </a:xfrm>
          <a:prstGeom prst="roundRect">
            <a:avLst>
              <a:gd name="adj" fmla="val 6977"/>
            </a:avLst>
          </a:prstGeom>
          <a:solidFill>
            <a:srgbClr val="F6F0E3"/>
          </a:solidFill>
          <a:ln w="9525">
            <a:solidFill>
              <a:srgbClr val="D9BE82"/>
            </a:solidFill>
            <a:prstDash val="solid"/>
          </a:ln>
        </p:spPr>
        <p:txBody>
          <a:bodyPr/>
          <a:lstStyle/>
          <a:p>
            <a:endParaRPr lang="en-TH"/>
          </a:p>
        </p:txBody>
      </p:sp>
      <p:sp>
        <p:nvSpPr>
          <p:cNvPr id="34" name="Text 31"/>
          <p:cNvSpPr txBox="1"/>
          <p:nvPr/>
        </p:nvSpPr>
        <p:spPr>
          <a:xfrm>
            <a:off x="7159752" y="5440680"/>
            <a:ext cx="4373575" cy="786384"/>
          </a:xfrm>
          <a:prstGeom prst="rect">
            <a:avLst/>
          </a:prstGeom>
          <a:noFill/>
          <a:ln/>
        </p:spPr>
        <p:txBody>
          <a:bodyPr wrap="square" lIns="0" tIns="0" rIns="0" bIns="0" rtlCol="0" anchor="ctr"/>
          <a:lstStyle/>
          <a:p>
            <a:pPr marL="0" indent="0">
              <a:buNone/>
            </a:pPr>
            <a:r>
              <a:rPr lang="en-US" sz="1150" b="1" dirty="0">
                <a:solidFill>
                  <a:srgbClr val="13233F"/>
                </a:solidFill>
                <a:latin typeface="Tahoma" pitchFamily="34" charset="0"/>
                <a:ea typeface="Tahoma" pitchFamily="34" charset="-122"/>
                <a:cs typeface="Tahoma" pitchFamily="34" charset="-120"/>
              </a:rPr>
              <a:t>SaltStack ต่างออกไป: </a:t>
            </a:r>
            <a:r>
              <a:rPr lang="en-US" sz="1150" dirty="0">
                <a:solidFill>
                  <a:srgbClr val="1E2733"/>
                </a:solidFill>
                <a:latin typeface="Tahoma" pitchFamily="34" charset="0"/>
                <a:ea typeface="Tahoma" pitchFamily="34" charset="-122"/>
                <a:cs typeface="Tahoma" pitchFamily="34" charset="-120"/>
              </a:rPr>
              <a:t>master ส่งงานผ่าน ZeroMQ event bus — beacon บน minion แจ้งการเปลี่ยนแปลง แล้ว reactor บน master สั่งแก้ไขทันที</a:t>
            </a:r>
            <a:endParaRPr lang="en-US" sz="1150" dirty="0"/>
          </a:p>
        </p:txBody>
      </p:sp>
      <p:sp>
        <p:nvSpPr>
          <p:cNvPr id="35" name="Text 32"/>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36" name="Text 33"/>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1  ·  แนวคิดเบื้องต้นและสถาปัตยกรรม</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Agentless: Ansible คุยกับ Router อย่างไร</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โมดูลเครือข่ายรันบน control node แล้วส่งคำสั่ง CLI ผ่าน SSH (network_cli) — อุปกรณ์ไม่ต้องมี Python หรือ agent</a:t>
            </a:r>
            <a:endParaRPr lang="en-US" sz="1400" dirty="0"/>
          </a:p>
        </p:txBody>
      </p:sp>
      <p:sp>
        <p:nvSpPr>
          <p:cNvPr id="5" name="Shape 3"/>
          <p:cNvSpPr/>
          <p:nvPr/>
        </p:nvSpPr>
        <p:spPr>
          <a:xfrm>
            <a:off x="9722815"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3931920" cy="4434840"/>
          </a:xfrm>
          <a:prstGeom prst="roundRect">
            <a:avLst>
              <a:gd name="adj" fmla="val 1860"/>
            </a:avLst>
          </a:prstGeom>
          <a:solidFill>
            <a:srgbClr val="F3F5F8"/>
          </a:solidFill>
          <a:ln w="12700">
            <a:solidFill>
              <a:srgbClr val="4A6A8F"/>
            </a:solidFill>
            <a:prstDash val="solid"/>
          </a:ln>
        </p:spPr>
        <p:txBody>
          <a:bodyPr/>
          <a:lstStyle/>
          <a:p>
            <a:endParaRPr lang="en-TH"/>
          </a:p>
        </p:txBody>
      </p:sp>
      <p:pic>
        <p:nvPicPr>
          <p:cNvPr id="16" name="Image 0" descr="preencoded.png"/>
          <p:cNvPicPr>
            <a:picLocks noChangeAspect="1"/>
          </p:cNvPicPr>
          <p:nvPr/>
        </p:nvPicPr>
        <p:blipFill>
          <a:blip r:embed="rId3"/>
          <a:stretch>
            <a:fillRect/>
          </a:stretch>
        </p:blipFill>
        <p:spPr>
          <a:xfrm>
            <a:off x="731520" y="1911096"/>
            <a:ext cx="365760" cy="365760"/>
          </a:xfrm>
          <a:prstGeom prst="rect">
            <a:avLst/>
          </a:prstGeom>
        </p:spPr>
      </p:pic>
      <p:sp>
        <p:nvSpPr>
          <p:cNvPr id="17" name="Text 14"/>
          <p:cNvSpPr txBox="1"/>
          <p:nvPr/>
        </p:nvSpPr>
        <p:spPr>
          <a:xfrm>
            <a:off x="1188720" y="1911096"/>
            <a:ext cx="3200400" cy="365760"/>
          </a:xfrm>
          <a:prstGeom prst="rect">
            <a:avLst/>
          </a:prstGeom>
          <a:noFill/>
          <a:ln/>
        </p:spPr>
        <p:txBody>
          <a:bodyPr wrap="square" lIns="0" tIns="0" rIns="0" bIns="0" rtlCol="0" anchor="ctr"/>
          <a:lstStyle/>
          <a:p>
            <a:pPr marL="0" indent="0">
              <a:buNone/>
            </a:pPr>
            <a:r>
              <a:rPr lang="en-US" sz="1300" b="1" dirty="0">
                <a:solidFill>
                  <a:srgbClr val="13233F"/>
                </a:solidFill>
                <a:latin typeface="Tahoma" pitchFamily="34" charset="0"/>
                <a:ea typeface="Tahoma" pitchFamily="34" charset="-122"/>
                <a:cs typeface="Tahoma" pitchFamily="34" charset="-120"/>
              </a:rPr>
              <a:t>Control Node (Ubuntu + ansible-core)</a:t>
            </a:r>
            <a:endParaRPr lang="en-US" sz="1300" dirty="0"/>
          </a:p>
        </p:txBody>
      </p:sp>
      <p:sp>
        <p:nvSpPr>
          <p:cNvPr id="18" name="Shape 15"/>
          <p:cNvSpPr/>
          <p:nvPr/>
        </p:nvSpPr>
        <p:spPr>
          <a:xfrm>
            <a:off x="777240" y="2468880"/>
            <a:ext cx="3474720" cy="713232"/>
          </a:xfrm>
          <a:prstGeom prst="roundRect">
            <a:avLst>
              <a:gd name="adj" fmla="val 7692"/>
            </a:avLst>
          </a:prstGeom>
          <a:solidFill>
            <a:srgbClr val="FFFFFF"/>
          </a:solidFill>
          <a:ln w="9525">
            <a:solidFill>
              <a:srgbClr val="8FA6C1"/>
            </a:solidFill>
            <a:prstDash val="solid"/>
          </a:ln>
        </p:spPr>
        <p:txBody>
          <a:bodyPr/>
          <a:lstStyle/>
          <a:p>
            <a:endParaRPr lang="en-TH"/>
          </a:p>
        </p:txBody>
      </p:sp>
      <p:sp>
        <p:nvSpPr>
          <p:cNvPr id="19" name="Text 16"/>
          <p:cNvSpPr txBox="1"/>
          <p:nvPr/>
        </p:nvSpPr>
        <p:spPr>
          <a:xfrm>
            <a:off x="960120" y="2523744"/>
            <a:ext cx="3108960" cy="292608"/>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Inventory</a:t>
            </a:r>
            <a:endParaRPr lang="en-US" sz="1250" dirty="0"/>
          </a:p>
        </p:txBody>
      </p:sp>
      <p:sp>
        <p:nvSpPr>
          <p:cNvPr id="20" name="Text 17"/>
          <p:cNvSpPr txBox="1"/>
          <p:nvPr/>
        </p:nvSpPr>
        <p:spPr>
          <a:xfrm>
            <a:off x="960120" y="2816352"/>
            <a:ext cx="3108960" cy="310896"/>
          </a:xfrm>
          <a:prstGeom prst="rect">
            <a:avLst/>
          </a:prstGeom>
          <a:noFill/>
          <a:ln/>
        </p:spPr>
        <p:txBody>
          <a:bodyPr wrap="square" lIns="0" tIns="0" rIns="0" bIns="0" rtlCol="0" anchor="t"/>
          <a:lstStyle/>
          <a:p>
            <a:pPr marL="0" indent="0">
              <a:buNone/>
            </a:pPr>
            <a:r>
              <a:rPr lang="en-US" sz="1100" dirty="0">
                <a:solidFill>
                  <a:srgbClr val="5F6B7A"/>
                </a:solidFill>
                <a:latin typeface="Tahoma" pitchFamily="34" charset="0"/>
                <a:ea typeface="Tahoma" pitchFamily="34" charset="-122"/>
                <a:cs typeface="Tahoma" pitchFamily="34" charset="-120"/>
              </a:rPr>
              <a:t>รายชื่อ host + ตัวแปร (IP, network_os, credential)</a:t>
            </a:r>
            <a:endParaRPr lang="en-US" sz="1100" dirty="0"/>
          </a:p>
        </p:txBody>
      </p:sp>
      <p:sp>
        <p:nvSpPr>
          <p:cNvPr id="21" name="Shape 18"/>
          <p:cNvSpPr/>
          <p:nvPr/>
        </p:nvSpPr>
        <p:spPr>
          <a:xfrm>
            <a:off x="2514600" y="3200400"/>
            <a:ext cx="0" cy="182880"/>
          </a:xfrm>
          <a:prstGeom prst="line">
            <a:avLst/>
          </a:prstGeom>
          <a:noFill/>
          <a:ln w="19050">
            <a:solidFill>
              <a:srgbClr val="A9812F"/>
            </a:solidFill>
            <a:prstDash val="solid"/>
            <a:tailEnd type="triangle"/>
          </a:ln>
        </p:spPr>
        <p:txBody>
          <a:bodyPr/>
          <a:lstStyle/>
          <a:p>
            <a:endParaRPr lang="en-TH"/>
          </a:p>
        </p:txBody>
      </p:sp>
      <p:sp>
        <p:nvSpPr>
          <p:cNvPr id="22" name="Shape 19"/>
          <p:cNvSpPr/>
          <p:nvPr/>
        </p:nvSpPr>
        <p:spPr>
          <a:xfrm>
            <a:off x="777240" y="3401568"/>
            <a:ext cx="3474720" cy="713232"/>
          </a:xfrm>
          <a:prstGeom prst="roundRect">
            <a:avLst>
              <a:gd name="adj" fmla="val 7692"/>
            </a:avLst>
          </a:prstGeom>
          <a:solidFill>
            <a:srgbClr val="FFFFFF"/>
          </a:solidFill>
          <a:ln w="9525">
            <a:solidFill>
              <a:srgbClr val="8FA6C1"/>
            </a:solidFill>
            <a:prstDash val="solid"/>
          </a:ln>
        </p:spPr>
        <p:txBody>
          <a:bodyPr/>
          <a:lstStyle/>
          <a:p>
            <a:endParaRPr lang="en-TH"/>
          </a:p>
        </p:txBody>
      </p:sp>
      <p:sp>
        <p:nvSpPr>
          <p:cNvPr id="23" name="Text 20"/>
          <p:cNvSpPr txBox="1"/>
          <p:nvPr/>
        </p:nvSpPr>
        <p:spPr>
          <a:xfrm>
            <a:off x="960120" y="3456432"/>
            <a:ext cx="3108960" cy="292608"/>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Playbook → Play → Task</a:t>
            </a:r>
            <a:endParaRPr lang="en-US" sz="1250" dirty="0"/>
          </a:p>
        </p:txBody>
      </p:sp>
      <p:sp>
        <p:nvSpPr>
          <p:cNvPr id="24" name="Text 21"/>
          <p:cNvSpPr txBox="1"/>
          <p:nvPr/>
        </p:nvSpPr>
        <p:spPr>
          <a:xfrm>
            <a:off x="960120" y="3749040"/>
            <a:ext cx="3108960" cy="310896"/>
          </a:xfrm>
          <a:prstGeom prst="rect">
            <a:avLst/>
          </a:prstGeom>
          <a:noFill/>
          <a:ln/>
        </p:spPr>
        <p:txBody>
          <a:bodyPr wrap="square" lIns="0" tIns="0" rIns="0" bIns="0" rtlCol="0" anchor="t"/>
          <a:lstStyle/>
          <a:p>
            <a:pPr marL="0" indent="0">
              <a:buNone/>
            </a:pPr>
            <a:r>
              <a:rPr lang="en-US" sz="1100" dirty="0">
                <a:solidFill>
                  <a:srgbClr val="5F6B7A"/>
                </a:solidFill>
                <a:latin typeface="Tahoma" pitchFamily="34" charset="0"/>
                <a:ea typeface="Tahoma" pitchFamily="34" charset="-122"/>
                <a:cs typeface="Tahoma" pitchFamily="34" charset="-120"/>
              </a:rPr>
              <a:t>ลำดับงานที่ต้องการ เขียนด้วย YAML</a:t>
            </a:r>
            <a:endParaRPr lang="en-US" sz="1100" dirty="0"/>
          </a:p>
        </p:txBody>
      </p:sp>
      <p:sp>
        <p:nvSpPr>
          <p:cNvPr id="25" name="Shape 22"/>
          <p:cNvSpPr/>
          <p:nvPr/>
        </p:nvSpPr>
        <p:spPr>
          <a:xfrm>
            <a:off x="2514600" y="4133088"/>
            <a:ext cx="0" cy="182880"/>
          </a:xfrm>
          <a:prstGeom prst="line">
            <a:avLst/>
          </a:prstGeom>
          <a:noFill/>
          <a:ln w="19050">
            <a:solidFill>
              <a:srgbClr val="A9812F"/>
            </a:solidFill>
            <a:prstDash val="solid"/>
            <a:tailEnd type="triangle"/>
          </a:ln>
        </p:spPr>
        <p:txBody>
          <a:bodyPr/>
          <a:lstStyle/>
          <a:p>
            <a:endParaRPr lang="en-TH"/>
          </a:p>
        </p:txBody>
      </p:sp>
      <p:sp>
        <p:nvSpPr>
          <p:cNvPr id="26" name="Shape 23"/>
          <p:cNvSpPr/>
          <p:nvPr/>
        </p:nvSpPr>
        <p:spPr>
          <a:xfrm>
            <a:off x="777240" y="4334256"/>
            <a:ext cx="3474720" cy="713232"/>
          </a:xfrm>
          <a:prstGeom prst="roundRect">
            <a:avLst>
              <a:gd name="adj" fmla="val 7692"/>
            </a:avLst>
          </a:prstGeom>
          <a:solidFill>
            <a:srgbClr val="FFFFFF"/>
          </a:solidFill>
          <a:ln w="9525">
            <a:solidFill>
              <a:srgbClr val="8FA6C1"/>
            </a:solidFill>
            <a:prstDash val="solid"/>
          </a:ln>
        </p:spPr>
        <p:txBody>
          <a:bodyPr/>
          <a:lstStyle/>
          <a:p>
            <a:endParaRPr lang="en-TH"/>
          </a:p>
        </p:txBody>
      </p:sp>
      <p:sp>
        <p:nvSpPr>
          <p:cNvPr id="27" name="Text 24"/>
          <p:cNvSpPr txBox="1"/>
          <p:nvPr/>
        </p:nvSpPr>
        <p:spPr>
          <a:xfrm>
            <a:off x="960120" y="4389120"/>
            <a:ext cx="3108960" cy="292608"/>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Module  cisco.ios.*</a:t>
            </a:r>
            <a:endParaRPr lang="en-US" sz="1250" dirty="0"/>
          </a:p>
        </p:txBody>
      </p:sp>
      <p:sp>
        <p:nvSpPr>
          <p:cNvPr id="28" name="Text 25"/>
          <p:cNvSpPr txBox="1"/>
          <p:nvPr/>
        </p:nvSpPr>
        <p:spPr>
          <a:xfrm>
            <a:off x="960120" y="4681728"/>
            <a:ext cx="3108960" cy="310896"/>
          </a:xfrm>
          <a:prstGeom prst="rect">
            <a:avLst/>
          </a:prstGeom>
          <a:noFill/>
          <a:ln/>
        </p:spPr>
        <p:txBody>
          <a:bodyPr wrap="square" lIns="0" tIns="0" rIns="0" bIns="0" rtlCol="0" anchor="t"/>
          <a:lstStyle/>
          <a:p>
            <a:pPr marL="0" indent="0">
              <a:buNone/>
            </a:pPr>
            <a:r>
              <a:rPr lang="en-US" sz="1100" dirty="0">
                <a:solidFill>
                  <a:srgbClr val="5F6B7A"/>
                </a:solidFill>
                <a:latin typeface="Tahoma" pitchFamily="34" charset="0"/>
                <a:ea typeface="Tahoma" pitchFamily="34" charset="-122"/>
                <a:cs typeface="Tahoma" pitchFamily="34" charset="-120"/>
              </a:rPr>
              <a:t>สร้างคำสั่ง IOS จาก desired state (+ Jinja2)</a:t>
            </a:r>
            <a:endParaRPr lang="en-US" sz="1100" dirty="0"/>
          </a:p>
        </p:txBody>
      </p:sp>
      <p:sp>
        <p:nvSpPr>
          <p:cNvPr id="29" name="Shape 26"/>
          <p:cNvSpPr/>
          <p:nvPr/>
        </p:nvSpPr>
        <p:spPr>
          <a:xfrm>
            <a:off x="2514600" y="5065776"/>
            <a:ext cx="0" cy="182880"/>
          </a:xfrm>
          <a:prstGeom prst="line">
            <a:avLst/>
          </a:prstGeom>
          <a:noFill/>
          <a:ln w="19050">
            <a:solidFill>
              <a:srgbClr val="A9812F"/>
            </a:solidFill>
            <a:prstDash val="solid"/>
            <a:tailEnd type="triangle"/>
          </a:ln>
        </p:spPr>
        <p:txBody>
          <a:bodyPr/>
          <a:lstStyle/>
          <a:p>
            <a:endParaRPr lang="en-TH"/>
          </a:p>
        </p:txBody>
      </p:sp>
      <p:sp>
        <p:nvSpPr>
          <p:cNvPr id="30" name="Shape 27"/>
          <p:cNvSpPr/>
          <p:nvPr/>
        </p:nvSpPr>
        <p:spPr>
          <a:xfrm>
            <a:off x="777240" y="5266944"/>
            <a:ext cx="3474720" cy="713232"/>
          </a:xfrm>
          <a:prstGeom prst="roundRect">
            <a:avLst>
              <a:gd name="adj" fmla="val 7692"/>
            </a:avLst>
          </a:prstGeom>
          <a:solidFill>
            <a:srgbClr val="FFFFFF"/>
          </a:solidFill>
          <a:ln w="9525">
            <a:solidFill>
              <a:srgbClr val="8FA6C1"/>
            </a:solidFill>
            <a:prstDash val="solid"/>
          </a:ln>
        </p:spPr>
        <p:txBody>
          <a:bodyPr/>
          <a:lstStyle/>
          <a:p>
            <a:endParaRPr lang="en-TH"/>
          </a:p>
        </p:txBody>
      </p:sp>
      <p:sp>
        <p:nvSpPr>
          <p:cNvPr id="31" name="Text 28"/>
          <p:cNvSpPr txBox="1"/>
          <p:nvPr/>
        </p:nvSpPr>
        <p:spPr>
          <a:xfrm>
            <a:off x="960120" y="5321808"/>
            <a:ext cx="3108960" cy="292608"/>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Connection: network_cli</a:t>
            </a:r>
            <a:endParaRPr lang="en-US" sz="1250" dirty="0"/>
          </a:p>
        </p:txBody>
      </p:sp>
      <p:sp>
        <p:nvSpPr>
          <p:cNvPr id="32" name="Text 29"/>
          <p:cNvSpPr txBox="1"/>
          <p:nvPr/>
        </p:nvSpPr>
        <p:spPr>
          <a:xfrm>
            <a:off x="960120" y="5614416"/>
            <a:ext cx="3108960" cy="310896"/>
          </a:xfrm>
          <a:prstGeom prst="rect">
            <a:avLst/>
          </a:prstGeom>
          <a:noFill/>
          <a:ln/>
        </p:spPr>
        <p:txBody>
          <a:bodyPr wrap="square" lIns="0" tIns="0" rIns="0" bIns="0" rtlCol="0" anchor="t"/>
          <a:lstStyle/>
          <a:p>
            <a:pPr marL="0" indent="0">
              <a:buNone/>
            </a:pPr>
            <a:r>
              <a:rPr lang="en-US" sz="1100" dirty="0">
                <a:solidFill>
                  <a:srgbClr val="5F6B7A"/>
                </a:solidFill>
                <a:latin typeface="Tahoma" pitchFamily="34" charset="0"/>
                <a:ea typeface="Tahoma" pitchFamily="34" charset="-122"/>
                <a:cs typeface="Tahoma" pitchFamily="34" charset="-120"/>
              </a:rPr>
              <a:t>เปิด SSH ค้างไว้ 1 session ต่อ host ใช้ซ้ำทุก task</a:t>
            </a:r>
            <a:endParaRPr lang="en-US" sz="1100" dirty="0"/>
          </a:p>
        </p:txBody>
      </p:sp>
      <p:sp>
        <p:nvSpPr>
          <p:cNvPr id="33" name="Shape 30"/>
          <p:cNvSpPr/>
          <p:nvPr/>
        </p:nvSpPr>
        <p:spPr>
          <a:xfrm>
            <a:off x="5669280" y="2331720"/>
            <a:ext cx="1737360" cy="1143000"/>
          </a:xfrm>
          <a:prstGeom prst="roundRect">
            <a:avLst>
              <a:gd name="adj" fmla="val 6400"/>
            </a:avLst>
          </a:prstGeom>
          <a:solidFill>
            <a:srgbClr val="FFFFFF"/>
          </a:solidFill>
          <a:ln w="12700">
            <a:solidFill>
              <a:srgbClr val="4A6A8F"/>
            </a:solidFill>
            <a:prstDash val="solid"/>
          </a:ln>
        </p:spPr>
        <p:txBody>
          <a:bodyPr/>
          <a:lstStyle/>
          <a:p>
            <a:endParaRPr lang="en-TH"/>
          </a:p>
        </p:txBody>
      </p:sp>
      <p:pic>
        <p:nvPicPr>
          <p:cNvPr id="34" name="Image 1" descr="preencoded.png"/>
          <p:cNvPicPr>
            <a:picLocks noChangeAspect="1"/>
          </p:cNvPicPr>
          <p:nvPr/>
        </p:nvPicPr>
        <p:blipFill>
          <a:blip r:embed="rId4"/>
          <a:stretch>
            <a:fillRect/>
          </a:stretch>
        </p:blipFill>
        <p:spPr>
          <a:xfrm>
            <a:off x="6327648" y="2441448"/>
            <a:ext cx="420624" cy="420624"/>
          </a:xfrm>
          <a:prstGeom prst="rect">
            <a:avLst/>
          </a:prstGeom>
        </p:spPr>
      </p:pic>
      <p:sp>
        <p:nvSpPr>
          <p:cNvPr id="35" name="Text 31"/>
          <p:cNvSpPr txBox="1"/>
          <p:nvPr/>
        </p:nvSpPr>
        <p:spPr>
          <a:xfrm>
            <a:off x="5669280" y="2898648"/>
            <a:ext cx="173736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R1 (IOSv)</a:t>
            </a:r>
            <a:endParaRPr lang="en-US" sz="1250" dirty="0"/>
          </a:p>
        </p:txBody>
      </p:sp>
      <p:sp>
        <p:nvSpPr>
          <p:cNvPr id="36" name="Text 32"/>
          <p:cNvSpPr txBox="1"/>
          <p:nvPr/>
        </p:nvSpPr>
        <p:spPr>
          <a:xfrm>
            <a:off x="5669280" y="3154680"/>
            <a:ext cx="1737360" cy="237744"/>
          </a:xfrm>
          <a:prstGeom prst="rect">
            <a:avLst/>
          </a:prstGeom>
          <a:noFill/>
          <a:ln/>
        </p:spPr>
        <p:txBody>
          <a:bodyPr wrap="square" lIns="0" tIns="0" rIns="0" bIns="0" rtlCol="0" anchor="t"/>
          <a:lstStyle/>
          <a:p>
            <a:pPr marL="0" indent="0" algn="ctr">
              <a:buNone/>
            </a:pPr>
            <a:r>
              <a:rPr lang="en-US" sz="1050" dirty="0">
                <a:solidFill>
                  <a:srgbClr val="5F6B7A"/>
                </a:solidFill>
                <a:latin typeface="Tahoma" pitchFamily="34" charset="0"/>
                <a:ea typeface="Tahoma" pitchFamily="34" charset="-122"/>
                <a:cs typeface="Tahoma" pitchFamily="34" charset="-120"/>
              </a:rPr>
              <a:t>ไม่มี agent</a:t>
            </a:r>
            <a:endParaRPr lang="en-US" sz="1050" dirty="0"/>
          </a:p>
        </p:txBody>
      </p:sp>
      <p:sp>
        <p:nvSpPr>
          <p:cNvPr id="37" name="Shape 33"/>
          <p:cNvSpPr/>
          <p:nvPr/>
        </p:nvSpPr>
        <p:spPr>
          <a:xfrm flipV="1">
            <a:off x="4526280" y="2898648"/>
            <a:ext cx="1097280" cy="1097280"/>
          </a:xfrm>
          <a:prstGeom prst="line">
            <a:avLst/>
          </a:prstGeom>
          <a:noFill/>
          <a:ln w="22225">
            <a:solidFill>
              <a:srgbClr val="13233F"/>
            </a:solidFill>
            <a:prstDash val="solid"/>
            <a:tailEnd type="triangle"/>
          </a:ln>
        </p:spPr>
        <p:txBody>
          <a:bodyPr/>
          <a:lstStyle/>
          <a:p>
            <a:endParaRPr lang="en-TH"/>
          </a:p>
        </p:txBody>
      </p:sp>
      <p:sp>
        <p:nvSpPr>
          <p:cNvPr id="38" name="Shape 34"/>
          <p:cNvSpPr/>
          <p:nvPr/>
        </p:nvSpPr>
        <p:spPr>
          <a:xfrm>
            <a:off x="5669280" y="4114800"/>
            <a:ext cx="1737360" cy="1143000"/>
          </a:xfrm>
          <a:prstGeom prst="roundRect">
            <a:avLst>
              <a:gd name="adj" fmla="val 6400"/>
            </a:avLst>
          </a:prstGeom>
          <a:solidFill>
            <a:srgbClr val="FFFFFF"/>
          </a:solidFill>
          <a:ln w="12700">
            <a:solidFill>
              <a:srgbClr val="4A6A8F"/>
            </a:solidFill>
            <a:prstDash val="solid"/>
          </a:ln>
        </p:spPr>
        <p:txBody>
          <a:bodyPr/>
          <a:lstStyle/>
          <a:p>
            <a:endParaRPr lang="en-TH"/>
          </a:p>
        </p:txBody>
      </p:sp>
      <p:pic>
        <p:nvPicPr>
          <p:cNvPr id="39" name="Image 2" descr="preencoded.png"/>
          <p:cNvPicPr>
            <a:picLocks noChangeAspect="1"/>
          </p:cNvPicPr>
          <p:nvPr/>
        </p:nvPicPr>
        <p:blipFill>
          <a:blip r:embed="rId4"/>
          <a:stretch>
            <a:fillRect/>
          </a:stretch>
        </p:blipFill>
        <p:spPr>
          <a:xfrm>
            <a:off x="6327648" y="4224528"/>
            <a:ext cx="420624" cy="420624"/>
          </a:xfrm>
          <a:prstGeom prst="rect">
            <a:avLst/>
          </a:prstGeom>
        </p:spPr>
      </p:pic>
      <p:sp>
        <p:nvSpPr>
          <p:cNvPr id="40" name="Text 35"/>
          <p:cNvSpPr txBox="1"/>
          <p:nvPr/>
        </p:nvSpPr>
        <p:spPr>
          <a:xfrm>
            <a:off x="5669280" y="4681728"/>
            <a:ext cx="173736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R2 (IOSv)</a:t>
            </a:r>
            <a:endParaRPr lang="en-US" sz="1250" dirty="0"/>
          </a:p>
        </p:txBody>
      </p:sp>
      <p:sp>
        <p:nvSpPr>
          <p:cNvPr id="41" name="Text 36"/>
          <p:cNvSpPr txBox="1"/>
          <p:nvPr/>
        </p:nvSpPr>
        <p:spPr>
          <a:xfrm>
            <a:off x="5669280" y="4937760"/>
            <a:ext cx="1737360" cy="237744"/>
          </a:xfrm>
          <a:prstGeom prst="rect">
            <a:avLst/>
          </a:prstGeom>
          <a:noFill/>
          <a:ln/>
        </p:spPr>
        <p:txBody>
          <a:bodyPr wrap="square" lIns="0" tIns="0" rIns="0" bIns="0" rtlCol="0" anchor="t"/>
          <a:lstStyle/>
          <a:p>
            <a:pPr marL="0" indent="0" algn="ctr">
              <a:buNone/>
            </a:pPr>
            <a:r>
              <a:rPr lang="en-US" sz="1050" dirty="0">
                <a:solidFill>
                  <a:srgbClr val="5F6B7A"/>
                </a:solidFill>
                <a:latin typeface="Tahoma" pitchFamily="34" charset="0"/>
                <a:ea typeface="Tahoma" pitchFamily="34" charset="-122"/>
                <a:cs typeface="Tahoma" pitchFamily="34" charset="-120"/>
              </a:rPr>
              <a:t>ไม่มี agent</a:t>
            </a:r>
            <a:endParaRPr lang="en-US" sz="1050" dirty="0"/>
          </a:p>
        </p:txBody>
      </p:sp>
      <p:sp>
        <p:nvSpPr>
          <p:cNvPr id="42" name="Shape 37"/>
          <p:cNvSpPr/>
          <p:nvPr/>
        </p:nvSpPr>
        <p:spPr>
          <a:xfrm>
            <a:off x="4526280" y="3995928"/>
            <a:ext cx="1097280" cy="685800"/>
          </a:xfrm>
          <a:prstGeom prst="line">
            <a:avLst/>
          </a:prstGeom>
          <a:noFill/>
          <a:ln w="22225">
            <a:solidFill>
              <a:srgbClr val="13233F"/>
            </a:solidFill>
            <a:prstDash val="solid"/>
            <a:tailEnd type="triangle"/>
          </a:ln>
        </p:spPr>
        <p:txBody>
          <a:bodyPr/>
          <a:lstStyle/>
          <a:p>
            <a:endParaRPr lang="en-TH"/>
          </a:p>
        </p:txBody>
      </p:sp>
      <p:sp>
        <p:nvSpPr>
          <p:cNvPr id="43" name="Text 38"/>
          <p:cNvSpPr txBox="1"/>
          <p:nvPr/>
        </p:nvSpPr>
        <p:spPr>
          <a:xfrm>
            <a:off x="4956048" y="3867912"/>
            <a:ext cx="658368" cy="256032"/>
          </a:xfrm>
          <a:prstGeom prst="rect">
            <a:avLst/>
          </a:prstGeom>
          <a:noFill/>
          <a:ln/>
        </p:spPr>
        <p:txBody>
          <a:bodyPr wrap="square" lIns="0" tIns="0" rIns="0" bIns="0" rtlCol="0" anchor="ctr"/>
          <a:lstStyle/>
          <a:p>
            <a:pPr marL="0" indent="0" algn="ctr">
              <a:buNone/>
            </a:pPr>
            <a:r>
              <a:rPr lang="en-US" sz="1100" b="1" dirty="0">
                <a:solidFill>
                  <a:srgbClr val="A9812F"/>
                </a:solidFill>
                <a:latin typeface="Tahoma" pitchFamily="34" charset="0"/>
                <a:ea typeface="Tahoma" pitchFamily="34" charset="-122"/>
                <a:cs typeface="Tahoma" pitchFamily="34" charset="-120"/>
              </a:rPr>
              <a:t>SSH 22</a:t>
            </a:r>
            <a:endParaRPr lang="en-US" sz="1100" dirty="0"/>
          </a:p>
        </p:txBody>
      </p:sp>
      <p:sp>
        <p:nvSpPr>
          <p:cNvPr id="44" name="Text 39"/>
          <p:cNvSpPr txBox="1"/>
          <p:nvPr/>
        </p:nvSpPr>
        <p:spPr>
          <a:xfrm>
            <a:off x="7680960" y="1755648"/>
            <a:ext cx="3962095" cy="329184"/>
          </a:xfrm>
          <a:prstGeom prst="rect">
            <a:avLst/>
          </a:prstGeom>
          <a:noFill/>
          <a:ln/>
        </p:spPr>
        <p:txBody>
          <a:bodyPr wrap="square" lIns="0" tIns="0" rIns="0" bIns="0" rtlCol="0" anchor="t"/>
          <a:lstStyle/>
          <a:p>
            <a:pPr marL="0" indent="0">
              <a:buNone/>
            </a:pPr>
            <a:r>
              <a:rPr lang="en-US" sz="1500" b="1" dirty="0">
                <a:solidFill>
                  <a:srgbClr val="13233F"/>
                </a:solidFill>
                <a:latin typeface="Tahoma" pitchFamily="34" charset="0"/>
                <a:ea typeface="Tahoma" pitchFamily="34" charset="-122"/>
                <a:cs typeface="Tahoma" pitchFamily="34" charset="-120"/>
              </a:rPr>
              <a:t>Idempotency: หัวใจของ desired state</a:t>
            </a:r>
            <a:endParaRPr lang="en-US" sz="1500" dirty="0"/>
          </a:p>
        </p:txBody>
      </p:sp>
      <p:sp>
        <p:nvSpPr>
          <p:cNvPr id="45" name="Shape 40"/>
          <p:cNvSpPr/>
          <p:nvPr/>
        </p:nvSpPr>
        <p:spPr>
          <a:xfrm>
            <a:off x="7680960" y="2212848"/>
            <a:ext cx="365760" cy="365760"/>
          </a:xfrm>
          <a:prstGeom prst="ellipse">
            <a:avLst/>
          </a:prstGeom>
          <a:solidFill>
            <a:srgbClr val="13233F"/>
          </a:solidFill>
          <a:ln w="12700">
            <a:solidFill>
              <a:srgbClr val="13233F"/>
            </a:solidFill>
            <a:prstDash val="solid"/>
          </a:ln>
        </p:spPr>
        <p:txBody>
          <a:bodyPr/>
          <a:lstStyle/>
          <a:p>
            <a:endParaRPr lang="en-TH"/>
          </a:p>
        </p:txBody>
      </p:sp>
      <p:sp>
        <p:nvSpPr>
          <p:cNvPr id="46" name="Text 41"/>
          <p:cNvSpPr txBox="1"/>
          <p:nvPr/>
        </p:nvSpPr>
        <p:spPr>
          <a:xfrm>
            <a:off x="7680960" y="22128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ahoma" pitchFamily="34" charset="0"/>
                <a:ea typeface="Tahoma" pitchFamily="34" charset="-122"/>
                <a:cs typeface="Tahoma" pitchFamily="34" charset="-120"/>
              </a:rPr>
              <a:t>1</a:t>
            </a:r>
            <a:endParaRPr lang="en-US" sz="1200" dirty="0"/>
          </a:p>
        </p:txBody>
      </p:sp>
      <p:sp>
        <p:nvSpPr>
          <p:cNvPr id="47" name="Text 42"/>
          <p:cNvSpPr txBox="1"/>
          <p:nvPr/>
        </p:nvSpPr>
        <p:spPr>
          <a:xfrm>
            <a:off x="8183880" y="2176272"/>
            <a:ext cx="3459175" cy="438912"/>
          </a:xfrm>
          <a:prstGeom prst="rect">
            <a:avLst/>
          </a:prstGeom>
          <a:noFill/>
          <a:ln/>
        </p:spPr>
        <p:txBody>
          <a:bodyPr wrap="square" lIns="0" tIns="0" rIns="0" bIns="0" rtlCol="0" anchor="ctr"/>
          <a:lstStyle/>
          <a:p>
            <a:pPr marL="0" indent="0">
              <a:buNone/>
            </a:pPr>
            <a:r>
              <a:rPr lang="en-US" sz="1250" dirty="0">
                <a:solidFill>
                  <a:srgbClr val="1E2733"/>
                </a:solidFill>
                <a:latin typeface="Tahoma" pitchFamily="34" charset="0"/>
                <a:ea typeface="Tahoma" pitchFamily="34" charset="-122"/>
                <a:cs typeface="Tahoma" pitchFamily="34" charset="-120"/>
              </a:rPr>
              <a:t>อ่าน running-config ปัจจุบันของอุปกรณ์</a:t>
            </a:r>
            <a:endParaRPr lang="en-US" sz="1250" dirty="0"/>
          </a:p>
        </p:txBody>
      </p:sp>
      <p:sp>
        <p:nvSpPr>
          <p:cNvPr id="48" name="Shape 43"/>
          <p:cNvSpPr/>
          <p:nvPr/>
        </p:nvSpPr>
        <p:spPr>
          <a:xfrm>
            <a:off x="7680960" y="2761488"/>
            <a:ext cx="365760" cy="365760"/>
          </a:xfrm>
          <a:prstGeom prst="ellipse">
            <a:avLst/>
          </a:prstGeom>
          <a:solidFill>
            <a:srgbClr val="13233F"/>
          </a:solidFill>
          <a:ln w="12700">
            <a:solidFill>
              <a:srgbClr val="13233F"/>
            </a:solidFill>
            <a:prstDash val="solid"/>
          </a:ln>
        </p:spPr>
        <p:txBody>
          <a:bodyPr/>
          <a:lstStyle/>
          <a:p>
            <a:endParaRPr lang="en-TH"/>
          </a:p>
        </p:txBody>
      </p:sp>
      <p:sp>
        <p:nvSpPr>
          <p:cNvPr id="49" name="Text 44"/>
          <p:cNvSpPr txBox="1"/>
          <p:nvPr/>
        </p:nvSpPr>
        <p:spPr>
          <a:xfrm>
            <a:off x="7680960" y="27614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ahoma" pitchFamily="34" charset="0"/>
                <a:ea typeface="Tahoma" pitchFamily="34" charset="-122"/>
                <a:cs typeface="Tahoma" pitchFamily="34" charset="-120"/>
              </a:rPr>
              <a:t>2</a:t>
            </a:r>
            <a:endParaRPr lang="en-US" sz="1200" dirty="0"/>
          </a:p>
        </p:txBody>
      </p:sp>
      <p:sp>
        <p:nvSpPr>
          <p:cNvPr id="50" name="Text 45"/>
          <p:cNvSpPr txBox="1"/>
          <p:nvPr/>
        </p:nvSpPr>
        <p:spPr>
          <a:xfrm>
            <a:off x="8183880" y="2724912"/>
            <a:ext cx="3459175" cy="438912"/>
          </a:xfrm>
          <a:prstGeom prst="rect">
            <a:avLst/>
          </a:prstGeom>
          <a:noFill/>
          <a:ln/>
        </p:spPr>
        <p:txBody>
          <a:bodyPr wrap="square" lIns="0" tIns="0" rIns="0" bIns="0" rtlCol="0" anchor="ctr"/>
          <a:lstStyle/>
          <a:p>
            <a:pPr marL="0" indent="0">
              <a:buNone/>
            </a:pPr>
            <a:r>
              <a:rPr lang="en-US" sz="1250" dirty="0">
                <a:solidFill>
                  <a:srgbClr val="1E2733"/>
                </a:solidFill>
                <a:latin typeface="Tahoma" pitchFamily="34" charset="0"/>
                <a:ea typeface="Tahoma" pitchFamily="34" charset="-122"/>
                <a:cs typeface="Tahoma" pitchFamily="34" charset="-120"/>
              </a:rPr>
              <a:t>เทียบกับ desired state ใน playbook</a:t>
            </a:r>
            <a:endParaRPr lang="en-US" sz="1250" dirty="0"/>
          </a:p>
        </p:txBody>
      </p:sp>
      <p:sp>
        <p:nvSpPr>
          <p:cNvPr id="51" name="Shape 46"/>
          <p:cNvSpPr/>
          <p:nvPr/>
        </p:nvSpPr>
        <p:spPr>
          <a:xfrm>
            <a:off x="7680960" y="3310128"/>
            <a:ext cx="365760" cy="365760"/>
          </a:xfrm>
          <a:prstGeom prst="ellipse">
            <a:avLst/>
          </a:prstGeom>
          <a:solidFill>
            <a:srgbClr val="13233F"/>
          </a:solidFill>
          <a:ln w="12700">
            <a:solidFill>
              <a:srgbClr val="13233F"/>
            </a:solidFill>
            <a:prstDash val="solid"/>
          </a:ln>
        </p:spPr>
        <p:txBody>
          <a:bodyPr/>
          <a:lstStyle/>
          <a:p>
            <a:endParaRPr lang="en-TH"/>
          </a:p>
        </p:txBody>
      </p:sp>
      <p:sp>
        <p:nvSpPr>
          <p:cNvPr id="52" name="Text 47"/>
          <p:cNvSpPr txBox="1"/>
          <p:nvPr/>
        </p:nvSpPr>
        <p:spPr>
          <a:xfrm>
            <a:off x="7680960" y="331012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ahoma" pitchFamily="34" charset="0"/>
                <a:ea typeface="Tahoma" pitchFamily="34" charset="-122"/>
                <a:cs typeface="Tahoma" pitchFamily="34" charset="-120"/>
              </a:rPr>
              <a:t>3</a:t>
            </a:r>
            <a:endParaRPr lang="en-US" sz="1200" dirty="0"/>
          </a:p>
        </p:txBody>
      </p:sp>
      <p:sp>
        <p:nvSpPr>
          <p:cNvPr id="53" name="Text 48"/>
          <p:cNvSpPr txBox="1"/>
          <p:nvPr/>
        </p:nvSpPr>
        <p:spPr>
          <a:xfrm>
            <a:off x="8183880" y="3273552"/>
            <a:ext cx="3459175" cy="438912"/>
          </a:xfrm>
          <a:prstGeom prst="rect">
            <a:avLst/>
          </a:prstGeom>
          <a:noFill/>
          <a:ln/>
        </p:spPr>
        <p:txBody>
          <a:bodyPr wrap="square" lIns="0" tIns="0" rIns="0" bIns="0" rtlCol="0" anchor="ctr"/>
          <a:lstStyle/>
          <a:p>
            <a:pPr marL="0" indent="0">
              <a:buNone/>
            </a:pPr>
            <a:r>
              <a:rPr lang="en-US" sz="1250" dirty="0">
                <a:solidFill>
                  <a:srgbClr val="1E2733"/>
                </a:solidFill>
                <a:latin typeface="Tahoma" pitchFamily="34" charset="0"/>
                <a:ea typeface="Tahoma" pitchFamily="34" charset="-122"/>
                <a:cs typeface="Tahoma" pitchFamily="34" charset="-120"/>
              </a:rPr>
              <a:t>ส่งเฉพาะคำสั่งที่ขาด → ผลเป็น changed</a:t>
            </a:r>
            <a:endParaRPr lang="en-US" sz="1250" dirty="0"/>
          </a:p>
        </p:txBody>
      </p:sp>
      <p:sp>
        <p:nvSpPr>
          <p:cNvPr id="54" name="Shape 49"/>
          <p:cNvSpPr/>
          <p:nvPr/>
        </p:nvSpPr>
        <p:spPr>
          <a:xfrm>
            <a:off x="7680960" y="3858768"/>
            <a:ext cx="365760" cy="365760"/>
          </a:xfrm>
          <a:prstGeom prst="ellipse">
            <a:avLst/>
          </a:prstGeom>
          <a:solidFill>
            <a:srgbClr val="2E7D4F"/>
          </a:solidFill>
          <a:ln w="12700">
            <a:solidFill>
              <a:srgbClr val="2E7D4F"/>
            </a:solidFill>
            <a:prstDash val="solid"/>
          </a:ln>
        </p:spPr>
        <p:txBody>
          <a:bodyPr/>
          <a:lstStyle/>
          <a:p>
            <a:endParaRPr lang="en-TH"/>
          </a:p>
        </p:txBody>
      </p:sp>
      <p:sp>
        <p:nvSpPr>
          <p:cNvPr id="55" name="Text 50"/>
          <p:cNvSpPr txBox="1"/>
          <p:nvPr/>
        </p:nvSpPr>
        <p:spPr>
          <a:xfrm>
            <a:off x="7680960" y="38587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ahoma" pitchFamily="34" charset="0"/>
                <a:ea typeface="Tahoma" pitchFamily="34" charset="-122"/>
                <a:cs typeface="Tahoma" pitchFamily="34" charset="-120"/>
              </a:rPr>
              <a:t>4</a:t>
            </a:r>
            <a:endParaRPr lang="en-US" sz="1200" dirty="0"/>
          </a:p>
        </p:txBody>
      </p:sp>
      <p:sp>
        <p:nvSpPr>
          <p:cNvPr id="56" name="Text 51"/>
          <p:cNvSpPr txBox="1"/>
          <p:nvPr/>
        </p:nvSpPr>
        <p:spPr>
          <a:xfrm>
            <a:off x="8183880" y="3822192"/>
            <a:ext cx="3459175" cy="438912"/>
          </a:xfrm>
          <a:prstGeom prst="rect">
            <a:avLst/>
          </a:prstGeom>
          <a:noFill/>
          <a:ln/>
        </p:spPr>
        <p:txBody>
          <a:bodyPr wrap="square" lIns="0" tIns="0" rIns="0" bIns="0" rtlCol="0" anchor="ctr"/>
          <a:lstStyle/>
          <a:p>
            <a:pPr marL="0" indent="0">
              <a:buNone/>
            </a:pPr>
            <a:r>
              <a:rPr lang="en-US" sz="1250" dirty="0">
                <a:solidFill>
                  <a:srgbClr val="1E2733"/>
                </a:solidFill>
                <a:latin typeface="Tahoma" pitchFamily="34" charset="0"/>
                <a:ea typeface="Tahoma" pitchFamily="34" charset="-122"/>
                <a:cs typeface="Tahoma" pitchFamily="34" charset="-120"/>
              </a:rPr>
              <a:t>ถ้าตรงอยู่แล้ว ไม่ส่งอะไรเลย → ผลเป็น ok</a:t>
            </a:r>
            <a:endParaRPr lang="en-US" sz="1250" dirty="0"/>
          </a:p>
        </p:txBody>
      </p:sp>
      <p:sp>
        <p:nvSpPr>
          <p:cNvPr id="57" name="Shape 52"/>
          <p:cNvSpPr/>
          <p:nvPr/>
        </p:nvSpPr>
        <p:spPr>
          <a:xfrm>
            <a:off x="7680960" y="4526280"/>
            <a:ext cx="3962095" cy="1691640"/>
          </a:xfrm>
          <a:prstGeom prst="roundRect">
            <a:avLst>
              <a:gd name="adj" fmla="val 3243"/>
            </a:avLst>
          </a:prstGeom>
          <a:solidFill>
            <a:srgbClr val="F6F0E3"/>
          </a:solidFill>
          <a:ln w="9525">
            <a:solidFill>
              <a:srgbClr val="D9BE82"/>
            </a:solidFill>
            <a:prstDash val="solid"/>
          </a:ln>
        </p:spPr>
        <p:txBody>
          <a:bodyPr/>
          <a:lstStyle/>
          <a:p>
            <a:endParaRPr lang="en-TH"/>
          </a:p>
        </p:txBody>
      </p:sp>
      <p:sp>
        <p:nvSpPr>
          <p:cNvPr id="58" name="Text 53"/>
          <p:cNvSpPr txBox="1"/>
          <p:nvPr/>
        </p:nvSpPr>
        <p:spPr>
          <a:xfrm>
            <a:off x="7863840" y="4599432"/>
            <a:ext cx="3596335" cy="292608"/>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องค์ประกอบของ Playbook (Table 29-5)</a:t>
            </a:r>
            <a:endParaRPr lang="en-US" sz="1250" dirty="0"/>
          </a:p>
        </p:txBody>
      </p:sp>
      <p:sp>
        <p:nvSpPr>
          <p:cNvPr id="59" name="Text 54"/>
          <p:cNvSpPr txBox="1"/>
          <p:nvPr/>
        </p:nvSpPr>
        <p:spPr>
          <a:xfrm>
            <a:off x="7863840" y="4919472"/>
            <a:ext cx="3642055" cy="1280160"/>
          </a:xfrm>
          <a:prstGeom prst="rect">
            <a:avLst/>
          </a:prstGeom>
          <a:noFill/>
          <a:ln/>
        </p:spPr>
        <p:txBody>
          <a:bodyPr wrap="square" lIns="0" tIns="0" rIns="0" bIns="0" rtlCol="0" anchor="t"/>
          <a:lstStyle/>
          <a:p>
            <a:pPr marL="0" indent="0">
              <a:spcAft>
                <a:spcPts val="300"/>
              </a:spcAft>
              <a:buNone/>
            </a:pPr>
            <a:r>
              <a:rPr lang="en-US" sz="1100" b="1" dirty="0">
                <a:solidFill>
                  <a:srgbClr val="1E2733"/>
                </a:solidFill>
                <a:latin typeface="Tahoma" pitchFamily="34" charset="0"/>
                <a:ea typeface="Tahoma" pitchFamily="34" charset="-122"/>
                <a:cs typeface="Tahoma" pitchFamily="34" charset="-120"/>
              </a:rPr>
              <a:t>Playbook </a:t>
            </a:r>
            <a:r>
              <a:rPr lang="en-US" sz="1100" dirty="0">
                <a:solidFill>
                  <a:srgbClr val="1E2733"/>
                </a:solidFill>
                <a:latin typeface="Tahoma" pitchFamily="34" charset="0"/>
                <a:ea typeface="Tahoma" pitchFamily="34" charset="-122"/>
                <a:cs typeface="Tahoma" pitchFamily="34" charset="-120"/>
              </a:rPr>
              <a:t>— ชุดของ play สำหรับระบบปลายทาง</a:t>
            </a:r>
            <a:endParaRPr lang="en-US" sz="1100" dirty="0"/>
          </a:p>
          <a:p>
            <a:pPr marL="0" indent="0">
              <a:spcAft>
                <a:spcPts val="300"/>
              </a:spcAft>
              <a:buNone/>
            </a:pPr>
            <a:r>
              <a:rPr lang="en-US" sz="1100" b="1" dirty="0">
                <a:solidFill>
                  <a:srgbClr val="1E2733"/>
                </a:solidFill>
                <a:latin typeface="Tahoma" pitchFamily="34" charset="0"/>
                <a:ea typeface="Tahoma" pitchFamily="34" charset="-122"/>
                <a:cs typeface="Tahoma" pitchFamily="34" charset="-120"/>
              </a:rPr>
              <a:t>Play </a:t>
            </a:r>
            <a:r>
              <a:rPr lang="en-US" sz="1100" dirty="0">
                <a:solidFill>
                  <a:srgbClr val="1E2733"/>
                </a:solidFill>
                <a:latin typeface="Tahoma" pitchFamily="34" charset="0"/>
                <a:ea typeface="Tahoma" pitchFamily="34" charset="-122"/>
                <a:cs typeface="Tahoma" pitchFamily="34" charset="-120"/>
              </a:rPr>
              <a:t>— ชุดของ task ที่ใช้กับ host หรือกลุ่ม host</a:t>
            </a:r>
            <a:endParaRPr lang="en-US" sz="1100" dirty="0"/>
          </a:p>
          <a:p>
            <a:pPr marL="0" indent="0">
              <a:spcAft>
                <a:spcPts val="300"/>
              </a:spcAft>
              <a:buNone/>
            </a:pPr>
            <a:r>
              <a:rPr lang="en-US" sz="1100" b="1" dirty="0">
                <a:solidFill>
                  <a:srgbClr val="1E2733"/>
                </a:solidFill>
                <a:latin typeface="Tahoma" pitchFamily="34" charset="0"/>
                <a:ea typeface="Tahoma" pitchFamily="34" charset="-122"/>
                <a:cs typeface="Tahoma" pitchFamily="34" charset="-120"/>
              </a:rPr>
              <a:t>Task </a:t>
            </a:r>
            <a:r>
              <a:rPr lang="en-US" sz="1100" dirty="0">
                <a:solidFill>
                  <a:srgbClr val="1E2733"/>
                </a:solidFill>
                <a:latin typeface="Tahoma" pitchFamily="34" charset="0"/>
                <a:ea typeface="Tahoma" pitchFamily="34" charset="-122"/>
                <a:cs typeface="Tahoma" pitchFamily="34" charset="-120"/>
              </a:rPr>
              <a:t>— การเรียก module 1 ครั้ง</a:t>
            </a:r>
            <a:endParaRPr lang="en-US" sz="1100" dirty="0"/>
          </a:p>
          <a:p>
            <a:pPr marL="0" indent="0">
              <a:spcAft>
                <a:spcPts val="300"/>
              </a:spcAft>
              <a:buNone/>
            </a:pPr>
            <a:r>
              <a:rPr lang="en-US" sz="1100" b="1" dirty="0">
                <a:solidFill>
                  <a:srgbClr val="1E2733"/>
                </a:solidFill>
                <a:latin typeface="Tahoma" pitchFamily="34" charset="0"/>
                <a:ea typeface="Tahoma" pitchFamily="34" charset="-122"/>
                <a:cs typeface="Tahoma" pitchFamily="34" charset="-120"/>
              </a:rPr>
              <a:t>Bolt / Salt SSH </a:t>
            </a:r>
            <a:r>
              <a:rPr lang="en-US" sz="1100" dirty="0">
                <a:solidFill>
                  <a:srgbClr val="5F6B7A"/>
                </a:solidFill>
                <a:latin typeface="Tahoma" pitchFamily="34" charset="0"/>
                <a:ea typeface="Tahoma" pitchFamily="34" charset="-122"/>
                <a:cs typeface="Tahoma" pitchFamily="34" charset="-120"/>
              </a:rPr>
              <a:t>ใช้แนวคิด agentless แบบเดียวกัน (Salt SSH ต้องมี Python บนปลายทาง)</a:t>
            </a:r>
            <a:endParaRPr lang="en-US" sz="1100" dirty="0"/>
          </a:p>
        </p:txBody>
      </p:sp>
      <p:sp>
        <p:nvSpPr>
          <p:cNvPr id="60" name="Text 55"/>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61" name="Text 56"/>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2  ·  สถานะปัจจุบันและมาตรฐานล่าสุด</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Timeline, มาตรฐาน และเวอร์ชันล่าสุด</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Automation Tool ไม่มี RFC ของตัวเอง แต่ทำงานบนมาตรฐานเปิดของ IETF — ข้อมูล ณ กันยายน 2026</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2331720"/>
            <a:ext cx="11094415" cy="0"/>
          </a:xfrm>
          <a:prstGeom prst="line">
            <a:avLst/>
          </a:prstGeom>
          <a:noFill/>
          <a:ln w="25400">
            <a:solidFill>
              <a:srgbClr val="8FA6C1"/>
            </a:solidFill>
            <a:prstDash val="solid"/>
          </a:ln>
        </p:spPr>
        <p:txBody>
          <a:bodyPr/>
          <a:lstStyle/>
          <a:p>
            <a:endParaRPr lang="en-TH"/>
          </a:p>
        </p:txBody>
      </p:sp>
      <p:sp>
        <p:nvSpPr>
          <p:cNvPr id="16" name="Shape 14"/>
          <p:cNvSpPr/>
          <p:nvPr/>
        </p:nvSpPr>
        <p:spPr>
          <a:xfrm>
            <a:off x="978408"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17" name="Text 15"/>
          <p:cNvSpPr txBox="1"/>
          <p:nvPr/>
        </p:nvSpPr>
        <p:spPr>
          <a:xfrm>
            <a:off x="557784"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2005</a:t>
            </a:r>
            <a:endParaRPr lang="en-US" sz="1250" dirty="0"/>
          </a:p>
        </p:txBody>
      </p:sp>
      <p:sp>
        <p:nvSpPr>
          <p:cNvPr id="18" name="Text 16"/>
          <p:cNvSpPr txBox="1"/>
          <p:nvPr/>
        </p:nvSpPr>
        <p:spPr>
          <a:xfrm>
            <a:off x="548640"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Puppet</a:t>
            </a:r>
            <a:endParaRPr lang="en-US" sz="950" dirty="0"/>
          </a:p>
        </p:txBody>
      </p:sp>
      <p:sp>
        <p:nvSpPr>
          <p:cNvPr id="19" name="Shape 17"/>
          <p:cNvSpPr/>
          <p:nvPr/>
        </p:nvSpPr>
        <p:spPr>
          <a:xfrm>
            <a:off x="1979950"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20" name="Text 18"/>
          <p:cNvSpPr txBox="1"/>
          <p:nvPr/>
        </p:nvSpPr>
        <p:spPr>
          <a:xfrm>
            <a:off x="1559326"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2009</a:t>
            </a:r>
            <a:endParaRPr lang="en-US" sz="1250" dirty="0"/>
          </a:p>
        </p:txBody>
      </p:sp>
      <p:sp>
        <p:nvSpPr>
          <p:cNvPr id="21" name="Text 19"/>
          <p:cNvSpPr txBox="1"/>
          <p:nvPr/>
        </p:nvSpPr>
        <p:spPr>
          <a:xfrm>
            <a:off x="1550182"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Chef</a:t>
            </a:r>
            <a:endParaRPr lang="en-US" sz="950" dirty="0"/>
          </a:p>
        </p:txBody>
      </p:sp>
      <p:sp>
        <p:nvSpPr>
          <p:cNvPr id="22" name="Shape 20"/>
          <p:cNvSpPr/>
          <p:nvPr/>
        </p:nvSpPr>
        <p:spPr>
          <a:xfrm>
            <a:off x="2981493"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23" name="Text 21"/>
          <p:cNvSpPr txBox="1"/>
          <p:nvPr/>
        </p:nvSpPr>
        <p:spPr>
          <a:xfrm>
            <a:off x="2560869"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2011</a:t>
            </a:r>
            <a:endParaRPr lang="en-US" sz="1250" dirty="0"/>
          </a:p>
        </p:txBody>
      </p:sp>
      <p:sp>
        <p:nvSpPr>
          <p:cNvPr id="24" name="Text 22"/>
          <p:cNvSpPr txBox="1"/>
          <p:nvPr/>
        </p:nvSpPr>
        <p:spPr>
          <a:xfrm>
            <a:off x="2551725"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Salt · EEM 4.0</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NETCONF</a:t>
            </a:r>
            <a:endParaRPr lang="en-US" sz="950" dirty="0"/>
          </a:p>
        </p:txBody>
      </p:sp>
      <p:sp>
        <p:nvSpPr>
          <p:cNvPr id="25" name="Shape 23"/>
          <p:cNvSpPr/>
          <p:nvPr/>
        </p:nvSpPr>
        <p:spPr>
          <a:xfrm>
            <a:off x="3983035"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26" name="Text 24"/>
          <p:cNvSpPr txBox="1"/>
          <p:nvPr/>
        </p:nvSpPr>
        <p:spPr>
          <a:xfrm>
            <a:off x="3562411"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2012</a:t>
            </a:r>
            <a:endParaRPr lang="en-US" sz="1250" dirty="0"/>
          </a:p>
        </p:txBody>
      </p:sp>
      <p:sp>
        <p:nvSpPr>
          <p:cNvPr id="27" name="Text 25"/>
          <p:cNvSpPr txBox="1"/>
          <p:nvPr/>
        </p:nvSpPr>
        <p:spPr>
          <a:xfrm>
            <a:off x="3553267"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Ansible</a:t>
            </a:r>
            <a:endParaRPr lang="en-US" sz="950" dirty="0"/>
          </a:p>
        </p:txBody>
      </p:sp>
      <p:sp>
        <p:nvSpPr>
          <p:cNvPr id="28" name="Shape 26"/>
          <p:cNvSpPr/>
          <p:nvPr/>
        </p:nvSpPr>
        <p:spPr>
          <a:xfrm>
            <a:off x="4984577"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29" name="Text 27"/>
          <p:cNvSpPr txBox="1"/>
          <p:nvPr/>
        </p:nvSpPr>
        <p:spPr>
          <a:xfrm>
            <a:off x="4563953"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2016</a:t>
            </a:r>
            <a:endParaRPr lang="en-US" sz="1250" dirty="0"/>
          </a:p>
        </p:txBody>
      </p:sp>
      <p:sp>
        <p:nvSpPr>
          <p:cNvPr id="30" name="Text 28"/>
          <p:cNvSpPr txBox="1"/>
          <p:nvPr/>
        </p:nvSpPr>
        <p:spPr>
          <a:xfrm>
            <a:off x="4554809"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YANG 1.1</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(RFC 7950)</a:t>
            </a:r>
            <a:endParaRPr lang="en-US" sz="950" dirty="0"/>
          </a:p>
        </p:txBody>
      </p:sp>
      <p:sp>
        <p:nvSpPr>
          <p:cNvPr id="31" name="Shape 29"/>
          <p:cNvSpPr/>
          <p:nvPr/>
        </p:nvSpPr>
        <p:spPr>
          <a:xfrm>
            <a:off x="5986120"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32" name="Text 30"/>
          <p:cNvSpPr txBox="1"/>
          <p:nvPr/>
        </p:nvSpPr>
        <p:spPr>
          <a:xfrm>
            <a:off x="5565496"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2017</a:t>
            </a:r>
            <a:endParaRPr lang="en-US" sz="1250" dirty="0"/>
          </a:p>
        </p:txBody>
      </p:sp>
      <p:sp>
        <p:nvSpPr>
          <p:cNvPr id="33" name="Text 31"/>
          <p:cNvSpPr txBox="1"/>
          <p:nvPr/>
        </p:nvSpPr>
        <p:spPr>
          <a:xfrm>
            <a:off x="5556352"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RESTCONF</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(RFC 8040)</a:t>
            </a:r>
            <a:endParaRPr lang="en-US" sz="950" dirty="0"/>
          </a:p>
        </p:txBody>
      </p:sp>
      <p:sp>
        <p:nvSpPr>
          <p:cNvPr id="34" name="Shape 32"/>
          <p:cNvSpPr/>
          <p:nvPr/>
        </p:nvSpPr>
        <p:spPr>
          <a:xfrm>
            <a:off x="6987662"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35" name="Text 33"/>
          <p:cNvSpPr txBox="1"/>
          <p:nvPr/>
        </p:nvSpPr>
        <p:spPr>
          <a:xfrm>
            <a:off x="6567038"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2018</a:t>
            </a:r>
            <a:endParaRPr lang="en-US" sz="1250" dirty="0"/>
          </a:p>
        </p:txBody>
      </p:sp>
      <p:sp>
        <p:nvSpPr>
          <p:cNvPr id="36" name="Text 34"/>
          <p:cNvSpPr txBox="1"/>
          <p:nvPr/>
        </p:nvSpPr>
        <p:spPr>
          <a:xfrm>
            <a:off x="6557894"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Ansible 2.5</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network_cli</a:t>
            </a:r>
            <a:endParaRPr lang="en-US" sz="950" dirty="0"/>
          </a:p>
        </p:txBody>
      </p:sp>
      <p:sp>
        <p:nvSpPr>
          <p:cNvPr id="37" name="Shape 35"/>
          <p:cNvSpPr/>
          <p:nvPr/>
        </p:nvSpPr>
        <p:spPr>
          <a:xfrm>
            <a:off x="7989204"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38" name="Text 36"/>
          <p:cNvSpPr txBox="1"/>
          <p:nvPr/>
        </p:nvSpPr>
        <p:spPr>
          <a:xfrm>
            <a:off x="7568580"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2020</a:t>
            </a:r>
            <a:endParaRPr lang="en-US" sz="1250" dirty="0"/>
          </a:p>
        </p:txBody>
      </p:sp>
      <p:sp>
        <p:nvSpPr>
          <p:cNvPr id="39" name="Text 37"/>
          <p:cNvSpPr txBox="1"/>
          <p:nvPr/>
        </p:nvSpPr>
        <p:spPr>
          <a:xfrm>
            <a:off x="7559436"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Ansible 2.10</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Collections</a:t>
            </a:r>
            <a:endParaRPr lang="en-US" sz="950" dirty="0"/>
          </a:p>
        </p:txBody>
      </p:sp>
      <p:sp>
        <p:nvSpPr>
          <p:cNvPr id="40" name="Shape 38"/>
          <p:cNvSpPr/>
          <p:nvPr/>
        </p:nvSpPr>
        <p:spPr>
          <a:xfrm>
            <a:off x="8990747" y="2249424"/>
            <a:ext cx="164592" cy="164592"/>
          </a:xfrm>
          <a:prstGeom prst="ellipse">
            <a:avLst/>
          </a:prstGeom>
          <a:solidFill>
            <a:srgbClr val="13233F"/>
          </a:solidFill>
          <a:ln w="12700">
            <a:solidFill>
              <a:srgbClr val="13233F"/>
            </a:solidFill>
            <a:prstDash val="solid"/>
          </a:ln>
        </p:spPr>
        <p:txBody>
          <a:bodyPr/>
          <a:lstStyle/>
          <a:p>
            <a:endParaRPr lang="en-TH"/>
          </a:p>
        </p:txBody>
      </p:sp>
      <p:sp>
        <p:nvSpPr>
          <p:cNvPr id="41" name="Text 39"/>
          <p:cNvSpPr txBox="1"/>
          <p:nvPr/>
        </p:nvSpPr>
        <p:spPr>
          <a:xfrm>
            <a:off x="8570123" y="1874520"/>
            <a:ext cx="1005840" cy="274320"/>
          </a:xfrm>
          <a:prstGeom prst="rect">
            <a:avLst/>
          </a:prstGeom>
          <a:noFill/>
          <a:ln/>
        </p:spPr>
        <p:txBody>
          <a:bodyPr wrap="square" lIns="0" tIns="0" rIns="0" bIns="0" rtlCol="0" anchor="t"/>
          <a:lstStyle/>
          <a:p>
            <a:pPr marL="0" indent="0" algn="ctr">
              <a:buNone/>
            </a:pPr>
            <a:r>
              <a:rPr lang="en-US" sz="1250" b="1" dirty="0">
                <a:solidFill>
                  <a:srgbClr val="13233F"/>
                </a:solidFill>
                <a:latin typeface="Tahoma" pitchFamily="34" charset="0"/>
                <a:ea typeface="Tahoma" pitchFamily="34" charset="-122"/>
                <a:cs typeface="Tahoma" pitchFamily="34" charset="-120"/>
              </a:rPr>
              <a:t>2023</a:t>
            </a:r>
            <a:endParaRPr lang="en-US" sz="1250" dirty="0"/>
          </a:p>
        </p:txBody>
      </p:sp>
      <p:sp>
        <p:nvSpPr>
          <p:cNvPr id="42" name="Text 40"/>
          <p:cNvSpPr txBox="1"/>
          <p:nvPr/>
        </p:nvSpPr>
        <p:spPr>
          <a:xfrm>
            <a:off x="8560979"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Event-Driven</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Ansible GA</a:t>
            </a:r>
            <a:endParaRPr lang="en-US" sz="950" dirty="0"/>
          </a:p>
        </p:txBody>
      </p:sp>
      <p:sp>
        <p:nvSpPr>
          <p:cNvPr id="43" name="Shape 41"/>
          <p:cNvSpPr/>
          <p:nvPr/>
        </p:nvSpPr>
        <p:spPr>
          <a:xfrm>
            <a:off x="9992289" y="2249424"/>
            <a:ext cx="164592" cy="164592"/>
          </a:xfrm>
          <a:prstGeom prst="ellipse">
            <a:avLst/>
          </a:prstGeom>
          <a:solidFill>
            <a:srgbClr val="A9812F"/>
          </a:solidFill>
          <a:ln w="12700">
            <a:solidFill>
              <a:srgbClr val="A9812F"/>
            </a:solidFill>
            <a:prstDash val="solid"/>
          </a:ln>
        </p:spPr>
        <p:txBody>
          <a:bodyPr/>
          <a:lstStyle/>
          <a:p>
            <a:endParaRPr lang="en-TH"/>
          </a:p>
        </p:txBody>
      </p:sp>
      <p:sp>
        <p:nvSpPr>
          <p:cNvPr id="44" name="Text 42"/>
          <p:cNvSpPr txBox="1"/>
          <p:nvPr/>
        </p:nvSpPr>
        <p:spPr>
          <a:xfrm>
            <a:off x="9571665" y="1874520"/>
            <a:ext cx="1005840" cy="274320"/>
          </a:xfrm>
          <a:prstGeom prst="rect">
            <a:avLst/>
          </a:prstGeom>
          <a:noFill/>
          <a:ln/>
        </p:spPr>
        <p:txBody>
          <a:bodyPr wrap="square" lIns="0" tIns="0" rIns="0" bIns="0" rtlCol="0" anchor="t"/>
          <a:lstStyle/>
          <a:p>
            <a:pPr marL="0" indent="0" algn="ctr">
              <a:buNone/>
            </a:pPr>
            <a:r>
              <a:rPr lang="en-US" sz="1250" b="1" dirty="0">
                <a:solidFill>
                  <a:srgbClr val="A9812F"/>
                </a:solidFill>
                <a:latin typeface="Tahoma" pitchFamily="34" charset="0"/>
                <a:ea typeface="Tahoma" pitchFamily="34" charset="-122"/>
                <a:cs typeface="Tahoma" pitchFamily="34" charset="-120"/>
              </a:rPr>
              <a:t>2025</a:t>
            </a:r>
            <a:endParaRPr lang="en-US" sz="1250" dirty="0"/>
          </a:p>
        </p:txBody>
      </p:sp>
      <p:sp>
        <p:nvSpPr>
          <p:cNvPr id="45" name="Text 43"/>
          <p:cNvSpPr txBox="1"/>
          <p:nvPr/>
        </p:nvSpPr>
        <p:spPr>
          <a:xfrm>
            <a:off x="9562521"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OpenVox</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(fork ของ Puppet)</a:t>
            </a:r>
            <a:endParaRPr lang="en-US" sz="950" dirty="0"/>
          </a:p>
        </p:txBody>
      </p:sp>
      <p:sp>
        <p:nvSpPr>
          <p:cNvPr id="46" name="Shape 44"/>
          <p:cNvSpPr/>
          <p:nvPr/>
        </p:nvSpPr>
        <p:spPr>
          <a:xfrm>
            <a:off x="10993831" y="2249424"/>
            <a:ext cx="164592" cy="164592"/>
          </a:xfrm>
          <a:prstGeom prst="ellipse">
            <a:avLst/>
          </a:prstGeom>
          <a:solidFill>
            <a:srgbClr val="A9812F"/>
          </a:solidFill>
          <a:ln w="12700">
            <a:solidFill>
              <a:srgbClr val="A9812F"/>
            </a:solidFill>
            <a:prstDash val="solid"/>
          </a:ln>
        </p:spPr>
        <p:txBody>
          <a:bodyPr/>
          <a:lstStyle/>
          <a:p>
            <a:endParaRPr lang="en-TH"/>
          </a:p>
        </p:txBody>
      </p:sp>
      <p:sp>
        <p:nvSpPr>
          <p:cNvPr id="47" name="Text 45"/>
          <p:cNvSpPr txBox="1"/>
          <p:nvPr/>
        </p:nvSpPr>
        <p:spPr>
          <a:xfrm>
            <a:off x="10573207" y="1874520"/>
            <a:ext cx="1005840" cy="274320"/>
          </a:xfrm>
          <a:prstGeom prst="rect">
            <a:avLst/>
          </a:prstGeom>
          <a:noFill/>
          <a:ln/>
        </p:spPr>
        <p:txBody>
          <a:bodyPr wrap="square" lIns="0" tIns="0" rIns="0" bIns="0" rtlCol="0" anchor="t"/>
          <a:lstStyle/>
          <a:p>
            <a:pPr marL="0" indent="0" algn="ctr">
              <a:buNone/>
            </a:pPr>
            <a:r>
              <a:rPr lang="en-US" sz="1250" b="1" dirty="0">
                <a:solidFill>
                  <a:srgbClr val="A9812F"/>
                </a:solidFill>
                <a:latin typeface="Tahoma" pitchFamily="34" charset="0"/>
                <a:ea typeface="Tahoma" pitchFamily="34" charset="-122"/>
                <a:cs typeface="Tahoma" pitchFamily="34" charset="-120"/>
              </a:rPr>
              <a:t>2026</a:t>
            </a:r>
            <a:endParaRPr lang="en-US" sz="1250" dirty="0"/>
          </a:p>
        </p:txBody>
      </p:sp>
      <p:sp>
        <p:nvSpPr>
          <p:cNvPr id="48" name="Text 46"/>
          <p:cNvSpPr txBox="1"/>
          <p:nvPr/>
        </p:nvSpPr>
        <p:spPr>
          <a:xfrm>
            <a:off x="10564063" y="2487168"/>
            <a:ext cx="1024128" cy="685800"/>
          </a:xfrm>
          <a:prstGeom prst="rect">
            <a:avLst/>
          </a:prstGeom>
          <a:noFill/>
          <a:ln/>
        </p:spPr>
        <p:txBody>
          <a:bodyPr wrap="square" lIns="0" tIns="0" rIns="0" bIns="0" rtlCol="0" anchor="t"/>
          <a:lstStyle/>
          <a:p>
            <a:pPr marL="0" indent="0" algn="ctr">
              <a:buNone/>
            </a:pPr>
            <a:r>
              <a:rPr lang="en-US" sz="950" dirty="0">
                <a:solidFill>
                  <a:srgbClr val="1E2733"/>
                </a:solidFill>
                <a:latin typeface="Tahoma" pitchFamily="34" charset="0"/>
                <a:ea typeface="Tahoma" pitchFamily="34" charset="-122"/>
                <a:cs typeface="Tahoma" pitchFamily="34" charset="-120"/>
              </a:rPr>
              <a:t>DevNet →</a:t>
            </a:r>
            <a:endParaRPr lang="en-US" sz="950" dirty="0"/>
          </a:p>
          <a:p>
            <a:pPr marL="0" indent="0" algn="ctr">
              <a:buNone/>
            </a:pPr>
            <a:r>
              <a:rPr lang="en-US" sz="950" dirty="0">
                <a:solidFill>
                  <a:srgbClr val="1E2733"/>
                </a:solidFill>
                <a:latin typeface="Tahoma" pitchFamily="34" charset="0"/>
                <a:ea typeface="Tahoma" pitchFamily="34" charset="-122"/>
                <a:cs typeface="Tahoma" pitchFamily="34" charset="-120"/>
              </a:rPr>
              <a:t>CCNP Automation</a:t>
            </a:r>
            <a:endParaRPr lang="en-US" sz="950" dirty="0"/>
          </a:p>
        </p:txBody>
      </p:sp>
      <p:sp>
        <p:nvSpPr>
          <p:cNvPr id="49" name="Text 47"/>
          <p:cNvSpPr txBox="1"/>
          <p:nvPr/>
        </p:nvSpPr>
        <p:spPr>
          <a:xfrm>
            <a:off x="548640" y="3310128"/>
            <a:ext cx="5486400"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มาตรฐานที่เครื่องมือเหล่านี้ใช้งาน</a:t>
            </a:r>
            <a:endParaRPr lang="en-US" sz="14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5806440" cy="2496312"/>
        </p:xfrm>
        <a:graphic>
          <a:graphicData uri="http://schemas.openxmlformats.org/drawingml/2006/table">
            <a:tbl>
              <a:tblPr/>
              <a:tblGrid>
                <a:gridCol w="12344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56616">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มาตรฐาน</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เอกสาร</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บทบาทใน Automation</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56616">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SSHv2</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4A6A8F"/>
                          </a:solidFill>
                          <a:latin typeface="Tahoma" pitchFamily="34" charset="0"/>
                          <a:ea typeface="Tahoma" pitchFamily="34" charset="-122"/>
                          <a:cs typeface="Tahoma" pitchFamily="34" charset="-120"/>
                        </a:rPr>
                        <a:t>RFC 4251–4254</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transport ของ Ansible / Bolt / Salt SSH</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Syslog</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4A6A8F"/>
                          </a:solidFill>
                          <a:latin typeface="Tahoma" pitchFamily="34" charset="0"/>
                          <a:ea typeface="Tahoma" pitchFamily="34" charset="-122"/>
                          <a:cs typeface="Tahoma" pitchFamily="34" charset="-120"/>
                        </a:rPr>
                        <a:t>RFC 5424</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แหล่ง event ของ EEM และ EDA</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NETCONF</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4A6A8F"/>
                          </a:solidFill>
                          <a:latin typeface="Tahoma" pitchFamily="34" charset="0"/>
                          <a:ea typeface="Tahoma" pitchFamily="34" charset="-122"/>
                          <a:cs typeface="Tahoma" pitchFamily="34" charset="-120"/>
                        </a:rPr>
                        <a:t>RFC 6241 / 6242</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config API แบบ transaction ผ่าน SSH</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YANG 1.1</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4A6A8F"/>
                          </a:solidFill>
                          <a:latin typeface="Tahoma" pitchFamily="34" charset="0"/>
                          <a:ea typeface="Tahoma" pitchFamily="34" charset="-122"/>
                          <a:cs typeface="Tahoma" pitchFamily="34" charset="-120"/>
                        </a:rPr>
                        <a:t>RFC 7950</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data model ของ config และ state</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616">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RESTCONF</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4A6A8F"/>
                          </a:solidFill>
                          <a:latin typeface="Tahoma" pitchFamily="34" charset="0"/>
                          <a:ea typeface="Tahoma" pitchFamily="34" charset="-122"/>
                          <a:cs typeface="Tahoma" pitchFamily="34" charset="-120"/>
                        </a:rPr>
                        <a:t>RFC 8040</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จัดการ YANG data ผ่าน HTTPS</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616">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YAML 1.2.2</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4A6A8F"/>
                          </a:solidFill>
                          <a:latin typeface="Tahoma" pitchFamily="34" charset="0"/>
                          <a:ea typeface="Tahoma" pitchFamily="34" charset="-122"/>
                          <a:cs typeface="Tahoma" pitchFamily="34" charset="-120"/>
                        </a:rPr>
                        <a:t>yaml.org (2021)</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ภาษา playbook / Salt state</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1" name="Text 48"/>
          <p:cNvSpPr txBox="1"/>
          <p:nvPr/>
        </p:nvSpPr>
        <p:spPr>
          <a:xfrm>
            <a:off x="6675120" y="3310128"/>
            <a:ext cx="496793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เวอร์ชันและสถานะล่าสุด</a:t>
            </a:r>
            <a:endParaRPr lang="en-US" sz="1400" dirty="0"/>
          </a:p>
        </p:txBody>
      </p:sp>
      <p:sp>
        <p:nvSpPr>
          <p:cNvPr id="52" name="Shape 49"/>
          <p:cNvSpPr/>
          <p:nvPr/>
        </p:nvSpPr>
        <p:spPr>
          <a:xfrm>
            <a:off x="6675120" y="3657600"/>
            <a:ext cx="1965960" cy="402336"/>
          </a:xfrm>
          <a:prstGeom prst="roundRect">
            <a:avLst>
              <a:gd name="adj" fmla="val 11364"/>
            </a:avLst>
          </a:prstGeom>
          <a:solidFill>
            <a:srgbClr val="13233F"/>
          </a:solidFill>
          <a:ln w="12700">
            <a:solidFill>
              <a:srgbClr val="13233F"/>
            </a:solidFill>
            <a:prstDash val="solid"/>
          </a:ln>
        </p:spPr>
        <p:txBody>
          <a:bodyPr/>
          <a:lstStyle/>
          <a:p>
            <a:endParaRPr lang="en-TH"/>
          </a:p>
        </p:txBody>
      </p:sp>
      <p:sp>
        <p:nvSpPr>
          <p:cNvPr id="53" name="Text 50"/>
          <p:cNvSpPr txBox="1"/>
          <p:nvPr/>
        </p:nvSpPr>
        <p:spPr>
          <a:xfrm>
            <a:off x="6675120" y="3657600"/>
            <a:ext cx="19659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EEM 4.0</a:t>
            </a:r>
            <a:endParaRPr lang="en-US" sz="1100" dirty="0"/>
          </a:p>
        </p:txBody>
      </p:sp>
      <p:sp>
        <p:nvSpPr>
          <p:cNvPr id="54" name="Text 51"/>
          <p:cNvSpPr txBox="1"/>
          <p:nvPr/>
        </p:nvSpPr>
        <p:spPr>
          <a:xfrm>
            <a:off x="8778240" y="3630168"/>
            <a:ext cx="2864815" cy="457200"/>
          </a:xfrm>
          <a:prstGeom prst="rect">
            <a:avLst/>
          </a:prstGeom>
          <a:noFill/>
          <a:ln/>
        </p:spPr>
        <p:txBody>
          <a:bodyPr wrap="square" lIns="0" tIns="0" rIns="0" bIns="0" rtlCol="0" anchor="ctr"/>
          <a:lstStyle/>
          <a:p>
            <a:pPr marL="0" indent="0">
              <a:buNone/>
            </a:pPr>
            <a:r>
              <a:rPr lang="en-US" sz="1100" dirty="0">
                <a:solidFill>
                  <a:srgbClr val="1E2733"/>
                </a:solidFill>
                <a:latin typeface="Tahoma" pitchFamily="34" charset="0"/>
                <a:ea typeface="Tahoma" pitchFamily="34" charset="-122"/>
                <a:cs typeface="Tahoma" pitchFamily="34" charset="-120"/>
              </a:rPr>
              <a:t>Cisco IOS / IOS XE — ตรวจด้วย show event manager version</a:t>
            </a:r>
            <a:endParaRPr lang="en-US" sz="1100" dirty="0"/>
          </a:p>
        </p:txBody>
      </p:sp>
      <p:sp>
        <p:nvSpPr>
          <p:cNvPr id="55" name="Shape 52"/>
          <p:cNvSpPr/>
          <p:nvPr/>
        </p:nvSpPr>
        <p:spPr>
          <a:xfrm>
            <a:off x="6675120" y="4169664"/>
            <a:ext cx="1965960" cy="402336"/>
          </a:xfrm>
          <a:prstGeom prst="roundRect">
            <a:avLst>
              <a:gd name="adj" fmla="val 11364"/>
            </a:avLst>
          </a:prstGeom>
          <a:solidFill>
            <a:srgbClr val="13233F"/>
          </a:solidFill>
          <a:ln w="12700">
            <a:solidFill>
              <a:srgbClr val="13233F"/>
            </a:solidFill>
            <a:prstDash val="solid"/>
          </a:ln>
        </p:spPr>
        <p:txBody>
          <a:bodyPr/>
          <a:lstStyle/>
          <a:p>
            <a:endParaRPr lang="en-TH"/>
          </a:p>
        </p:txBody>
      </p:sp>
      <p:sp>
        <p:nvSpPr>
          <p:cNvPr id="56" name="Text 53"/>
          <p:cNvSpPr txBox="1"/>
          <p:nvPr/>
        </p:nvSpPr>
        <p:spPr>
          <a:xfrm>
            <a:off x="6675120" y="4169664"/>
            <a:ext cx="19659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ansible-core 2.21</a:t>
            </a:r>
            <a:endParaRPr lang="en-US" sz="1100" dirty="0"/>
          </a:p>
        </p:txBody>
      </p:sp>
      <p:sp>
        <p:nvSpPr>
          <p:cNvPr id="57" name="Text 54"/>
          <p:cNvSpPr txBox="1"/>
          <p:nvPr/>
        </p:nvSpPr>
        <p:spPr>
          <a:xfrm>
            <a:off x="8778240" y="4142232"/>
            <a:ext cx="2864815" cy="457200"/>
          </a:xfrm>
          <a:prstGeom prst="rect">
            <a:avLst/>
          </a:prstGeom>
          <a:noFill/>
          <a:ln/>
        </p:spPr>
        <p:txBody>
          <a:bodyPr wrap="square" lIns="0" tIns="0" rIns="0" bIns="0" rtlCol="0" anchor="ctr"/>
          <a:lstStyle/>
          <a:p>
            <a:pPr marL="0" indent="0">
              <a:buNone/>
            </a:pPr>
            <a:r>
              <a:rPr lang="en-US" sz="1100" dirty="0">
                <a:solidFill>
                  <a:srgbClr val="1E2733"/>
                </a:solidFill>
                <a:latin typeface="Tahoma" pitchFamily="34" charset="0"/>
                <a:ea typeface="Tahoma" pitchFamily="34" charset="-122"/>
                <a:cs typeface="Tahoma" pitchFamily="34" charset="-120"/>
              </a:rPr>
              <a:t>ออก พ.ค. 2026 · ใช้คู่กับ collection cisco.ios</a:t>
            </a:r>
            <a:endParaRPr lang="en-US" sz="1100" dirty="0"/>
          </a:p>
        </p:txBody>
      </p:sp>
      <p:sp>
        <p:nvSpPr>
          <p:cNvPr id="58" name="Shape 55"/>
          <p:cNvSpPr/>
          <p:nvPr/>
        </p:nvSpPr>
        <p:spPr>
          <a:xfrm>
            <a:off x="6675120" y="4681728"/>
            <a:ext cx="1965960" cy="402336"/>
          </a:xfrm>
          <a:prstGeom prst="roundRect">
            <a:avLst>
              <a:gd name="adj" fmla="val 11364"/>
            </a:avLst>
          </a:prstGeom>
          <a:solidFill>
            <a:srgbClr val="13233F"/>
          </a:solidFill>
          <a:ln w="12700">
            <a:solidFill>
              <a:srgbClr val="13233F"/>
            </a:solidFill>
            <a:prstDash val="solid"/>
          </a:ln>
        </p:spPr>
        <p:txBody>
          <a:bodyPr/>
          <a:lstStyle/>
          <a:p>
            <a:endParaRPr lang="en-TH"/>
          </a:p>
        </p:txBody>
      </p:sp>
      <p:sp>
        <p:nvSpPr>
          <p:cNvPr id="59" name="Text 56"/>
          <p:cNvSpPr txBox="1"/>
          <p:nvPr/>
        </p:nvSpPr>
        <p:spPr>
          <a:xfrm>
            <a:off x="6675120" y="4681728"/>
            <a:ext cx="19659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Salt 3008 LTS</a:t>
            </a:r>
            <a:endParaRPr lang="en-US" sz="1100" dirty="0"/>
          </a:p>
        </p:txBody>
      </p:sp>
      <p:sp>
        <p:nvSpPr>
          <p:cNvPr id="60" name="Text 57"/>
          <p:cNvSpPr txBox="1"/>
          <p:nvPr/>
        </p:nvSpPr>
        <p:spPr>
          <a:xfrm>
            <a:off x="8778240" y="4654296"/>
            <a:ext cx="2864815" cy="457200"/>
          </a:xfrm>
          <a:prstGeom prst="rect">
            <a:avLst/>
          </a:prstGeom>
          <a:noFill/>
          <a:ln/>
        </p:spPr>
        <p:txBody>
          <a:bodyPr wrap="square" lIns="0" tIns="0" rIns="0" bIns="0" rtlCol="0" anchor="ctr"/>
          <a:lstStyle/>
          <a:p>
            <a:pPr marL="0" indent="0">
              <a:buNone/>
            </a:pPr>
            <a:r>
              <a:rPr lang="en-US" sz="1100" dirty="0">
                <a:solidFill>
                  <a:srgbClr val="1E2733"/>
                </a:solidFill>
                <a:latin typeface="Tahoma" pitchFamily="34" charset="0"/>
                <a:ea typeface="Tahoma" pitchFamily="34" charset="-122"/>
                <a:cs typeface="Tahoma" pitchFamily="34" charset="-120"/>
              </a:rPr>
              <a:t>Broadcom ดูแล · สาย 3007 หมดอายุ ก.ค. 2026</a:t>
            </a:r>
            <a:endParaRPr lang="en-US" sz="1100" dirty="0"/>
          </a:p>
        </p:txBody>
      </p:sp>
      <p:sp>
        <p:nvSpPr>
          <p:cNvPr id="61" name="Shape 58"/>
          <p:cNvSpPr/>
          <p:nvPr/>
        </p:nvSpPr>
        <p:spPr>
          <a:xfrm>
            <a:off x="6675120" y="5193792"/>
            <a:ext cx="1965960" cy="402336"/>
          </a:xfrm>
          <a:prstGeom prst="roundRect">
            <a:avLst>
              <a:gd name="adj" fmla="val 11364"/>
            </a:avLst>
          </a:prstGeom>
          <a:solidFill>
            <a:srgbClr val="13233F"/>
          </a:solidFill>
          <a:ln w="12700">
            <a:solidFill>
              <a:srgbClr val="13233F"/>
            </a:solidFill>
            <a:prstDash val="solid"/>
          </a:ln>
        </p:spPr>
        <p:txBody>
          <a:bodyPr/>
          <a:lstStyle/>
          <a:p>
            <a:endParaRPr lang="en-TH"/>
          </a:p>
        </p:txBody>
      </p:sp>
      <p:sp>
        <p:nvSpPr>
          <p:cNvPr id="62" name="Text 59"/>
          <p:cNvSpPr txBox="1"/>
          <p:nvPr/>
        </p:nvSpPr>
        <p:spPr>
          <a:xfrm>
            <a:off x="6675120" y="5193792"/>
            <a:ext cx="19659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Chef Infra Client 19</a:t>
            </a:r>
            <a:endParaRPr lang="en-US" sz="1100" dirty="0"/>
          </a:p>
        </p:txBody>
      </p:sp>
      <p:sp>
        <p:nvSpPr>
          <p:cNvPr id="63" name="Text 60"/>
          <p:cNvSpPr txBox="1"/>
          <p:nvPr/>
        </p:nvSpPr>
        <p:spPr>
          <a:xfrm>
            <a:off x="8778240" y="5166360"/>
            <a:ext cx="2864815" cy="457200"/>
          </a:xfrm>
          <a:prstGeom prst="rect">
            <a:avLst/>
          </a:prstGeom>
          <a:noFill/>
          <a:ln/>
        </p:spPr>
        <p:txBody>
          <a:bodyPr wrap="square" lIns="0" tIns="0" rIns="0" bIns="0" rtlCol="0" anchor="ctr"/>
          <a:lstStyle/>
          <a:p>
            <a:pPr marL="0" indent="0">
              <a:buNone/>
            </a:pPr>
            <a:r>
              <a:rPr lang="en-US" sz="1100" dirty="0">
                <a:solidFill>
                  <a:srgbClr val="1E2733"/>
                </a:solidFill>
                <a:latin typeface="Tahoma" pitchFamily="34" charset="0"/>
                <a:ea typeface="Tahoma" pitchFamily="34" charset="-122"/>
                <a:cs typeface="Tahoma" pitchFamily="34" charset="-120"/>
              </a:rPr>
              <a:t>รุ่น LTS ของ Progress · ใช้ระบบ license key</a:t>
            </a:r>
            <a:endParaRPr lang="en-US" sz="1100" dirty="0"/>
          </a:p>
        </p:txBody>
      </p:sp>
      <p:sp>
        <p:nvSpPr>
          <p:cNvPr id="64" name="Shape 61"/>
          <p:cNvSpPr/>
          <p:nvPr/>
        </p:nvSpPr>
        <p:spPr>
          <a:xfrm>
            <a:off x="6675120" y="5705856"/>
            <a:ext cx="1965960" cy="402336"/>
          </a:xfrm>
          <a:prstGeom prst="roundRect">
            <a:avLst>
              <a:gd name="adj" fmla="val 11364"/>
            </a:avLst>
          </a:prstGeom>
          <a:solidFill>
            <a:srgbClr val="13233F"/>
          </a:solidFill>
          <a:ln w="12700">
            <a:solidFill>
              <a:srgbClr val="13233F"/>
            </a:solidFill>
            <a:prstDash val="solid"/>
          </a:ln>
        </p:spPr>
        <p:txBody>
          <a:bodyPr/>
          <a:lstStyle/>
          <a:p>
            <a:endParaRPr lang="en-TH"/>
          </a:p>
        </p:txBody>
      </p:sp>
      <p:sp>
        <p:nvSpPr>
          <p:cNvPr id="65" name="Text 62"/>
          <p:cNvSpPr txBox="1"/>
          <p:nvPr/>
        </p:nvSpPr>
        <p:spPr>
          <a:xfrm>
            <a:off x="6675120" y="5705856"/>
            <a:ext cx="19659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Puppet Core / OpenVox</a:t>
            </a:r>
            <a:endParaRPr lang="en-US" sz="1100" dirty="0"/>
          </a:p>
        </p:txBody>
      </p:sp>
      <p:sp>
        <p:nvSpPr>
          <p:cNvPr id="66" name="Text 63"/>
          <p:cNvSpPr txBox="1"/>
          <p:nvPr/>
        </p:nvSpPr>
        <p:spPr>
          <a:xfrm>
            <a:off x="8778240" y="5678424"/>
            <a:ext cx="2864815" cy="457200"/>
          </a:xfrm>
          <a:prstGeom prst="rect">
            <a:avLst/>
          </a:prstGeom>
          <a:noFill/>
          <a:ln/>
        </p:spPr>
        <p:txBody>
          <a:bodyPr wrap="square" lIns="0" tIns="0" rIns="0" bIns="0" rtlCol="0" anchor="ctr"/>
          <a:lstStyle/>
          <a:p>
            <a:pPr marL="0" indent="0">
              <a:buNone/>
            </a:pPr>
            <a:r>
              <a:rPr lang="en-US" sz="1100" dirty="0">
                <a:solidFill>
                  <a:srgbClr val="1E2733"/>
                </a:solidFill>
                <a:latin typeface="Tahoma" pitchFamily="34" charset="0"/>
                <a:ea typeface="Tahoma" pitchFamily="34" charset="-122"/>
                <a:cs typeface="Tahoma" pitchFamily="34" charset="-120"/>
              </a:rPr>
              <a:t>Perforce (เชิงพาณิชย์) / Vox Pupuli (open source)</a:t>
            </a:r>
            <a:endParaRPr lang="en-US" sz="1100" dirty="0"/>
          </a:p>
        </p:txBody>
      </p:sp>
      <p:sp>
        <p:nvSpPr>
          <p:cNvPr id="67" name="Text 64"/>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68" name="Text 65"/>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2  ·  สถานะปัจจุบันและมาตรฐานล่าสุด</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Key Improvements: ตำรา → ปี 2026</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สิ่งที่เปลี่ยนไปเมื่อเทียบกับตัวอย่างในบทที่ 29 — ใช้เป็นแนวทางในแลบของกลุ่ม</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55648"/>
            <a:ext cx="3977640" cy="384048"/>
          </a:xfrm>
          <a:prstGeom prst="roundRect">
            <a:avLst>
              <a:gd name="adj" fmla="val 11905"/>
            </a:avLst>
          </a:prstGeom>
          <a:solidFill>
            <a:srgbClr val="E8EDF4"/>
          </a:solidFill>
          <a:ln w="12700">
            <a:solidFill>
              <a:srgbClr val="E8EDF4"/>
            </a:solidFill>
            <a:prstDash val="solid"/>
          </a:ln>
        </p:spPr>
        <p:txBody>
          <a:bodyPr/>
          <a:lstStyle/>
          <a:p>
            <a:endParaRPr lang="en-TH"/>
          </a:p>
        </p:txBody>
      </p:sp>
      <p:sp>
        <p:nvSpPr>
          <p:cNvPr id="16" name="Text 14"/>
          <p:cNvSpPr txBox="1"/>
          <p:nvPr/>
        </p:nvSpPr>
        <p:spPr>
          <a:xfrm>
            <a:off x="731520" y="1755648"/>
            <a:ext cx="3703320" cy="384048"/>
          </a:xfrm>
          <a:prstGeom prst="rect">
            <a:avLst/>
          </a:prstGeom>
          <a:noFill/>
          <a:ln/>
        </p:spPr>
        <p:txBody>
          <a:bodyPr wrap="square" lIns="0" tIns="0" rIns="0" bIns="0" rtlCol="0" anchor="ctr"/>
          <a:lstStyle/>
          <a:p>
            <a:pPr marL="0" indent="0">
              <a:buNone/>
            </a:pPr>
            <a:r>
              <a:rPr lang="en-US" sz="1300" b="1" dirty="0">
                <a:solidFill>
                  <a:srgbClr val="5F6B7A"/>
                </a:solidFill>
                <a:latin typeface="Tahoma" pitchFamily="34" charset="0"/>
                <a:ea typeface="Tahoma" pitchFamily="34" charset="-122"/>
                <a:cs typeface="Tahoma" pitchFamily="34" charset="-120"/>
              </a:rPr>
              <a:t>ตำรา / แนวทางเดิม</a:t>
            </a:r>
            <a:endParaRPr lang="en-US" sz="1300" dirty="0"/>
          </a:p>
        </p:txBody>
      </p:sp>
      <p:sp>
        <p:nvSpPr>
          <p:cNvPr id="17" name="Shape 15"/>
          <p:cNvSpPr/>
          <p:nvPr/>
        </p:nvSpPr>
        <p:spPr>
          <a:xfrm>
            <a:off x="5029200" y="1755648"/>
            <a:ext cx="6613855" cy="384048"/>
          </a:xfrm>
          <a:prstGeom prst="roundRect">
            <a:avLst>
              <a:gd name="adj" fmla="val 11905"/>
            </a:avLst>
          </a:prstGeom>
          <a:solidFill>
            <a:srgbClr val="13233F"/>
          </a:solidFill>
          <a:ln w="12700">
            <a:solidFill>
              <a:srgbClr val="13233F"/>
            </a:solidFill>
            <a:prstDash val="solid"/>
          </a:ln>
        </p:spPr>
        <p:txBody>
          <a:bodyPr/>
          <a:lstStyle/>
          <a:p>
            <a:endParaRPr lang="en-TH"/>
          </a:p>
        </p:txBody>
      </p:sp>
      <p:sp>
        <p:nvSpPr>
          <p:cNvPr id="18" name="Text 16"/>
          <p:cNvSpPr txBox="1"/>
          <p:nvPr/>
        </p:nvSpPr>
        <p:spPr>
          <a:xfrm>
            <a:off x="5212080" y="1755648"/>
            <a:ext cx="6339535" cy="384048"/>
          </a:xfrm>
          <a:prstGeom prst="rect">
            <a:avLst/>
          </a:prstGeom>
          <a:noFill/>
          <a:ln/>
        </p:spPr>
        <p:txBody>
          <a:bodyPr wrap="square" lIns="0" tIns="0" rIns="0" bIns="0" rtlCol="0" anchor="ctr"/>
          <a:lstStyle/>
          <a:p>
            <a:pPr marL="0" indent="0">
              <a:buNone/>
            </a:pPr>
            <a:r>
              <a:rPr lang="en-US" sz="1300" b="1" dirty="0">
                <a:solidFill>
                  <a:srgbClr val="FFFFFF"/>
                </a:solidFill>
                <a:latin typeface="Tahoma" pitchFamily="34" charset="0"/>
                <a:ea typeface="Tahoma" pitchFamily="34" charset="-122"/>
                <a:cs typeface="Tahoma" pitchFamily="34" charset="-120"/>
              </a:rPr>
              <a:t>แนวปฏิบัติปัจจุบัน</a:t>
            </a:r>
            <a:endParaRPr lang="en-US" sz="1300" dirty="0"/>
          </a:p>
        </p:txBody>
      </p:sp>
      <p:sp>
        <p:nvSpPr>
          <p:cNvPr id="19" name="Shape 17"/>
          <p:cNvSpPr/>
          <p:nvPr/>
        </p:nvSpPr>
        <p:spPr>
          <a:xfrm>
            <a:off x="548640" y="2231136"/>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20" name="Text 18"/>
          <p:cNvSpPr txBox="1"/>
          <p:nvPr/>
        </p:nvSpPr>
        <p:spPr>
          <a:xfrm>
            <a:off x="731520" y="2231136"/>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connection: local + host/username/password ในทุก task</a:t>
            </a:r>
            <a:endParaRPr lang="en-US" sz="1150" dirty="0"/>
          </a:p>
        </p:txBody>
      </p:sp>
      <p:sp>
        <p:nvSpPr>
          <p:cNvPr id="21" name="Shape 19"/>
          <p:cNvSpPr/>
          <p:nvPr/>
        </p:nvSpPr>
        <p:spPr>
          <a:xfrm>
            <a:off x="4617720" y="2459736"/>
            <a:ext cx="320040" cy="0"/>
          </a:xfrm>
          <a:prstGeom prst="line">
            <a:avLst/>
          </a:prstGeom>
          <a:noFill/>
          <a:ln w="22225">
            <a:solidFill>
              <a:srgbClr val="A9812F"/>
            </a:solidFill>
            <a:prstDash val="solid"/>
            <a:tailEnd type="triangle"/>
          </a:ln>
        </p:spPr>
        <p:txBody>
          <a:bodyPr/>
          <a:lstStyle/>
          <a:p>
            <a:endParaRPr lang="en-TH"/>
          </a:p>
        </p:txBody>
      </p:sp>
      <p:sp>
        <p:nvSpPr>
          <p:cNvPr id="22" name="Shape 20"/>
          <p:cNvSpPr/>
          <p:nvPr/>
        </p:nvSpPr>
        <p:spPr>
          <a:xfrm>
            <a:off x="5029200" y="2231136"/>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23" name="Text 21"/>
          <p:cNvSpPr txBox="1"/>
          <p:nvPr/>
        </p:nvSpPr>
        <p:spPr>
          <a:xfrm>
            <a:off x="5212080" y="2231136"/>
            <a:ext cx="6339535" cy="457200"/>
          </a:xfrm>
          <a:prstGeom prst="rect">
            <a:avLst/>
          </a:prstGeom>
          <a:noFill/>
          <a:ln/>
        </p:spPr>
        <p:txBody>
          <a:bodyPr wrap="square" lIns="0" tIns="0" rIns="0" bIns="0" rtlCol="0" anchor="ctr"/>
          <a:lstStyle/>
          <a:p>
            <a:pPr marL="0" indent="0">
              <a:buNone/>
            </a:pPr>
            <a:r>
              <a:rPr lang="en-US" sz="1100" b="1" dirty="0">
                <a:solidFill>
                  <a:srgbClr val="13233F"/>
                </a:solidFill>
                <a:latin typeface="Courier New" pitchFamily="34" charset="0"/>
                <a:ea typeface="Courier New" pitchFamily="34" charset="-122"/>
                <a:cs typeface="Courier New" pitchFamily="34" charset="-120"/>
              </a:rPr>
              <a:t>ansible_connection: network_cli</a:t>
            </a:r>
            <a:r>
              <a:rPr lang="en-US" sz="1150" dirty="0">
                <a:solidFill>
                  <a:srgbClr val="1E2733"/>
                </a:solidFill>
                <a:latin typeface="Tahoma" pitchFamily="34" charset="0"/>
                <a:ea typeface="Tahoma" pitchFamily="34" charset="-122"/>
                <a:cs typeface="Tahoma" pitchFamily="34" charset="-120"/>
              </a:rPr>
              <a:t>  + ตัวแปรใน inventory + ansible-vault</a:t>
            </a:r>
            <a:endParaRPr lang="en-US" sz="1150" dirty="0"/>
          </a:p>
        </p:txBody>
      </p:sp>
      <p:sp>
        <p:nvSpPr>
          <p:cNvPr id="24" name="Shape 22"/>
          <p:cNvSpPr/>
          <p:nvPr/>
        </p:nvSpPr>
        <p:spPr>
          <a:xfrm>
            <a:off x="548640" y="2738628"/>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25" name="Text 23"/>
          <p:cNvSpPr txBox="1"/>
          <p:nvPr/>
        </p:nvSpPr>
        <p:spPr>
          <a:xfrm>
            <a:off x="731520" y="2738628"/>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เรียกโมดูลด้วยชื่อสั้น ios_config</a:t>
            </a:r>
            <a:endParaRPr lang="en-US" sz="1150" dirty="0"/>
          </a:p>
        </p:txBody>
      </p:sp>
      <p:sp>
        <p:nvSpPr>
          <p:cNvPr id="26" name="Shape 24"/>
          <p:cNvSpPr/>
          <p:nvPr/>
        </p:nvSpPr>
        <p:spPr>
          <a:xfrm>
            <a:off x="4617720" y="2967228"/>
            <a:ext cx="320040" cy="0"/>
          </a:xfrm>
          <a:prstGeom prst="line">
            <a:avLst/>
          </a:prstGeom>
          <a:noFill/>
          <a:ln w="22225">
            <a:solidFill>
              <a:srgbClr val="A9812F"/>
            </a:solidFill>
            <a:prstDash val="solid"/>
            <a:tailEnd type="triangle"/>
          </a:ln>
        </p:spPr>
        <p:txBody>
          <a:bodyPr/>
          <a:lstStyle/>
          <a:p>
            <a:endParaRPr lang="en-TH"/>
          </a:p>
        </p:txBody>
      </p:sp>
      <p:sp>
        <p:nvSpPr>
          <p:cNvPr id="27" name="Shape 25"/>
          <p:cNvSpPr/>
          <p:nvPr/>
        </p:nvSpPr>
        <p:spPr>
          <a:xfrm>
            <a:off x="5029200" y="2738628"/>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28" name="Text 26"/>
          <p:cNvSpPr txBox="1"/>
          <p:nvPr/>
        </p:nvSpPr>
        <p:spPr>
          <a:xfrm>
            <a:off x="5212080" y="2738628"/>
            <a:ext cx="6339535" cy="457200"/>
          </a:xfrm>
          <a:prstGeom prst="rect">
            <a:avLst/>
          </a:prstGeom>
          <a:noFill/>
          <a:ln/>
        </p:spPr>
        <p:txBody>
          <a:bodyPr wrap="square" lIns="0" tIns="0" rIns="0" bIns="0" rtlCol="0" anchor="ctr"/>
          <a:lstStyle/>
          <a:p>
            <a:pPr marL="0" indent="0">
              <a:buNone/>
            </a:pPr>
            <a:r>
              <a:rPr lang="en-US" sz="1100" b="1" dirty="0">
                <a:solidFill>
                  <a:srgbClr val="13233F"/>
                </a:solidFill>
                <a:latin typeface="Courier New" pitchFamily="34" charset="0"/>
                <a:ea typeface="Courier New" pitchFamily="34" charset="-122"/>
                <a:cs typeface="Courier New" pitchFamily="34" charset="-120"/>
              </a:rPr>
              <a:t>cisco.ios.ios_config</a:t>
            </a:r>
            <a:r>
              <a:rPr lang="en-US" sz="1150" dirty="0">
                <a:solidFill>
                  <a:srgbClr val="1E2733"/>
                </a:solidFill>
                <a:latin typeface="Tahoma" pitchFamily="34" charset="0"/>
                <a:ea typeface="Tahoma" pitchFamily="34" charset="-122"/>
                <a:cs typeface="Tahoma" pitchFamily="34" charset="-120"/>
              </a:rPr>
              <a:t>  ชื่อเต็ม (FQCN) จาก Collections ตั้งแต่ Ansible 2.10</a:t>
            </a:r>
            <a:endParaRPr lang="en-US" sz="1150" dirty="0"/>
          </a:p>
        </p:txBody>
      </p:sp>
      <p:sp>
        <p:nvSpPr>
          <p:cNvPr id="29" name="Shape 27"/>
          <p:cNvSpPr/>
          <p:nvPr/>
        </p:nvSpPr>
        <p:spPr>
          <a:xfrm>
            <a:off x="548640" y="3246120"/>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30" name="Text 28"/>
          <p:cNvSpPr txBox="1"/>
          <p:nvPr/>
        </p:nvSpPr>
        <p:spPr>
          <a:xfrm>
            <a:off x="731520" y="3246120"/>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ส่งบรรทัด CLI ตรง ๆ</a:t>
            </a:r>
            <a:endParaRPr lang="en-US" sz="1150" dirty="0"/>
          </a:p>
        </p:txBody>
      </p:sp>
      <p:sp>
        <p:nvSpPr>
          <p:cNvPr id="31" name="Shape 29"/>
          <p:cNvSpPr/>
          <p:nvPr/>
        </p:nvSpPr>
        <p:spPr>
          <a:xfrm>
            <a:off x="4617720" y="3474720"/>
            <a:ext cx="320040" cy="0"/>
          </a:xfrm>
          <a:prstGeom prst="line">
            <a:avLst/>
          </a:prstGeom>
          <a:noFill/>
          <a:ln w="22225">
            <a:solidFill>
              <a:srgbClr val="A9812F"/>
            </a:solidFill>
            <a:prstDash val="solid"/>
            <a:tailEnd type="triangle"/>
          </a:ln>
        </p:spPr>
        <p:txBody>
          <a:bodyPr/>
          <a:lstStyle/>
          <a:p>
            <a:endParaRPr lang="en-TH"/>
          </a:p>
        </p:txBody>
      </p:sp>
      <p:sp>
        <p:nvSpPr>
          <p:cNvPr id="32" name="Shape 30"/>
          <p:cNvSpPr/>
          <p:nvPr/>
        </p:nvSpPr>
        <p:spPr>
          <a:xfrm>
            <a:off x="5029200" y="3246120"/>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33" name="Text 31"/>
          <p:cNvSpPr txBox="1"/>
          <p:nvPr/>
        </p:nvSpPr>
        <p:spPr>
          <a:xfrm>
            <a:off x="5212080" y="3246120"/>
            <a:ext cx="6339535" cy="457200"/>
          </a:xfrm>
          <a:prstGeom prst="rect">
            <a:avLst/>
          </a:prstGeom>
          <a:noFill/>
          <a:ln/>
        </p:spPr>
        <p:txBody>
          <a:bodyPr wrap="square" lIns="0" tIns="0" rIns="0" bIns="0" rtlCol="0" anchor="ctr"/>
          <a:lstStyle/>
          <a:p>
            <a:pPr marL="0" indent="0">
              <a:buNone/>
            </a:pPr>
            <a:r>
              <a:rPr lang="en-US" sz="1150" b="1" dirty="0">
                <a:solidFill>
                  <a:srgbClr val="1E2733"/>
                </a:solidFill>
                <a:latin typeface="Tahoma" pitchFamily="34" charset="0"/>
                <a:ea typeface="Tahoma" pitchFamily="34" charset="-122"/>
                <a:cs typeface="Tahoma" pitchFamily="34" charset="-120"/>
              </a:rPr>
              <a:t>Resource modules </a:t>
            </a:r>
            <a:r>
              <a:rPr lang="en-US" sz="1150" dirty="0">
                <a:solidFill>
                  <a:srgbClr val="1E2733"/>
                </a:solidFill>
                <a:latin typeface="Tahoma" pitchFamily="34" charset="0"/>
                <a:ea typeface="Tahoma" pitchFamily="34" charset="-122"/>
                <a:cs typeface="Tahoma" pitchFamily="34" charset="-120"/>
              </a:rPr>
              <a:t>(state: merged / replaced / overridden) idempotent จริง</a:t>
            </a:r>
            <a:endParaRPr lang="en-US" sz="1150" dirty="0"/>
          </a:p>
        </p:txBody>
      </p:sp>
      <p:sp>
        <p:nvSpPr>
          <p:cNvPr id="34" name="Shape 32"/>
          <p:cNvSpPr/>
          <p:nvPr/>
        </p:nvSpPr>
        <p:spPr>
          <a:xfrm>
            <a:off x="548640" y="3753612"/>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35" name="Text 33"/>
          <p:cNvSpPr txBox="1"/>
          <p:nvPr/>
        </p:nvSpPr>
        <p:spPr>
          <a:xfrm>
            <a:off x="731520" y="3753612"/>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EEM 1.0: event จาก syslog / SNMP เท่านั้น</a:t>
            </a:r>
            <a:endParaRPr lang="en-US" sz="1150" dirty="0"/>
          </a:p>
        </p:txBody>
      </p:sp>
      <p:sp>
        <p:nvSpPr>
          <p:cNvPr id="36" name="Shape 34"/>
          <p:cNvSpPr/>
          <p:nvPr/>
        </p:nvSpPr>
        <p:spPr>
          <a:xfrm>
            <a:off x="4617720" y="3982212"/>
            <a:ext cx="320040" cy="0"/>
          </a:xfrm>
          <a:prstGeom prst="line">
            <a:avLst/>
          </a:prstGeom>
          <a:noFill/>
          <a:ln w="22225">
            <a:solidFill>
              <a:srgbClr val="A9812F"/>
            </a:solidFill>
            <a:prstDash val="solid"/>
            <a:tailEnd type="triangle"/>
          </a:ln>
        </p:spPr>
        <p:txBody>
          <a:bodyPr/>
          <a:lstStyle/>
          <a:p>
            <a:endParaRPr lang="en-TH"/>
          </a:p>
        </p:txBody>
      </p:sp>
      <p:sp>
        <p:nvSpPr>
          <p:cNvPr id="37" name="Shape 35"/>
          <p:cNvSpPr/>
          <p:nvPr/>
        </p:nvSpPr>
        <p:spPr>
          <a:xfrm>
            <a:off x="5029200" y="3753612"/>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38" name="Text 36"/>
          <p:cNvSpPr txBox="1"/>
          <p:nvPr/>
        </p:nvSpPr>
        <p:spPr>
          <a:xfrm>
            <a:off x="5212080" y="3753612"/>
            <a:ext cx="6339535" cy="457200"/>
          </a:xfrm>
          <a:prstGeom prst="rect">
            <a:avLst/>
          </a:prstGeom>
          <a:noFill/>
          <a:ln/>
        </p:spPr>
        <p:txBody>
          <a:bodyPr wrap="square" lIns="0" tIns="0" rIns="0" bIns="0" rtlCol="0" anchor="ctr"/>
          <a:lstStyle/>
          <a:p>
            <a:pPr marL="0" indent="0">
              <a:buNone/>
            </a:pPr>
            <a:r>
              <a:rPr lang="en-US" sz="1150" b="1" dirty="0">
                <a:solidFill>
                  <a:srgbClr val="1E2733"/>
                </a:solidFill>
                <a:latin typeface="Tahoma" pitchFamily="34" charset="0"/>
                <a:ea typeface="Tahoma" pitchFamily="34" charset="-122"/>
                <a:cs typeface="Tahoma" pitchFamily="34" charset="-120"/>
              </a:rPr>
              <a:t>EEM 4.0 </a:t>
            </a:r>
            <a:r>
              <a:rPr lang="en-US" sz="1150" dirty="0">
                <a:solidFill>
                  <a:srgbClr val="1E2733"/>
                </a:solidFill>
                <a:latin typeface="Tahoma" pitchFamily="34" charset="0"/>
                <a:ea typeface="Tahoma" pitchFamily="34" charset="-122"/>
                <a:cs typeface="Tahoma" pitchFamily="34" charset="-120"/>
              </a:rPr>
              <a:t>SMTP ผ่าน TLS, กำหนด CPU/memory threshold, IPv6 routing detector, สถิติการรัน</a:t>
            </a:r>
            <a:endParaRPr lang="en-US" sz="1150" dirty="0"/>
          </a:p>
        </p:txBody>
      </p:sp>
      <p:sp>
        <p:nvSpPr>
          <p:cNvPr id="39" name="Shape 37"/>
          <p:cNvSpPr/>
          <p:nvPr/>
        </p:nvSpPr>
        <p:spPr>
          <a:xfrm>
            <a:off x="548640" y="4261104"/>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40" name="Text 38"/>
          <p:cNvSpPr txBox="1"/>
          <p:nvPr/>
        </p:nvSpPr>
        <p:spPr>
          <a:xfrm>
            <a:off x="731520" y="4261104"/>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ตอบสนอง event ได้เฉพาะในเครื่องเดียว (EEM)</a:t>
            </a:r>
            <a:endParaRPr lang="en-US" sz="1150" dirty="0"/>
          </a:p>
        </p:txBody>
      </p:sp>
      <p:sp>
        <p:nvSpPr>
          <p:cNvPr id="41" name="Shape 39"/>
          <p:cNvSpPr/>
          <p:nvPr/>
        </p:nvSpPr>
        <p:spPr>
          <a:xfrm>
            <a:off x="4617720" y="4489704"/>
            <a:ext cx="320040" cy="0"/>
          </a:xfrm>
          <a:prstGeom prst="line">
            <a:avLst/>
          </a:prstGeom>
          <a:noFill/>
          <a:ln w="22225">
            <a:solidFill>
              <a:srgbClr val="A9812F"/>
            </a:solidFill>
            <a:prstDash val="solid"/>
            <a:tailEnd type="triangle"/>
          </a:ln>
        </p:spPr>
        <p:txBody>
          <a:bodyPr/>
          <a:lstStyle/>
          <a:p>
            <a:endParaRPr lang="en-TH"/>
          </a:p>
        </p:txBody>
      </p:sp>
      <p:sp>
        <p:nvSpPr>
          <p:cNvPr id="42" name="Shape 40"/>
          <p:cNvSpPr/>
          <p:nvPr/>
        </p:nvSpPr>
        <p:spPr>
          <a:xfrm>
            <a:off x="5029200" y="4261104"/>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43" name="Text 41"/>
          <p:cNvSpPr txBox="1"/>
          <p:nvPr/>
        </p:nvSpPr>
        <p:spPr>
          <a:xfrm>
            <a:off x="5212080" y="4261104"/>
            <a:ext cx="6339535" cy="457200"/>
          </a:xfrm>
          <a:prstGeom prst="rect">
            <a:avLst/>
          </a:prstGeom>
          <a:noFill/>
          <a:ln/>
        </p:spPr>
        <p:txBody>
          <a:bodyPr wrap="square" lIns="0" tIns="0" rIns="0" bIns="0" rtlCol="0" anchor="ctr"/>
          <a:lstStyle/>
          <a:p>
            <a:pPr marL="0" indent="0">
              <a:buNone/>
            </a:pPr>
            <a:r>
              <a:rPr lang="en-US" sz="1150" b="1" dirty="0">
                <a:solidFill>
                  <a:srgbClr val="1E2733"/>
                </a:solidFill>
                <a:latin typeface="Tahoma" pitchFamily="34" charset="0"/>
                <a:ea typeface="Tahoma" pitchFamily="34" charset="-122"/>
                <a:cs typeface="Tahoma" pitchFamily="34" charset="-120"/>
              </a:rPr>
              <a:t>Event-Driven Ansible </a:t>
            </a:r>
            <a:r>
              <a:rPr lang="en-US" sz="1150" dirty="0">
                <a:solidFill>
                  <a:srgbClr val="1E2733"/>
                </a:solidFill>
                <a:latin typeface="Tahoma" pitchFamily="34" charset="0"/>
                <a:ea typeface="Tahoma" pitchFamily="34" charset="-122"/>
                <a:cs typeface="Tahoma" pitchFamily="34" charset="-120"/>
              </a:rPr>
              <a:t>(rulebook) รับ event ทั้งเครือข่าย · Salt reactor</a:t>
            </a:r>
            <a:endParaRPr lang="en-US" sz="1150" dirty="0"/>
          </a:p>
        </p:txBody>
      </p:sp>
      <p:sp>
        <p:nvSpPr>
          <p:cNvPr id="44" name="Shape 42"/>
          <p:cNvSpPr/>
          <p:nvPr/>
        </p:nvSpPr>
        <p:spPr>
          <a:xfrm>
            <a:off x="548640" y="4768596"/>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45" name="Text 43"/>
          <p:cNvSpPr txBox="1"/>
          <p:nvPr/>
        </p:nvSpPr>
        <p:spPr>
          <a:xfrm>
            <a:off x="731520" y="4768596"/>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คุยกับอุปกรณ์ผ่าน CLI แล้ว parse ข้อความ</a:t>
            </a:r>
            <a:endParaRPr lang="en-US" sz="1150" dirty="0"/>
          </a:p>
        </p:txBody>
      </p:sp>
      <p:sp>
        <p:nvSpPr>
          <p:cNvPr id="46" name="Shape 44"/>
          <p:cNvSpPr/>
          <p:nvPr/>
        </p:nvSpPr>
        <p:spPr>
          <a:xfrm>
            <a:off x="4617720" y="4997196"/>
            <a:ext cx="320040" cy="0"/>
          </a:xfrm>
          <a:prstGeom prst="line">
            <a:avLst/>
          </a:prstGeom>
          <a:noFill/>
          <a:ln w="22225">
            <a:solidFill>
              <a:srgbClr val="A9812F"/>
            </a:solidFill>
            <a:prstDash val="solid"/>
            <a:tailEnd type="triangle"/>
          </a:ln>
        </p:spPr>
        <p:txBody>
          <a:bodyPr/>
          <a:lstStyle/>
          <a:p>
            <a:endParaRPr lang="en-TH"/>
          </a:p>
        </p:txBody>
      </p:sp>
      <p:sp>
        <p:nvSpPr>
          <p:cNvPr id="47" name="Shape 45"/>
          <p:cNvSpPr/>
          <p:nvPr/>
        </p:nvSpPr>
        <p:spPr>
          <a:xfrm>
            <a:off x="5029200" y="4768596"/>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48" name="Text 46"/>
          <p:cNvSpPr txBox="1"/>
          <p:nvPr/>
        </p:nvSpPr>
        <p:spPr>
          <a:xfrm>
            <a:off x="5212080" y="4768596"/>
            <a:ext cx="6339535" cy="457200"/>
          </a:xfrm>
          <a:prstGeom prst="rect">
            <a:avLst/>
          </a:prstGeom>
          <a:noFill/>
          <a:ln/>
        </p:spPr>
        <p:txBody>
          <a:bodyPr wrap="square" lIns="0" tIns="0" rIns="0" bIns="0" rtlCol="0" anchor="ctr"/>
          <a:lstStyle/>
          <a:p>
            <a:pPr marL="0" indent="0">
              <a:buNone/>
            </a:pPr>
            <a:r>
              <a:rPr lang="en-US" sz="1150" b="1" dirty="0">
                <a:solidFill>
                  <a:srgbClr val="1E2733"/>
                </a:solidFill>
                <a:latin typeface="Tahoma" pitchFamily="34" charset="0"/>
                <a:ea typeface="Tahoma" pitchFamily="34" charset="-122"/>
                <a:cs typeface="Tahoma" pitchFamily="34" charset="-120"/>
              </a:rPr>
              <a:t>Model-driven: </a:t>
            </a:r>
            <a:r>
              <a:rPr lang="en-US" sz="1150" dirty="0">
                <a:solidFill>
                  <a:srgbClr val="1E2733"/>
                </a:solidFill>
                <a:latin typeface="Tahoma" pitchFamily="34" charset="0"/>
                <a:ea typeface="Tahoma" pitchFamily="34" charset="-122"/>
                <a:cs typeface="Tahoma" pitchFamily="34" charset="-120"/>
              </a:rPr>
              <a:t>NETCONF / RESTCONF / gNMI + YANG, streaming telemetry</a:t>
            </a:r>
            <a:endParaRPr lang="en-US" sz="1150" dirty="0"/>
          </a:p>
        </p:txBody>
      </p:sp>
      <p:sp>
        <p:nvSpPr>
          <p:cNvPr id="49" name="Shape 47"/>
          <p:cNvSpPr/>
          <p:nvPr/>
        </p:nvSpPr>
        <p:spPr>
          <a:xfrm>
            <a:off x="548640" y="5276088"/>
            <a:ext cx="3977640" cy="457200"/>
          </a:xfrm>
          <a:prstGeom prst="roundRect">
            <a:avLst>
              <a:gd name="adj" fmla="val 8000"/>
            </a:avLst>
          </a:prstGeom>
          <a:solidFill>
            <a:srgbClr val="F3F5F8"/>
          </a:solidFill>
          <a:ln w="12700">
            <a:solidFill>
              <a:srgbClr val="F3F5F8"/>
            </a:solidFill>
            <a:prstDash val="solid"/>
          </a:ln>
        </p:spPr>
        <p:txBody>
          <a:bodyPr/>
          <a:lstStyle/>
          <a:p>
            <a:endParaRPr lang="en-TH"/>
          </a:p>
        </p:txBody>
      </p:sp>
      <p:sp>
        <p:nvSpPr>
          <p:cNvPr id="50" name="Text 48"/>
          <p:cNvSpPr txBox="1"/>
          <p:nvPr/>
        </p:nvSpPr>
        <p:spPr>
          <a:xfrm>
            <a:off x="731520" y="5276088"/>
            <a:ext cx="3703320" cy="457200"/>
          </a:xfrm>
          <a:prstGeom prst="rect">
            <a:avLst/>
          </a:prstGeom>
          <a:noFill/>
          <a:ln/>
        </p:spPr>
        <p:txBody>
          <a:bodyPr wrap="square" lIns="0" tIns="0" rIns="0" bIns="0" rtlCol="0" anchor="ctr"/>
          <a:lstStyle/>
          <a:p>
            <a:pPr marL="0" indent="0">
              <a:buNone/>
            </a:pPr>
            <a:r>
              <a:rPr lang="en-US" sz="1150" dirty="0">
                <a:solidFill>
                  <a:srgbClr val="5F6B7A"/>
                </a:solidFill>
                <a:latin typeface="Tahoma" pitchFamily="34" charset="0"/>
                <a:ea typeface="Tahoma" pitchFamily="34" charset="-122"/>
                <a:cs typeface="Tahoma" pitchFamily="34" charset="-120"/>
              </a:rPr>
              <a:t>Agent บนอุปกรณ์เครือข่าย (Puppet / Chef)</a:t>
            </a:r>
            <a:endParaRPr lang="en-US" sz="1150" dirty="0"/>
          </a:p>
        </p:txBody>
      </p:sp>
      <p:sp>
        <p:nvSpPr>
          <p:cNvPr id="51" name="Shape 49"/>
          <p:cNvSpPr/>
          <p:nvPr/>
        </p:nvSpPr>
        <p:spPr>
          <a:xfrm>
            <a:off x="4617720" y="5504688"/>
            <a:ext cx="320040" cy="0"/>
          </a:xfrm>
          <a:prstGeom prst="line">
            <a:avLst/>
          </a:prstGeom>
          <a:noFill/>
          <a:ln w="22225">
            <a:solidFill>
              <a:srgbClr val="A9812F"/>
            </a:solidFill>
            <a:prstDash val="solid"/>
            <a:tailEnd type="triangle"/>
          </a:ln>
        </p:spPr>
        <p:txBody>
          <a:bodyPr/>
          <a:lstStyle/>
          <a:p>
            <a:endParaRPr lang="en-TH"/>
          </a:p>
        </p:txBody>
      </p:sp>
      <p:sp>
        <p:nvSpPr>
          <p:cNvPr id="52" name="Shape 50"/>
          <p:cNvSpPr/>
          <p:nvPr/>
        </p:nvSpPr>
        <p:spPr>
          <a:xfrm>
            <a:off x="5029200" y="5276088"/>
            <a:ext cx="6613855" cy="457200"/>
          </a:xfrm>
          <a:prstGeom prst="roundRect">
            <a:avLst>
              <a:gd name="adj" fmla="val 8000"/>
            </a:avLst>
          </a:prstGeom>
          <a:solidFill>
            <a:srgbClr val="FFFFFF"/>
          </a:solidFill>
          <a:ln w="9525">
            <a:solidFill>
              <a:srgbClr val="D6DCE4"/>
            </a:solidFill>
            <a:prstDash val="solid"/>
          </a:ln>
        </p:spPr>
        <p:txBody>
          <a:bodyPr/>
          <a:lstStyle/>
          <a:p>
            <a:endParaRPr lang="en-TH"/>
          </a:p>
        </p:txBody>
      </p:sp>
      <p:sp>
        <p:nvSpPr>
          <p:cNvPr id="53" name="Text 51"/>
          <p:cNvSpPr txBox="1"/>
          <p:nvPr/>
        </p:nvSpPr>
        <p:spPr>
          <a:xfrm>
            <a:off x="5212080" y="5276088"/>
            <a:ext cx="6339535" cy="457200"/>
          </a:xfrm>
          <a:prstGeom prst="rect">
            <a:avLst/>
          </a:prstGeom>
          <a:noFill/>
          <a:ln/>
        </p:spPr>
        <p:txBody>
          <a:bodyPr wrap="square" lIns="0" tIns="0" rIns="0" bIns="0" rtlCol="0" anchor="ctr"/>
          <a:lstStyle/>
          <a:p>
            <a:pPr marL="0" indent="0">
              <a:buNone/>
            </a:pPr>
            <a:r>
              <a:rPr lang="en-US" sz="1150" b="1" dirty="0">
                <a:solidFill>
                  <a:srgbClr val="1E2733"/>
                </a:solidFill>
                <a:latin typeface="Tahoma" pitchFamily="34" charset="0"/>
                <a:ea typeface="Tahoma" pitchFamily="34" charset="-122"/>
                <a:cs typeface="Tahoma" pitchFamily="34" charset="-120"/>
              </a:rPr>
              <a:t>ลดบทบาท </a:t>
            </a:r>
            <a:r>
              <a:rPr lang="en-US" sz="1150" dirty="0">
                <a:solidFill>
                  <a:srgbClr val="1E2733"/>
                </a:solidFill>
                <a:latin typeface="Tahoma" pitchFamily="34" charset="0"/>
                <a:ea typeface="Tahoma" pitchFamily="34" charset="-122"/>
                <a:cs typeface="Tahoma" pitchFamily="34" charset="-120"/>
              </a:rPr>
              <a:t>→ งานเครือข่ายหันไปใช้ agentless และ API ของ controller</a:t>
            </a:r>
            <a:endParaRPr lang="en-US" sz="1150" dirty="0"/>
          </a:p>
        </p:txBody>
      </p:sp>
      <p:sp>
        <p:nvSpPr>
          <p:cNvPr id="54" name="Shape 52"/>
          <p:cNvSpPr/>
          <p:nvPr/>
        </p:nvSpPr>
        <p:spPr>
          <a:xfrm>
            <a:off x="548640" y="5838444"/>
            <a:ext cx="11094415" cy="457200"/>
          </a:xfrm>
          <a:prstGeom prst="roundRect">
            <a:avLst>
              <a:gd name="adj" fmla="val 10000"/>
            </a:avLst>
          </a:prstGeom>
          <a:solidFill>
            <a:srgbClr val="F6F0E3"/>
          </a:solidFill>
          <a:ln w="9525">
            <a:solidFill>
              <a:srgbClr val="D9BE82"/>
            </a:solidFill>
            <a:prstDash val="solid"/>
          </a:ln>
        </p:spPr>
        <p:txBody>
          <a:bodyPr/>
          <a:lstStyle/>
          <a:p>
            <a:endParaRPr lang="en-TH"/>
          </a:p>
        </p:txBody>
      </p:sp>
      <p:pic>
        <p:nvPicPr>
          <p:cNvPr id="55" name="Image 0" descr="preencoded.png"/>
          <p:cNvPicPr>
            <a:picLocks noChangeAspect="1"/>
          </p:cNvPicPr>
          <p:nvPr/>
        </p:nvPicPr>
        <p:blipFill>
          <a:blip r:embed="rId3"/>
          <a:stretch>
            <a:fillRect/>
          </a:stretch>
        </p:blipFill>
        <p:spPr>
          <a:xfrm>
            <a:off x="713232" y="5929884"/>
            <a:ext cx="274320" cy="274320"/>
          </a:xfrm>
          <a:prstGeom prst="rect">
            <a:avLst/>
          </a:prstGeom>
        </p:spPr>
      </p:pic>
      <p:sp>
        <p:nvSpPr>
          <p:cNvPr id="56" name="Text 53"/>
          <p:cNvSpPr txBox="1"/>
          <p:nvPr/>
        </p:nvSpPr>
        <p:spPr>
          <a:xfrm>
            <a:off x="1115568" y="5838444"/>
            <a:ext cx="10362895" cy="457200"/>
          </a:xfrm>
          <a:prstGeom prst="rect">
            <a:avLst/>
          </a:prstGeom>
          <a:noFill/>
          <a:ln/>
        </p:spPr>
        <p:txBody>
          <a:bodyPr wrap="square" lIns="0" tIns="0" rIns="0" bIns="0" rtlCol="0" anchor="ctr"/>
          <a:lstStyle/>
          <a:p>
            <a:pPr marL="0" indent="0">
              <a:buNone/>
            </a:pPr>
            <a:r>
              <a:rPr lang="en-US" sz="1200" b="1" dirty="0">
                <a:solidFill>
                  <a:srgbClr val="13233F"/>
                </a:solidFill>
                <a:latin typeface="Tahoma" pitchFamily="34" charset="0"/>
                <a:ea typeface="Tahoma" pitchFamily="34" charset="-122"/>
                <a:cs typeface="Tahoma" pitchFamily="34" charset="-120"/>
              </a:rPr>
              <a:t>แก้ข้อผิดพลาดในสไลด์ต้นฉบับ: </a:t>
            </a:r>
            <a:r>
              <a:rPr lang="en-US" sz="1200" dirty="0">
                <a:solidFill>
                  <a:srgbClr val="1E2733"/>
                </a:solidFill>
                <a:latin typeface="Tahoma" pitchFamily="34" charset="0"/>
                <a:ea typeface="Tahoma" pitchFamily="34" charset="-122"/>
                <a:cs typeface="Tahoma" pitchFamily="34" charset="-120"/>
              </a:rPr>
              <a:t>คำสั่งที่ถูกคือ </a:t>
            </a:r>
            <a:r>
              <a:rPr lang="en-US" sz="1200" b="1" dirty="0">
                <a:solidFill>
                  <a:srgbClr val="13233F"/>
                </a:solidFill>
                <a:latin typeface="Courier New" pitchFamily="34" charset="0"/>
                <a:ea typeface="Courier New" pitchFamily="34" charset="-122"/>
                <a:cs typeface="Courier New" pitchFamily="34" charset="-120"/>
              </a:rPr>
              <a:t>ansible-doc</a:t>
            </a:r>
            <a:r>
              <a:rPr lang="en-US" sz="1200" dirty="0">
                <a:solidFill>
                  <a:srgbClr val="1E2733"/>
                </a:solidFill>
                <a:latin typeface="Tahoma" pitchFamily="34" charset="0"/>
                <a:ea typeface="Tahoma" pitchFamily="34" charset="-122"/>
                <a:cs typeface="Tahoma" pitchFamily="34" charset="-120"/>
              </a:rPr>
              <a:t> (ไม่มี s)  ·  YAML ย่อมาจาก “YAML Ain’t Markup Language”</a:t>
            </a:r>
            <a:endParaRPr lang="en-US" sz="1200" dirty="0"/>
          </a:p>
        </p:txBody>
      </p:sp>
      <p:sp>
        <p:nvSpPr>
          <p:cNvPr id="57" name="Text 54"/>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58" name="Text 55"/>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Lab Topology และสภาพแวดล้อม</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Cisco Modeling Labs (DevNet Sandbox)  ·  Cisco IOSv 15.9 × 2  ·  Ubuntu 24.04 เป็น Ansible control node และ syslog server</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7086600" cy="4434840"/>
          </a:xfrm>
          <a:prstGeom prst="roundRect">
            <a:avLst>
              <a:gd name="adj" fmla="val 1649"/>
            </a:avLst>
          </a:prstGeom>
          <a:solidFill>
            <a:srgbClr val="FFFFFF"/>
          </a:solidFill>
          <a:ln w="9525">
            <a:solidFill>
              <a:srgbClr val="D6DCE4"/>
            </a:solidFill>
            <a:prstDash val="solid"/>
          </a:ln>
        </p:spPr>
        <p:txBody>
          <a:bodyPr/>
          <a:lstStyle/>
          <a:p>
            <a:endParaRPr lang="en-TH"/>
          </a:p>
        </p:txBody>
      </p:sp>
      <p:sp>
        <p:nvSpPr>
          <p:cNvPr id="16" name="Text 14"/>
          <p:cNvSpPr txBox="1"/>
          <p:nvPr/>
        </p:nvSpPr>
        <p:spPr>
          <a:xfrm>
            <a:off x="731520" y="1874520"/>
            <a:ext cx="3657600" cy="256032"/>
          </a:xfrm>
          <a:prstGeom prst="rect">
            <a:avLst/>
          </a:prstGeom>
          <a:noFill/>
          <a:ln/>
        </p:spPr>
        <p:txBody>
          <a:bodyPr wrap="square" lIns="0" tIns="0" rIns="0" bIns="0" rtlCol="0" anchor="t"/>
          <a:lstStyle/>
          <a:p>
            <a:pPr marL="0" indent="0">
              <a:buNone/>
            </a:pPr>
            <a:r>
              <a:rPr lang="en-US" sz="1050" i="1" dirty="0">
                <a:solidFill>
                  <a:srgbClr val="4A6A8F"/>
                </a:solidFill>
                <a:latin typeface="Tahoma" pitchFamily="34" charset="0"/>
                <a:ea typeface="Tahoma" pitchFamily="34" charset="-122"/>
                <a:cs typeface="Tahoma" pitchFamily="34" charset="-120"/>
              </a:rPr>
              <a:t>MGMT 192.168.100.0/24 (out-of-band)</a:t>
            </a:r>
            <a:endParaRPr lang="en-US" sz="1050" dirty="0"/>
          </a:p>
        </p:txBody>
      </p:sp>
      <p:sp>
        <p:nvSpPr>
          <p:cNvPr id="17" name="Shape 15"/>
          <p:cNvSpPr/>
          <p:nvPr/>
        </p:nvSpPr>
        <p:spPr>
          <a:xfrm>
            <a:off x="868680" y="2331720"/>
            <a:ext cx="2148840" cy="1234440"/>
          </a:xfrm>
          <a:prstGeom prst="roundRect">
            <a:avLst>
              <a:gd name="adj" fmla="val 5926"/>
            </a:avLst>
          </a:prstGeom>
          <a:solidFill>
            <a:srgbClr val="13233F"/>
          </a:solidFill>
          <a:ln w="12700">
            <a:solidFill>
              <a:srgbClr val="13233F"/>
            </a:solidFill>
            <a:prstDash val="solid"/>
          </a:ln>
        </p:spPr>
        <p:txBody>
          <a:bodyPr/>
          <a:lstStyle/>
          <a:p>
            <a:endParaRPr lang="en-TH"/>
          </a:p>
        </p:txBody>
      </p:sp>
      <p:pic>
        <p:nvPicPr>
          <p:cNvPr id="18" name="Image 0" descr="preencoded.png"/>
          <p:cNvPicPr>
            <a:picLocks noChangeAspect="1"/>
          </p:cNvPicPr>
          <p:nvPr/>
        </p:nvPicPr>
        <p:blipFill>
          <a:blip r:embed="rId3"/>
          <a:stretch>
            <a:fillRect/>
          </a:stretch>
        </p:blipFill>
        <p:spPr>
          <a:xfrm>
            <a:off x="1005840" y="2496312"/>
            <a:ext cx="384048" cy="384048"/>
          </a:xfrm>
          <a:prstGeom prst="rect">
            <a:avLst/>
          </a:prstGeom>
        </p:spPr>
      </p:pic>
      <p:sp>
        <p:nvSpPr>
          <p:cNvPr id="19" name="Text 16"/>
          <p:cNvSpPr txBox="1"/>
          <p:nvPr/>
        </p:nvSpPr>
        <p:spPr>
          <a:xfrm>
            <a:off x="1463040" y="2441448"/>
            <a:ext cx="1508760" cy="566928"/>
          </a:xfrm>
          <a:prstGeom prst="rect">
            <a:avLst/>
          </a:prstGeom>
          <a:noFill/>
          <a:ln/>
        </p:spPr>
        <p:txBody>
          <a:bodyPr wrap="square" lIns="0" tIns="0" rIns="0" bIns="0" rtlCol="0" anchor="ctr"/>
          <a:lstStyle/>
          <a:p>
            <a:pPr marL="0" indent="0">
              <a:buNone/>
            </a:pPr>
            <a:r>
              <a:rPr lang="en-US" sz="1250" b="1" dirty="0">
                <a:solidFill>
                  <a:srgbClr val="FFFFFF"/>
                </a:solidFill>
                <a:latin typeface="Tahoma" pitchFamily="34" charset="0"/>
                <a:ea typeface="Tahoma" pitchFamily="34" charset="-122"/>
                <a:cs typeface="Tahoma" pitchFamily="34" charset="-120"/>
              </a:rPr>
              <a:t>Automation Host</a:t>
            </a:r>
            <a:endParaRPr lang="en-US" sz="1250" dirty="0"/>
          </a:p>
          <a:p>
            <a:pPr marL="0" indent="0">
              <a:buNone/>
            </a:pPr>
            <a:r>
              <a:rPr lang="en-US" sz="1050" dirty="0">
                <a:solidFill>
                  <a:srgbClr val="C9D3E0"/>
                </a:solidFill>
                <a:latin typeface="Tahoma" pitchFamily="34" charset="0"/>
                <a:ea typeface="Tahoma" pitchFamily="34" charset="-122"/>
                <a:cs typeface="Tahoma" pitchFamily="34" charset="-120"/>
              </a:rPr>
              <a:t>Ubuntu 24.04</a:t>
            </a:r>
            <a:endParaRPr lang="en-US" sz="1250" dirty="0"/>
          </a:p>
        </p:txBody>
      </p:sp>
      <p:sp>
        <p:nvSpPr>
          <p:cNvPr id="20" name="Text 17"/>
          <p:cNvSpPr txBox="1"/>
          <p:nvPr/>
        </p:nvSpPr>
        <p:spPr>
          <a:xfrm>
            <a:off x="1005840" y="3081528"/>
            <a:ext cx="1920240" cy="329184"/>
          </a:xfrm>
          <a:prstGeom prst="rect">
            <a:avLst/>
          </a:prstGeom>
          <a:noFill/>
          <a:ln/>
        </p:spPr>
        <p:txBody>
          <a:bodyPr wrap="square" lIns="0" tIns="0" rIns="0" bIns="0" rtlCol="0" anchor="t"/>
          <a:lstStyle/>
          <a:p>
            <a:pPr marL="0" indent="0">
              <a:buNone/>
            </a:pPr>
            <a:r>
              <a:rPr lang="en-US" sz="1200" b="1" dirty="0">
                <a:solidFill>
                  <a:srgbClr val="D9BE82"/>
                </a:solidFill>
                <a:latin typeface="Courier New" pitchFamily="34" charset="0"/>
                <a:ea typeface="Courier New" pitchFamily="34" charset="-122"/>
                <a:cs typeface="Courier New" pitchFamily="34" charset="-120"/>
              </a:rPr>
              <a:t>192.168.100.10</a:t>
            </a:r>
            <a:endParaRPr lang="en-US" sz="1200" dirty="0"/>
          </a:p>
        </p:txBody>
      </p:sp>
      <p:sp>
        <p:nvSpPr>
          <p:cNvPr id="21" name="Shape 18"/>
          <p:cNvSpPr/>
          <p:nvPr/>
        </p:nvSpPr>
        <p:spPr>
          <a:xfrm>
            <a:off x="4160520" y="2514600"/>
            <a:ext cx="1600200" cy="822960"/>
          </a:xfrm>
          <a:prstGeom prst="roundRect">
            <a:avLst>
              <a:gd name="adj" fmla="val 6667"/>
            </a:avLst>
          </a:prstGeom>
          <a:solidFill>
            <a:srgbClr val="F3F5F8"/>
          </a:solidFill>
          <a:ln w="12700">
            <a:solidFill>
              <a:srgbClr val="4A6A8F"/>
            </a:solidFill>
            <a:prstDash val="solid"/>
          </a:ln>
        </p:spPr>
        <p:txBody>
          <a:bodyPr/>
          <a:lstStyle/>
          <a:p>
            <a:endParaRPr lang="en-TH"/>
          </a:p>
        </p:txBody>
      </p:sp>
      <p:pic>
        <p:nvPicPr>
          <p:cNvPr id="22" name="Image 1" descr="preencoded.png"/>
          <p:cNvPicPr>
            <a:picLocks noChangeAspect="1"/>
          </p:cNvPicPr>
          <p:nvPr/>
        </p:nvPicPr>
        <p:blipFill>
          <a:blip r:embed="rId4"/>
          <a:stretch>
            <a:fillRect/>
          </a:stretch>
        </p:blipFill>
        <p:spPr>
          <a:xfrm>
            <a:off x="4270248" y="2715768"/>
            <a:ext cx="402336" cy="402336"/>
          </a:xfrm>
          <a:prstGeom prst="rect">
            <a:avLst/>
          </a:prstGeom>
        </p:spPr>
      </p:pic>
      <p:sp>
        <p:nvSpPr>
          <p:cNvPr id="23" name="Text 19"/>
          <p:cNvSpPr txBox="1"/>
          <p:nvPr/>
        </p:nvSpPr>
        <p:spPr>
          <a:xfrm>
            <a:off x="4709160" y="2514600"/>
            <a:ext cx="1005840" cy="822960"/>
          </a:xfrm>
          <a:prstGeom prst="rect">
            <a:avLst/>
          </a:prstGeom>
          <a:noFill/>
          <a:ln/>
        </p:spPr>
        <p:txBody>
          <a:bodyPr wrap="square" lIns="0" tIns="0" rIns="0" bIns="0" rtlCol="0" anchor="ctr"/>
          <a:lstStyle/>
          <a:p>
            <a:pPr marL="0" indent="0">
              <a:buNone/>
            </a:pPr>
            <a:r>
              <a:rPr lang="en-US" sz="1200" b="1" dirty="0">
                <a:solidFill>
                  <a:srgbClr val="13233F"/>
                </a:solidFill>
                <a:latin typeface="Tahoma" pitchFamily="34" charset="0"/>
                <a:ea typeface="Tahoma" pitchFamily="34" charset="-122"/>
                <a:cs typeface="Tahoma" pitchFamily="34" charset="-120"/>
              </a:rPr>
              <a:t>SW-MGMT</a:t>
            </a:r>
            <a:endParaRPr lang="en-US" sz="1200" dirty="0"/>
          </a:p>
          <a:p>
            <a:pPr marL="0" indent="0">
              <a:buNone/>
            </a:pPr>
            <a:r>
              <a:rPr lang="en-US" sz="1000" dirty="0">
                <a:solidFill>
                  <a:srgbClr val="5F6B7A"/>
                </a:solidFill>
                <a:latin typeface="Tahoma" pitchFamily="34" charset="0"/>
                <a:ea typeface="Tahoma" pitchFamily="34" charset="-122"/>
                <a:cs typeface="Tahoma" pitchFamily="34" charset="-120"/>
              </a:rPr>
              <a:t>unmanaged</a:t>
            </a:r>
            <a:endParaRPr lang="en-US" sz="1200" dirty="0"/>
          </a:p>
        </p:txBody>
      </p:sp>
      <p:sp>
        <p:nvSpPr>
          <p:cNvPr id="24" name="Shape 20"/>
          <p:cNvSpPr/>
          <p:nvPr/>
        </p:nvSpPr>
        <p:spPr>
          <a:xfrm>
            <a:off x="3017520" y="2926080"/>
            <a:ext cx="1143000" cy="0"/>
          </a:xfrm>
          <a:prstGeom prst="line">
            <a:avLst/>
          </a:prstGeom>
          <a:noFill/>
          <a:ln w="19050">
            <a:solidFill>
              <a:srgbClr val="4A6A8F"/>
            </a:solidFill>
            <a:prstDash val="dash"/>
          </a:ln>
        </p:spPr>
        <p:txBody>
          <a:bodyPr/>
          <a:lstStyle/>
          <a:p>
            <a:endParaRPr lang="en-TH"/>
          </a:p>
        </p:txBody>
      </p:sp>
      <p:sp>
        <p:nvSpPr>
          <p:cNvPr id="25" name="Text 21"/>
          <p:cNvSpPr txBox="1"/>
          <p:nvPr/>
        </p:nvSpPr>
        <p:spPr>
          <a:xfrm>
            <a:off x="3063240" y="2606040"/>
            <a:ext cx="731520" cy="237744"/>
          </a:xfrm>
          <a:prstGeom prst="rect">
            <a:avLst/>
          </a:prstGeom>
          <a:noFill/>
          <a:ln/>
        </p:spPr>
        <p:txBody>
          <a:bodyPr wrap="square" lIns="0" tIns="0" rIns="0" bIns="0" rtlCol="0" anchor="t"/>
          <a:lstStyle/>
          <a:p>
            <a:pPr marL="0" indent="0">
              <a:buNone/>
            </a:pPr>
            <a:r>
              <a:rPr lang="en-US" sz="1000" dirty="0">
                <a:solidFill>
                  <a:srgbClr val="5F6B7A"/>
                </a:solidFill>
                <a:latin typeface="Courier New" pitchFamily="34" charset="0"/>
                <a:ea typeface="Courier New" pitchFamily="34" charset="-122"/>
                <a:cs typeface="Courier New" pitchFamily="34" charset="-120"/>
              </a:rPr>
              <a:t>mgmt0</a:t>
            </a:r>
            <a:endParaRPr lang="en-US" sz="1000" dirty="0"/>
          </a:p>
        </p:txBody>
      </p:sp>
      <p:sp>
        <p:nvSpPr>
          <p:cNvPr id="26" name="Text 22"/>
          <p:cNvSpPr txBox="1"/>
          <p:nvPr/>
        </p:nvSpPr>
        <p:spPr>
          <a:xfrm>
            <a:off x="868680" y="3611880"/>
            <a:ext cx="2560320" cy="237744"/>
          </a:xfrm>
          <a:prstGeom prst="rect">
            <a:avLst/>
          </a:prstGeom>
          <a:noFill/>
          <a:ln/>
        </p:spPr>
        <p:txBody>
          <a:bodyPr wrap="square" lIns="0" tIns="0" rIns="0" bIns="0" rtlCol="0" anchor="t"/>
          <a:lstStyle/>
          <a:p>
            <a:pPr marL="0" indent="0">
              <a:buNone/>
            </a:pPr>
            <a:r>
              <a:rPr lang="en-US" sz="1000" i="1" dirty="0">
                <a:solidFill>
                  <a:srgbClr val="4A6A8F"/>
                </a:solidFill>
                <a:latin typeface="Tahoma" pitchFamily="34" charset="0"/>
                <a:ea typeface="Tahoma" pitchFamily="34" charset="-122"/>
                <a:cs typeface="Tahoma" pitchFamily="34" charset="-120"/>
              </a:rPr>
              <a:t>เข้าจาก Mac: DevNet VPN → SSH</a:t>
            </a:r>
            <a:endParaRPr lang="en-US" sz="1000" dirty="0"/>
          </a:p>
        </p:txBody>
      </p:sp>
      <p:sp>
        <p:nvSpPr>
          <p:cNvPr id="27" name="Shape 23"/>
          <p:cNvSpPr/>
          <p:nvPr/>
        </p:nvSpPr>
        <p:spPr>
          <a:xfrm>
            <a:off x="1737360" y="4343400"/>
            <a:ext cx="1600200" cy="1097280"/>
          </a:xfrm>
          <a:prstGeom prst="roundRect">
            <a:avLst>
              <a:gd name="adj" fmla="val 8333"/>
            </a:avLst>
          </a:prstGeom>
          <a:solidFill>
            <a:srgbClr val="FFFFFF"/>
          </a:solidFill>
          <a:ln w="19050">
            <a:solidFill>
              <a:srgbClr val="13233F"/>
            </a:solidFill>
            <a:prstDash val="solid"/>
          </a:ln>
        </p:spPr>
        <p:txBody>
          <a:bodyPr/>
          <a:lstStyle/>
          <a:p>
            <a:endParaRPr lang="en-TH"/>
          </a:p>
        </p:txBody>
      </p:sp>
      <p:sp>
        <p:nvSpPr>
          <p:cNvPr id="28" name="Text 24"/>
          <p:cNvSpPr txBox="1"/>
          <p:nvPr/>
        </p:nvSpPr>
        <p:spPr>
          <a:xfrm>
            <a:off x="2304288" y="4480560"/>
            <a:ext cx="914400" cy="411480"/>
          </a:xfrm>
          <a:prstGeom prst="rect">
            <a:avLst/>
          </a:prstGeom>
          <a:noFill/>
          <a:ln/>
        </p:spPr>
        <p:txBody>
          <a:bodyPr wrap="square" lIns="0" tIns="0" rIns="0" bIns="0" rtlCol="0" anchor="ctr"/>
          <a:lstStyle/>
          <a:p>
            <a:pPr marL="0" indent="0">
              <a:buNone/>
            </a:pPr>
            <a:r>
              <a:rPr lang="en-US" sz="1800" b="1" dirty="0">
                <a:solidFill>
                  <a:srgbClr val="13233F"/>
                </a:solidFill>
                <a:latin typeface="Tahoma" pitchFamily="34" charset="0"/>
                <a:ea typeface="Tahoma" pitchFamily="34" charset="-122"/>
                <a:cs typeface="Tahoma" pitchFamily="34" charset="-120"/>
              </a:rPr>
              <a:t>R1</a:t>
            </a:r>
            <a:endParaRPr lang="en-US" sz="1800" dirty="0"/>
          </a:p>
        </p:txBody>
      </p:sp>
      <p:sp>
        <p:nvSpPr>
          <p:cNvPr id="29" name="Text 25"/>
          <p:cNvSpPr txBox="1"/>
          <p:nvPr/>
        </p:nvSpPr>
        <p:spPr>
          <a:xfrm>
            <a:off x="2304288" y="4873752"/>
            <a:ext cx="914400" cy="237744"/>
          </a:xfrm>
          <a:prstGeom prst="rect">
            <a:avLst/>
          </a:prstGeom>
          <a:noFill/>
          <a:ln/>
        </p:spPr>
        <p:txBody>
          <a:bodyPr wrap="square" lIns="0" tIns="0" rIns="0" bIns="0" rtlCol="0" anchor="t"/>
          <a:lstStyle/>
          <a:p>
            <a:pPr marL="0" indent="0">
              <a:buNone/>
            </a:pPr>
            <a:r>
              <a:rPr lang="en-US" sz="1050" dirty="0">
                <a:solidFill>
                  <a:srgbClr val="5F6B7A"/>
                </a:solidFill>
                <a:latin typeface="Tahoma" pitchFamily="34" charset="0"/>
                <a:ea typeface="Tahoma" pitchFamily="34" charset="-122"/>
                <a:cs typeface="Tahoma" pitchFamily="34" charset="-120"/>
              </a:rPr>
              <a:t>IOSv</a:t>
            </a:r>
            <a:endParaRPr lang="en-US" sz="1050" dirty="0"/>
          </a:p>
        </p:txBody>
      </p:sp>
      <p:sp>
        <p:nvSpPr>
          <p:cNvPr id="30" name="Text 26"/>
          <p:cNvSpPr txBox="1"/>
          <p:nvPr/>
        </p:nvSpPr>
        <p:spPr>
          <a:xfrm>
            <a:off x="1645920" y="5495544"/>
            <a:ext cx="1783080" cy="256032"/>
          </a:xfrm>
          <a:prstGeom prst="rect">
            <a:avLst/>
          </a:prstGeom>
          <a:noFill/>
          <a:ln/>
        </p:spPr>
        <p:txBody>
          <a:bodyPr wrap="square" lIns="0" tIns="0" rIns="0" bIns="0" rtlCol="0" anchor="t"/>
          <a:lstStyle/>
          <a:p>
            <a:pPr marL="0" indent="0" algn="ctr">
              <a:buNone/>
            </a:pPr>
            <a:r>
              <a:rPr lang="en-US" sz="1050" b="1" dirty="0">
                <a:solidFill>
                  <a:srgbClr val="A9812F"/>
                </a:solidFill>
                <a:latin typeface="Courier New" pitchFamily="34" charset="0"/>
                <a:ea typeface="Courier New" pitchFamily="34" charset="-122"/>
                <a:cs typeface="Courier New" pitchFamily="34" charset="-120"/>
              </a:rPr>
              <a:t>Lo0 1.1.1.1/32</a:t>
            </a:r>
            <a:endParaRPr lang="en-US" sz="1050" dirty="0"/>
          </a:p>
        </p:txBody>
      </p:sp>
      <p:sp>
        <p:nvSpPr>
          <p:cNvPr id="31" name="Shape 27"/>
          <p:cNvSpPr/>
          <p:nvPr/>
        </p:nvSpPr>
        <p:spPr>
          <a:xfrm flipH="1">
            <a:off x="2537460" y="3337560"/>
            <a:ext cx="2148840" cy="1005840"/>
          </a:xfrm>
          <a:prstGeom prst="line">
            <a:avLst/>
          </a:prstGeom>
          <a:noFill/>
          <a:ln w="19050">
            <a:solidFill>
              <a:srgbClr val="4A6A8F"/>
            </a:solidFill>
            <a:prstDash val="dash"/>
          </a:ln>
        </p:spPr>
        <p:txBody>
          <a:bodyPr/>
          <a:lstStyle/>
          <a:p>
            <a:endParaRPr lang="en-TH"/>
          </a:p>
        </p:txBody>
      </p:sp>
      <p:sp>
        <p:nvSpPr>
          <p:cNvPr id="32" name="Text 28"/>
          <p:cNvSpPr txBox="1"/>
          <p:nvPr/>
        </p:nvSpPr>
        <p:spPr>
          <a:xfrm>
            <a:off x="1303020" y="4014216"/>
            <a:ext cx="1188720" cy="256032"/>
          </a:xfrm>
          <a:prstGeom prst="rect">
            <a:avLst/>
          </a:prstGeom>
          <a:noFill/>
          <a:ln/>
        </p:spPr>
        <p:txBody>
          <a:bodyPr wrap="square" lIns="0" tIns="0" rIns="0" bIns="0" rtlCol="0" anchor="t"/>
          <a:lstStyle/>
          <a:p>
            <a:pPr marL="0" indent="0" algn="r">
              <a:buNone/>
            </a:pPr>
            <a:r>
              <a:rPr lang="en-US" sz="1000" dirty="0">
                <a:solidFill>
                  <a:srgbClr val="4A6A8F"/>
                </a:solidFill>
                <a:latin typeface="Courier New" pitchFamily="34" charset="0"/>
                <a:ea typeface="Courier New" pitchFamily="34" charset="-122"/>
                <a:cs typeface="Courier New" pitchFamily="34" charset="-120"/>
              </a:rPr>
              <a:t>Gi0/0 .11</a:t>
            </a:r>
            <a:endParaRPr lang="en-US" sz="1000" dirty="0"/>
          </a:p>
        </p:txBody>
      </p:sp>
      <p:sp>
        <p:nvSpPr>
          <p:cNvPr id="33" name="Text 29"/>
          <p:cNvSpPr txBox="1"/>
          <p:nvPr/>
        </p:nvSpPr>
        <p:spPr>
          <a:xfrm>
            <a:off x="3383280" y="4572000"/>
            <a:ext cx="365760" cy="237744"/>
          </a:xfrm>
          <a:prstGeom prst="rect">
            <a:avLst/>
          </a:prstGeom>
          <a:noFill/>
          <a:ln/>
        </p:spPr>
        <p:txBody>
          <a:bodyPr wrap="square" lIns="0" tIns="0" rIns="0" bIns="0" rtlCol="0" anchor="t"/>
          <a:lstStyle/>
          <a:p>
            <a:pPr marL="0" indent="0" algn="ctr">
              <a:buNone/>
            </a:pPr>
            <a:r>
              <a:rPr lang="en-US" sz="1000" b="1" dirty="0">
                <a:solidFill>
                  <a:srgbClr val="13233F"/>
                </a:solidFill>
                <a:latin typeface="Courier New" pitchFamily="34" charset="0"/>
                <a:ea typeface="Courier New" pitchFamily="34" charset="-122"/>
                <a:cs typeface="Courier New" pitchFamily="34" charset="-120"/>
              </a:rPr>
              <a:t>.1</a:t>
            </a:r>
            <a:endParaRPr lang="en-US" sz="1000" dirty="0"/>
          </a:p>
        </p:txBody>
      </p:sp>
      <p:sp>
        <p:nvSpPr>
          <p:cNvPr id="34" name="Shape 30"/>
          <p:cNvSpPr/>
          <p:nvPr/>
        </p:nvSpPr>
        <p:spPr>
          <a:xfrm>
            <a:off x="5120640" y="4343400"/>
            <a:ext cx="1600200" cy="1097280"/>
          </a:xfrm>
          <a:prstGeom prst="roundRect">
            <a:avLst>
              <a:gd name="adj" fmla="val 8333"/>
            </a:avLst>
          </a:prstGeom>
          <a:solidFill>
            <a:srgbClr val="FFFFFF"/>
          </a:solidFill>
          <a:ln w="19050">
            <a:solidFill>
              <a:srgbClr val="13233F"/>
            </a:solidFill>
            <a:prstDash val="solid"/>
          </a:ln>
        </p:spPr>
        <p:txBody>
          <a:bodyPr/>
          <a:lstStyle/>
          <a:p>
            <a:endParaRPr lang="en-TH"/>
          </a:p>
        </p:txBody>
      </p:sp>
      <p:sp>
        <p:nvSpPr>
          <p:cNvPr id="35" name="Text 31"/>
          <p:cNvSpPr txBox="1"/>
          <p:nvPr/>
        </p:nvSpPr>
        <p:spPr>
          <a:xfrm>
            <a:off x="5687568" y="4480560"/>
            <a:ext cx="914400" cy="411480"/>
          </a:xfrm>
          <a:prstGeom prst="rect">
            <a:avLst/>
          </a:prstGeom>
          <a:noFill/>
          <a:ln/>
        </p:spPr>
        <p:txBody>
          <a:bodyPr wrap="square" lIns="0" tIns="0" rIns="0" bIns="0" rtlCol="0" anchor="ctr"/>
          <a:lstStyle/>
          <a:p>
            <a:pPr marL="0" indent="0">
              <a:buNone/>
            </a:pPr>
            <a:r>
              <a:rPr lang="en-US" sz="1800" b="1" dirty="0">
                <a:solidFill>
                  <a:srgbClr val="13233F"/>
                </a:solidFill>
                <a:latin typeface="Tahoma" pitchFamily="34" charset="0"/>
                <a:ea typeface="Tahoma" pitchFamily="34" charset="-122"/>
                <a:cs typeface="Tahoma" pitchFamily="34" charset="-120"/>
              </a:rPr>
              <a:t>R2</a:t>
            </a:r>
            <a:endParaRPr lang="en-US" sz="1800" dirty="0"/>
          </a:p>
        </p:txBody>
      </p:sp>
      <p:sp>
        <p:nvSpPr>
          <p:cNvPr id="36" name="Text 32"/>
          <p:cNvSpPr txBox="1"/>
          <p:nvPr/>
        </p:nvSpPr>
        <p:spPr>
          <a:xfrm>
            <a:off x="5687568" y="4873752"/>
            <a:ext cx="914400" cy="237744"/>
          </a:xfrm>
          <a:prstGeom prst="rect">
            <a:avLst/>
          </a:prstGeom>
          <a:noFill/>
          <a:ln/>
        </p:spPr>
        <p:txBody>
          <a:bodyPr wrap="square" lIns="0" tIns="0" rIns="0" bIns="0" rtlCol="0" anchor="t"/>
          <a:lstStyle/>
          <a:p>
            <a:pPr marL="0" indent="0">
              <a:buNone/>
            </a:pPr>
            <a:r>
              <a:rPr lang="en-US" sz="1050" dirty="0">
                <a:solidFill>
                  <a:srgbClr val="5F6B7A"/>
                </a:solidFill>
                <a:latin typeface="Tahoma" pitchFamily="34" charset="0"/>
                <a:ea typeface="Tahoma" pitchFamily="34" charset="-122"/>
                <a:cs typeface="Tahoma" pitchFamily="34" charset="-120"/>
              </a:rPr>
              <a:t>IOSv</a:t>
            </a:r>
            <a:endParaRPr lang="en-US" sz="1050" dirty="0"/>
          </a:p>
        </p:txBody>
      </p:sp>
      <p:sp>
        <p:nvSpPr>
          <p:cNvPr id="37" name="Text 33"/>
          <p:cNvSpPr txBox="1"/>
          <p:nvPr/>
        </p:nvSpPr>
        <p:spPr>
          <a:xfrm>
            <a:off x="5029200" y="5495544"/>
            <a:ext cx="1783080" cy="256032"/>
          </a:xfrm>
          <a:prstGeom prst="rect">
            <a:avLst/>
          </a:prstGeom>
          <a:noFill/>
          <a:ln/>
        </p:spPr>
        <p:txBody>
          <a:bodyPr wrap="square" lIns="0" tIns="0" rIns="0" bIns="0" rtlCol="0" anchor="t"/>
          <a:lstStyle/>
          <a:p>
            <a:pPr marL="0" indent="0" algn="ctr">
              <a:buNone/>
            </a:pPr>
            <a:r>
              <a:rPr lang="en-US" sz="1050" b="1" dirty="0">
                <a:solidFill>
                  <a:srgbClr val="A9812F"/>
                </a:solidFill>
                <a:latin typeface="Courier New" pitchFamily="34" charset="0"/>
                <a:ea typeface="Courier New" pitchFamily="34" charset="-122"/>
                <a:cs typeface="Courier New" pitchFamily="34" charset="-120"/>
              </a:rPr>
              <a:t>Lo0 2.2.2.2/32</a:t>
            </a:r>
            <a:endParaRPr lang="en-US" sz="1050" dirty="0"/>
          </a:p>
        </p:txBody>
      </p:sp>
      <p:sp>
        <p:nvSpPr>
          <p:cNvPr id="38" name="Shape 34"/>
          <p:cNvSpPr/>
          <p:nvPr/>
        </p:nvSpPr>
        <p:spPr>
          <a:xfrm>
            <a:off x="5234940" y="3337560"/>
            <a:ext cx="685800" cy="1005840"/>
          </a:xfrm>
          <a:prstGeom prst="line">
            <a:avLst/>
          </a:prstGeom>
          <a:noFill/>
          <a:ln w="19050">
            <a:solidFill>
              <a:srgbClr val="4A6A8F"/>
            </a:solidFill>
            <a:prstDash val="dash"/>
          </a:ln>
        </p:spPr>
        <p:txBody>
          <a:bodyPr/>
          <a:lstStyle/>
          <a:p>
            <a:endParaRPr lang="en-TH"/>
          </a:p>
        </p:txBody>
      </p:sp>
      <p:sp>
        <p:nvSpPr>
          <p:cNvPr id="39" name="Text 35"/>
          <p:cNvSpPr txBox="1"/>
          <p:nvPr/>
        </p:nvSpPr>
        <p:spPr>
          <a:xfrm>
            <a:off x="5993892" y="4014216"/>
            <a:ext cx="1188720" cy="256032"/>
          </a:xfrm>
          <a:prstGeom prst="rect">
            <a:avLst/>
          </a:prstGeom>
          <a:noFill/>
          <a:ln/>
        </p:spPr>
        <p:txBody>
          <a:bodyPr wrap="square" lIns="0" tIns="0" rIns="0" bIns="0" rtlCol="0" anchor="t"/>
          <a:lstStyle/>
          <a:p>
            <a:pPr marL="0" indent="0" algn="l">
              <a:buNone/>
            </a:pPr>
            <a:r>
              <a:rPr lang="en-US" sz="1000" dirty="0">
                <a:solidFill>
                  <a:srgbClr val="4A6A8F"/>
                </a:solidFill>
                <a:latin typeface="Courier New" pitchFamily="34" charset="0"/>
                <a:ea typeface="Courier New" pitchFamily="34" charset="-122"/>
                <a:cs typeface="Courier New" pitchFamily="34" charset="-120"/>
              </a:rPr>
              <a:t>Gi0/0 .12</a:t>
            </a:r>
            <a:endParaRPr lang="en-US" sz="1000" dirty="0"/>
          </a:p>
        </p:txBody>
      </p:sp>
      <p:sp>
        <p:nvSpPr>
          <p:cNvPr id="40" name="Text 36"/>
          <p:cNvSpPr txBox="1"/>
          <p:nvPr/>
        </p:nvSpPr>
        <p:spPr>
          <a:xfrm>
            <a:off x="4709160" y="4572000"/>
            <a:ext cx="365760" cy="237744"/>
          </a:xfrm>
          <a:prstGeom prst="rect">
            <a:avLst/>
          </a:prstGeom>
          <a:noFill/>
          <a:ln/>
        </p:spPr>
        <p:txBody>
          <a:bodyPr wrap="square" lIns="0" tIns="0" rIns="0" bIns="0" rtlCol="0" anchor="t"/>
          <a:lstStyle/>
          <a:p>
            <a:pPr marL="0" indent="0" algn="ctr">
              <a:buNone/>
            </a:pPr>
            <a:r>
              <a:rPr lang="en-US" sz="1000" b="1" dirty="0">
                <a:solidFill>
                  <a:srgbClr val="13233F"/>
                </a:solidFill>
                <a:latin typeface="Courier New" pitchFamily="34" charset="0"/>
                <a:ea typeface="Courier New" pitchFamily="34" charset="-122"/>
                <a:cs typeface="Courier New" pitchFamily="34" charset="-120"/>
              </a:rPr>
              <a:t>.2</a:t>
            </a:r>
            <a:endParaRPr lang="en-US" sz="1000" dirty="0"/>
          </a:p>
        </p:txBody>
      </p:sp>
      <p:pic>
        <p:nvPicPr>
          <p:cNvPr id="41" name="Image 2" descr="preencoded.png"/>
          <p:cNvPicPr>
            <a:picLocks noChangeAspect="1"/>
          </p:cNvPicPr>
          <p:nvPr/>
        </p:nvPicPr>
        <p:blipFill>
          <a:blip r:embed="rId5"/>
          <a:stretch>
            <a:fillRect/>
          </a:stretch>
        </p:blipFill>
        <p:spPr>
          <a:xfrm>
            <a:off x="1865376" y="4526280"/>
            <a:ext cx="384048" cy="384048"/>
          </a:xfrm>
          <a:prstGeom prst="rect">
            <a:avLst/>
          </a:prstGeom>
        </p:spPr>
      </p:pic>
      <p:pic>
        <p:nvPicPr>
          <p:cNvPr id="42" name="Image 3" descr="preencoded.png"/>
          <p:cNvPicPr>
            <a:picLocks noChangeAspect="1"/>
          </p:cNvPicPr>
          <p:nvPr/>
        </p:nvPicPr>
        <p:blipFill>
          <a:blip r:embed="rId5"/>
          <a:stretch>
            <a:fillRect/>
          </a:stretch>
        </p:blipFill>
        <p:spPr>
          <a:xfrm>
            <a:off x="5248656" y="4526280"/>
            <a:ext cx="384048" cy="384048"/>
          </a:xfrm>
          <a:prstGeom prst="rect">
            <a:avLst/>
          </a:prstGeom>
        </p:spPr>
      </p:pic>
      <p:sp>
        <p:nvSpPr>
          <p:cNvPr id="43" name="Shape 37"/>
          <p:cNvSpPr/>
          <p:nvPr/>
        </p:nvSpPr>
        <p:spPr>
          <a:xfrm>
            <a:off x="3337560" y="4892040"/>
            <a:ext cx="1783080" cy="0"/>
          </a:xfrm>
          <a:prstGeom prst="line">
            <a:avLst/>
          </a:prstGeom>
          <a:noFill/>
          <a:ln w="38100">
            <a:solidFill>
              <a:srgbClr val="13233F"/>
            </a:solidFill>
            <a:prstDash val="solid"/>
          </a:ln>
        </p:spPr>
        <p:txBody>
          <a:bodyPr/>
          <a:lstStyle/>
          <a:p>
            <a:endParaRPr lang="en-TH"/>
          </a:p>
        </p:txBody>
      </p:sp>
      <p:sp>
        <p:nvSpPr>
          <p:cNvPr id="44" name="Shape 38"/>
          <p:cNvSpPr/>
          <p:nvPr/>
        </p:nvSpPr>
        <p:spPr>
          <a:xfrm>
            <a:off x="3447288" y="5001768"/>
            <a:ext cx="1563624" cy="566928"/>
          </a:xfrm>
          <a:prstGeom prst="roundRect">
            <a:avLst>
              <a:gd name="adj" fmla="val 8065"/>
            </a:avLst>
          </a:prstGeom>
          <a:solidFill>
            <a:srgbClr val="F6F0E3"/>
          </a:solidFill>
          <a:ln w="9525">
            <a:solidFill>
              <a:srgbClr val="D9BE82"/>
            </a:solidFill>
            <a:prstDash val="solid"/>
          </a:ln>
        </p:spPr>
        <p:txBody>
          <a:bodyPr/>
          <a:lstStyle/>
          <a:p>
            <a:endParaRPr lang="en-TH"/>
          </a:p>
        </p:txBody>
      </p:sp>
      <p:sp>
        <p:nvSpPr>
          <p:cNvPr id="45" name="Text 39"/>
          <p:cNvSpPr txBox="1"/>
          <p:nvPr/>
        </p:nvSpPr>
        <p:spPr>
          <a:xfrm>
            <a:off x="3447288" y="5001768"/>
            <a:ext cx="1563624" cy="56692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10.12.12.0/30</a:t>
            </a:r>
            <a:endParaRPr lang="en-US" sz="1050" dirty="0"/>
          </a:p>
          <a:p>
            <a:pPr marL="0" indent="0" algn="ctr">
              <a:buNone/>
            </a:pPr>
            <a:r>
              <a:rPr lang="en-US" sz="1050" dirty="0">
                <a:solidFill>
                  <a:srgbClr val="13233F"/>
                </a:solidFill>
                <a:latin typeface="Tahoma" pitchFamily="34" charset="0"/>
                <a:ea typeface="Tahoma" pitchFamily="34" charset="-122"/>
                <a:cs typeface="Tahoma" pitchFamily="34" charset="-120"/>
              </a:rPr>
              <a:t>Gi0/1 · OSPF Area 0</a:t>
            </a:r>
            <a:endParaRPr lang="en-US" sz="10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909560" y="1783080"/>
          <a:ext cx="3733495" cy="2487168"/>
        </p:xfrm>
        <a:graphic>
          <a:graphicData uri="http://schemas.openxmlformats.org/drawingml/2006/table">
            <a:tbl>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41855">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อุปกรณ์</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Interface</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IP Address</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Host</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mgmt0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192.168.100.10/24</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rowSpan="3">
                  <a:txBody>
                    <a:bodyPr/>
                    <a:lstStyle/>
                    <a:p>
                      <a:pPr marL="0" indent="0">
                        <a:buNone/>
                      </a:pPr>
                      <a:r>
                        <a:rPr lang="en-US" sz="1100" b="1" dirty="0">
                          <a:solidFill>
                            <a:srgbClr val="1E2733"/>
                          </a:solidFill>
                          <a:latin typeface="Tahoma" pitchFamily="34" charset="0"/>
                          <a:ea typeface="Tahoma" pitchFamily="34" charset="-122"/>
                          <a:cs typeface="Tahoma" pitchFamily="34" charset="-120"/>
                        </a:rPr>
                        <a:t>R1</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Gi0/0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192.168.100.11/24</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vMerge="1">
                  <a:txBody>
                    <a:bodyPr/>
                    <a:lstStyle/>
                    <a:p>
                      <a:endParaRPr lang="en-TH"/>
                    </a:p>
                  </a:txBody>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Gi0/1</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10.12.12.1/30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vMerge="1">
                  <a:txBody>
                    <a:bodyPr/>
                    <a:lstStyle/>
                    <a:p>
                      <a:endParaRPr lang="en-TH"/>
                    </a:p>
                  </a:txBody>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Lo0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1.1.1.1/32</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rowSpan="3">
                  <a:txBody>
                    <a:bodyPr/>
                    <a:lstStyle/>
                    <a:p>
                      <a:pPr marL="0" indent="0">
                        <a:buNone/>
                      </a:pPr>
                      <a:r>
                        <a:rPr lang="en-US" sz="1100" b="1" dirty="0">
                          <a:solidFill>
                            <a:srgbClr val="1E2733"/>
                          </a:solidFill>
                          <a:latin typeface="Tahoma" pitchFamily="34" charset="0"/>
                          <a:ea typeface="Tahoma" pitchFamily="34" charset="-122"/>
                          <a:cs typeface="Tahoma" pitchFamily="34" charset="-120"/>
                        </a:rPr>
                        <a:t>R2</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Gi0/0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192.168.100.12/24</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vMerge="1">
                  <a:txBody>
                    <a:bodyPr/>
                    <a:lstStyle/>
                    <a:p>
                      <a:endParaRPr lang="en-TH"/>
                    </a:p>
                  </a:txBody>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Gi0/1</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10.12.12.2/30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vMerge="1">
                  <a:txBody>
                    <a:bodyPr/>
                    <a:lstStyle/>
                    <a:p>
                      <a:endParaRPr lang="en-TH"/>
                    </a:p>
                  </a:txBody>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Lo0</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50" dirty="0">
                          <a:solidFill>
                            <a:srgbClr val="1E2733"/>
                          </a:solidFill>
                          <a:latin typeface="Courier New" pitchFamily="34" charset="0"/>
                          <a:ea typeface="Courier New" pitchFamily="34" charset="-122"/>
                          <a:cs typeface="Courier New" pitchFamily="34" charset="-120"/>
                        </a:rPr>
                        <a:t>2.2.2.2/32</a:t>
                      </a:r>
                      <a:endParaRPr lang="en-US" sz="105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7" name="Shape 40"/>
          <p:cNvSpPr/>
          <p:nvPr/>
        </p:nvSpPr>
        <p:spPr>
          <a:xfrm>
            <a:off x="7909560" y="4480560"/>
            <a:ext cx="3733495" cy="1737360"/>
          </a:xfrm>
          <a:prstGeom prst="roundRect">
            <a:avLst>
              <a:gd name="adj" fmla="val 3158"/>
            </a:avLst>
          </a:prstGeom>
          <a:solidFill>
            <a:srgbClr val="F3F5F8"/>
          </a:solidFill>
          <a:ln w="9525">
            <a:solidFill>
              <a:srgbClr val="D6DCE4"/>
            </a:solidFill>
            <a:prstDash val="solid"/>
          </a:ln>
        </p:spPr>
        <p:txBody>
          <a:bodyPr/>
          <a:lstStyle/>
          <a:p>
            <a:endParaRPr lang="en-TH"/>
          </a:p>
        </p:txBody>
      </p:sp>
      <p:sp>
        <p:nvSpPr>
          <p:cNvPr id="48" name="Text 41"/>
          <p:cNvSpPr txBox="1"/>
          <p:nvPr/>
        </p:nvSpPr>
        <p:spPr>
          <a:xfrm>
            <a:off x="8074152" y="4553712"/>
            <a:ext cx="3459175" cy="274320"/>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ซอฟต์แวร์บน Automation Host</a:t>
            </a:r>
            <a:endParaRPr lang="en-US" sz="1250" dirty="0"/>
          </a:p>
        </p:txBody>
      </p:sp>
      <p:sp>
        <p:nvSpPr>
          <p:cNvPr id="49" name="Text 42"/>
          <p:cNvSpPr txBox="1"/>
          <p:nvPr/>
        </p:nvSpPr>
        <p:spPr>
          <a:xfrm>
            <a:off x="8074152" y="4864608"/>
            <a:ext cx="3459175" cy="13258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ansible-core 2.21 + cisco.ios, ansible.netcommon</a:t>
            </a:r>
            <a:endParaRPr lang="en-US" sz="1100" dirty="0"/>
          </a:p>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paramiko (SSH library ของ network_cli)</a:t>
            </a:r>
            <a:endParaRPr lang="en-US" sz="1100" dirty="0"/>
          </a:p>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rsyslog รับ log · Packet Capture ของ CML</a:t>
            </a:r>
            <a:endParaRPr lang="en-US" sz="1100" dirty="0"/>
          </a:p>
          <a:p>
            <a:pPr marL="177800" indent="-177800">
              <a:spcAft>
                <a:spcPts val="300"/>
              </a:spcAft>
              <a:buSzPct val="100000"/>
              <a:buChar char="•"/>
            </a:pPr>
            <a:r>
              <a:rPr lang="en-US" sz="1100" b="1" dirty="0">
                <a:solidFill>
                  <a:srgbClr val="B3261E"/>
                </a:solidFill>
                <a:latin typeface="Tahoma" pitchFamily="34" charset="0"/>
                <a:ea typeface="Tahoma" pitchFamily="34" charset="-122"/>
                <a:cs typeface="Tahoma" pitchFamily="34" charset="-120"/>
              </a:rPr>
              <a:t>ไม่ใช้ Packet Tracer: </a:t>
            </a:r>
            <a:r>
              <a:rPr lang="en-US" sz="1100" dirty="0">
                <a:solidFill>
                  <a:srgbClr val="1E2733"/>
                </a:solidFill>
                <a:latin typeface="Tahoma" pitchFamily="34" charset="0"/>
                <a:ea typeface="Tahoma" pitchFamily="34" charset="-122"/>
                <a:cs typeface="Tahoma" pitchFamily="34" charset="-120"/>
              </a:rPr>
              <a:t>ไม่รองรับ EEM และต่อ Ansible ไม่ได้</a:t>
            </a:r>
            <a:endParaRPr lang="en-US" sz="1100" dirty="0"/>
          </a:p>
        </p:txBody>
      </p:sp>
      <p:sp>
        <p:nvSpPr>
          <p:cNvPr id="50" name="Text 43"/>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51" name="Text 44"/>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5D93D6D-001E-8D84-B52D-1AB63604B9F0}"/>
              </a:ext>
            </a:extLst>
          </p:cNvPr>
          <p:cNvPicPr>
            <a:picLocks noChangeAspect="1"/>
          </p:cNvPicPr>
          <p:nvPr/>
        </p:nvPicPr>
        <p:blipFill>
          <a:blip r:embed="rId2"/>
          <a:stretch>
            <a:fillRect/>
          </a:stretch>
        </p:blipFill>
        <p:spPr>
          <a:xfrm>
            <a:off x="1491813" y="643467"/>
            <a:ext cx="9208373" cy="5571065"/>
          </a:xfrm>
          <a:prstGeom prst="rect">
            <a:avLst/>
          </a:prstGeom>
          <a:ln>
            <a:noFill/>
          </a:ln>
        </p:spPr>
      </p:pic>
    </p:spTree>
    <p:extLst>
      <p:ext uri="{BB962C8B-B14F-4D97-AF65-F5344CB8AC3E}">
        <p14:creationId xmlns:p14="http://schemas.microsoft.com/office/powerpoint/2010/main" val="4183621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Step 0 — เตรียมอุปกรณ์ (Day-0)</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คอนฟิกขั้นต่ำบน R1 และ R2 (ในแลบใส่ไว้ในไฟล์ lab ของ CML ให้บูตพร้อมใช้) — หลังจากนี้ทุกอย่างทำผ่าน Ansible</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5394960" cy="4297680"/>
          </a:xfrm>
          <a:prstGeom prst="roundRect">
            <a:avLst>
              <a:gd name="adj" fmla="val 1277"/>
            </a:avLst>
          </a:prstGeom>
          <a:solidFill>
            <a:srgbClr val="0F1A2B"/>
          </a:solidFill>
          <a:ln w="12700">
            <a:solidFill>
              <a:srgbClr val="0F1A2B"/>
            </a:solidFill>
            <a:prstDash val="solid"/>
          </a:ln>
        </p:spPr>
        <p:txBody>
          <a:bodyPr/>
          <a:lstStyle/>
          <a:p>
            <a:endParaRPr lang="en-TH"/>
          </a:p>
        </p:txBody>
      </p:sp>
      <p:sp>
        <p:nvSpPr>
          <p:cNvPr id="16" name="Shape 14"/>
          <p:cNvSpPr/>
          <p:nvPr/>
        </p:nvSpPr>
        <p:spPr>
          <a:xfrm>
            <a:off x="694944" y="1901952"/>
            <a:ext cx="91440" cy="91440"/>
          </a:xfrm>
          <a:prstGeom prst="ellipse">
            <a:avLst/>
          </a:prstGeom>
          <a:solidFill>
            <a:srgbClr val="E06C6C"/>
          </a:solidFill>
          <a:ln w="12700">
            <a:solidFill>
              <a:srgbClr val="E06C6C"/>
            </a:solidFill>
            <a:prstDash val="solid"/>
          </a:ln>
        </p:spPr>
        <p:txBody>
          <a:bodyPr/>
          <a:lstStyle/>
          <a:p>
            <a:endParaRPr lang="en-TH"/>
          </a:p>
        </p:txBody>
      </p:sp>
      <p:sp>
        <p:nvSpPr>
          <p:cNvPr id="17" name="Shape 15"/>
          <p:cNvSpPr/>
          <p:nvPr/>
        </p:nvSpPr>
        <p:spPr>
          <a:xfrm>
            <a:off x="850392" y="1901952"/>
            <a:ext cx="91440" cy="91440"/>
          </a:xfrm>
          <a:prstGeom prst="ellipse">
            <a:avLst/>
          </a:prstGeom>
          <a:solidFill>
            <a:srgbClr val="E0B25C"/>
          </a:solidFill>
          <a:ln w="12700">
            <a:solidFill>
              <a:srgbClr val="E0B25C"/>
            </a:solidFill>
            <a:prstDash val="solid"/>
          </a:ln>
        </p:spPr>
        <p:txBody>
          <a:bodyPr/>
          <a:lstStyle/>
          <a:p>
            <a:endParaRPr lang="en-TH"/>
          </a:p>
        </p:txBody>
      </p:sp>
      <p:sp>
        <p:nvSpPr>
          <p:cNvPr id="18" name="Shape 16"/>
          <p:cNvSpPr/>
          <p:nvPr/>
        </p:nvSpPr>
        <p:spPr>
          <a:xfrm>
            <a:off x="1005840" y="1901952"/>
            <a:ext cx="91440" cy="91440"/>
          </a:xfrm>
          <a:prstGeom prst="ellipse">
            <a:avLst/>
          </a:prstGeom>
          <a:solidFill>
            <a:srgbClr val="6CC08B"/>
          </a:solidFill>
          <a:ln w="12700">
            <a:solidFill>
              <a:srgbClr val="6CC08B"/>
            </a:solidFill>
            <a:prstDash val="solid"/>
          </a:ln>
        </p:spPr>
        <p:txBody>
          <a:bodyPr/>
          <a:lstStyle/>
          <a:p>
            <a:endParaRPr lang="en-TH"/>
          </a:p>
        </p:txBody>
      </p:sp>
      <p:sp>
        <p:nvSpPr>
          <p:cNvPr id="19" name="Text 17"/>
          <p:cNvSpPr txBox="1"/>
          <p:nvPr/>
        </p:nvSpPr>
        <p:spPr>
          <a:xfrm>
            <a:off x="1207008" y="1819656"/>
            <a:ext cx="4617720"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R1 — Day-0 config (R2: เปลี่ยน hostname และ IP)</a:t>
            </a:r>
            <a:endParaRPr lang="en-US" sz="1000" dirty="0"/>
          </a:p>
        </p:txBody>
      </p:sp>
      <p:sp>
        <p:nvSpPr>
          <p:cNvPr id="20" name="Shape 18"/>
          <p:cNvSpPr/>
          <p:nvPr/>
        </p:nvSpPr>
        <p:spPr>
          <a:xfrm>
            <a:off x="548640" y="2112264"/>
            <a:ext cx="5394960" cy="0"/>
          </a:xfrm>
          <a:prstGeom prst="line">
            <a:avLst/>
          </a:prstGeom>
          <a:noFill/>
          <a:ln w="9525">
            <a:solidFill>
              <a:srgbClr val="26364F"/>
            </a:solidFill>
            <a:prstDash val="solid"/>
          </a:ln>
        </p:spPr>
        <p:txBody>
          <a:bodyPr/>
          <a:lstStyle/>
          <a:p>
            <a:endParaRPr lang="en-TH"/>
          </a:p>
        </p:txBody>
      </p:sp>
      <p:sp>
        <p:nvSpPr>
          <p:cNvPr id="21" name="Text 19"/>
          <p:cNvSpPr txBox="1"/>
          <p:nvPr/>
        </p:nvSpPr>
        <p:spPr>
          <a:xfrm>
            <a:off x="713232" y="2203704"/>
            <a:ext cx="5120640" cy="3803904"/>
          </a:xfrm>
          <a:prstGeom prst="rect">
            <a:avLst/>
          </a:prstGeom>
          <a:noFill/>
          <a:ln/>
        </p:spPr>
        <p:txBody>
          <a:bodyPr wrap="square" lIns="0" tIns="0" rIns="0" bIns="0" rtlCol="0" anchor="t"/>
          <a:lstStyle/>
          <a:p>
            <a:pPr marL="0" indent="0">
              <a:buNone/>
            </a:pPr>
            <a:r>
              <a:rPr lang="en-US" sz="1100" dirty="0">
                <a:solidFill>
                  <a:srgbClr val="E8C46A"/>
                </a:solidFill>
                <a:latin typeface="Courier New" pitchFamily="34" charset="0"/>
                <a:ea typeface="Courier New" pitchFamily="34" charset="-122"/>
                <a:cs typeface="Courier New" pitchFamily="34" charset="-120"/>
              </a:rPr>
              <a:t>hostname R1</a:t>
            </a:r>
            <a:endParaRPr lang="en-US" sz="1100" dirty="0"/>
          </a:p>
          <a:p>
            <a:pPr marL="0" indent="0">
              <a:buNone/>
            </a:pPr>
            <a:r>
              <a:rPr lang="en-US" sz="1100" dirty="0">
                <a:solidFill>
                  <a:srgbClr val="E8C46A"/>
                </a:solidFill>
                <a:latin typeface="Courier New" pitchFamily="34" charset="0"/>
                <a:ea typeface="Courier New" pitchFamily="34" charset="-122"/>
                <a:cs typeface="Courier New" pitchFamily="34" charset="-120"/>
              </a:rPr>
              <a:t>ip domain name lab.local</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username admin privilege 15 secret Cisco@123</a:t>
            </a:r>
            <a:endParaRPr lang="en-US" sz="1100" dirty="0"/>
          </a:p>
          <a:p>
            <a:pPr marL="0" indent="0">
              <a:buNone/>
            </a:pPr>
            <a:r>
              <a:rPr lang="en-US" sz="1100" dirty="0">
                <a:solidFill>
                  <a:srgbClr val="E8C46A"/>
                </a:solidFill>
                <a:latin typeface="Courier New" pitchFamily="34" charset="0"/>
                <a:ea typeface="Courier New" pitchFamily="34" charset="-122"/>
                <a:cs typeface="Courier New" pitchFamily="34" charset="-120"/>
              </a:rPr>
              <a:t>crypto key generate rsa modulus 2048</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ip ssh version 2</a:t>
            </a:r>
            <a:endParaRPr lang="en-US" sz="1100" dirty="0"/>
          </a:p>
          <a:p>
            <a:pPr marL="0" indent="0">
              <a:buNone/>
            </a:pPr>
            <a:r>
              <a:rPr lang="en-US" sz="1100" dirty="0">
                <a:solidFill>
                  <a:srgbClr val="8391A7"/>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interface GigabitEthernet0/0</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description MGMT</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ip address 192.168.100.11 255.255.255.0</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no shutdown</a:t>
            </a:r>
            <a:endParaRPr lang="en-US" sz="1100" dirty="0"/>
          </a:p>
          <a:p>
            <a:pPr marL="0" indent="0">
              <a:buNone/>
            </a:pPr>
            <a:r>
              <a:rPr lang="en-US" sz="1100" dirty="0">
                <a:solidFill>
                  <a:srgbClr val="8391A7"/>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line vty 0 4</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login local</a:t>
            </a:r>
            <a:endParaRPr lang="en-US" sz="1100" dirty="0"/>
          </a:p>
          <a:p>
            <a:pPr marL="0" indent="0">
              <a:buNone/>
            </a:pPr>
            <a:r>
              <a:rPr lang="en-US" sz="1100" dirty="0">
                <a:solidFill>
                  <a:srgbClr val="E8C46A"/>
                </a:solidFill>
                <a:latin typeface="Courier New" pitchFamily="34" charset="0"/>
                <a:ea typeface="Courier New" pitchFamily="34" charset="-122"/>
                <a:cs typeface="Courier New" pitchFamily="34" charset="-120"/>
              </a:rPr>
              <a:t> transport input ssh</a:t>
            </a:r>
            <a:endParaRPr lang="en-US" sz="1100" dirty="0"/>
          </a:p>
          <a:p>
            <a:pPr marL="0" indent="0">
              <a:buNone/>
            </a:pPr>
            <a:r>
              <a:rPr lang="en-US" sz="1100" dirty="0">
                <a:solidFill>
                  <a:srgbClr val="8391A7"/>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archive</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log config</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logging enable</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  notify syslog contenttype plaintext</a:t>
            </a:r>
            <a:endParaRPr lang="en-US" sz="1100" dirty="0"/>
          </a:p>
          <a:p>
            <a:pPr marL="0" indent="0">
              <a:buNone/>
            </a:pPr>
            <a:r>
              <a:rPr lang="en-US" sz="1100" dirty="0">
                <a:solidFill>
                  <a:srgbClr val="8391A7"/>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D5DCE6"/>
                </a:solidFill>
                <a:latin typeface="Courier New" pitchFamily="34" charset="0"/>
                <a:ea typeface="Courier New" pitchFamily="34" charset="-122"/>
                <a:cs typeface="Courier New" pitchFamily="34" charset="-120"/>
              </a:rPr>
              <a:t>logging host 192.168.100.10</a:t>
            </a:r>
            <a:endParaRPr lang="en-US" sz="1100" dirty="0"/>
          </a:p>
        </p:txBody>
      </p:sp>
      <p:sp>
        <p:nvSpPr>
          <p:cNvPr id="22" name="Shape 20"/>
          <p:cNvSpPr/>
          <p:nvPr/>
        </p:nvSpPr>
        <p:spPr>
          <a:xfrm>
            <a:off x="6263640" y="1783080"/>
            <a:ext cx="1965960" cy="475488"/>
          </a:xfrm>
          <a:prstGeom prst="roundRect">
            <a:avLst>
              <a:gd name="adj" fmla="val 9615"/>
            </a:avLst>
          </a:prstGeom>
          <a:solidFill>
            <a:srgbClr val="E8EDF4"/>
          </a:solidFill>
          <a:ln w="12700">
            <a:solidFill>
              <a:srgbClr val="E8EDF4"/>
            </a:solidFill>
            <a:prstDash val="solid"/>
          </a:ln>
        </p:spPr>
        <p:txBody>
          <a:bodyPr/>
          <a:lstStyle/>
          <a:p>
            <a:endParaRPr lang="en-TH"/>
          </a:p>
        </p:txBody>
      </p:sp>
      <p:sp>
        <p:nvSpPr>
          <p:cNvPr id="23" name="Text 21"/>
          <p:cNvSpPr txBox="1"/>
          <p:nvPr/>
        </p:nvSpPr>
        <p:spPr>
          <a:xfrm>
            <a:off x="6263640" y="1783080"/>
            <a:ext cx="1965960" cy="47548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domain + crypto key</a:t>
            </a:r>
            <a:endParaRPr lang="en-US" sz="1050" dirty="0"/>
          </a:p>
        </p:txBody>
      </p:sp>
      <p:sp>
        <p:nvSpPr>
          <p:cNvPr id="24" name="Text 22"/>
          <p:cNvSpPr txBox="1"/>
          <p:nvPr/>
        </p:nvSpPr>
        <p:spPr>
          <a:xfrm>
            <a:off x="8366760" y="1737360"/>
            <a:ext cx="3276295" cy="566928"/>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สร้าง RSA key 2048 bit — ถ้าไม่มี key บริการ SSH จะไม่ทำงาน</a:t>
            </a:r>
            <a:endParaRPr lang="en-US" sz="1150" dirty="0"/>
          </a:p>
        </p:txBody>
      </p:sp>
      <p:sp>
        <p:nvSpPr>
          <p:cNvPr id="25" name="Shape 23"/>
          <p:cNvSpPr/>
          <p:nvPr/>
        </p:nvSpPr>
        <p:spPr>
          <a:xfrm>
            <a:off x="6263640" y="2386584"/>
            <a:ext cx="1965960" cy="475488"/>
          </a:xfrm>
          <a:prstGeom prst="roundRect">
            <a:avLst>
              <a:gd name="adj" fmla="val 9615"/>
            </a:avLst>
          </a:prstGeom>
          <a:solidFill>
            <a:srgbClr val="E8EDF4"/>
          </a:solidFill>
          <a:ln w="12700">
            <a:solidFill>
              <a:srgbClr val="E8EDF4"/>
            </a:solidFill>
            <a:prstDash val="solid"/>
          </a:ln>
        </p:spPr>
        <p:txBody>
          <a:bodyPr/>
          <a:lstStyle/>
          <a:p>
            <a:endParaRPr lang="en-TH"/>
          </a:p>
        </p:txBody>
      </p:sp>
      <p:sp>
        <p:nvSpPr>
          <p:cNvPr id="26" name="Text 24"/>
          <p:cNvSpPr txBox="1"/>
          <p:nvPr/>
        </p:nvSpPr>
        <p:spPr>
          <a:xfrm>
            <a:off x="6263640" y="2386584"/>
            <a:ext cx="1965960" cy="47548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ip ssh version 2</a:t>
            </a:r>
            <a:endParaRPr lang="en-US" sz="1050" dirty="0"/>
          </a:p>
        </p:txBody>
      </p:sp>
      <p:sp>
        <p:nvSpPr>
          <p:cNvPr id="27" name="Text 25"/>
          <p:cNvSpPr txBox="1"/>
          <p:nvPr/>
        </p:nvSpPr>
        <p:spPr>
          <a:xfrm>
            <a:off x="8366760" y="2340864"/>
            <a:ext cx="3276295" cy="566928"/>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บังคับใช้ SSHv2 และปิด SSHv1 ที่ไม่ปลอดภัย</a:t>
            </a:r>
            <a:endParaRPr lang="en-US" sz="1150" dirty="0"/>
          </a:p>
        </p:txBody>
      </p:sp>
      <p:sp>
        <p:nvSpPr>
          <p:cNvPr id="28" name="Shape 26"/>
          <p:cNvSpPr/>
          <p:nvPr/>
        </p:nvSpPr>
        <p:spPr>
          <a:xfrm>
            <a:off x="6263640" y="2990088"/>
            <a:ext cx="1965960" cy="475488"/>
          </a:xfrm>
          <a:prstGeom prst="roundRect">
            <a:avLst>
              <a:gd name="adj" fmla="val 9615"/>
            </a:avLst>
          </a:prstGeom>
          <a:solidFill>
            <a:srgbClr val="E8EDF4"/>
          </a:solidFill>
          <a:ln w="12700">
            <a:solidFill>
              <a:srgbClr val="E8EDF4"/>
            </a:solidFill>
            <a:prstDash val="solid"/>
          </a:ln>
        </p:spPr>
        <p:txBody>
          <a:bodyPr/>
          <a:lstStyle/>
          <a:p>
            <a:endParaRPr lang="en-TH"/>
          </a:p>
        </p:txBody>
      </p:sp>
      <p:sp>
        <p:nvSpPr>
          <p:cNvPr id="29" name="Text 27"/>
          <p:cNvSpPr txBox="1"/>
          <p:nvPr/>
        </p:nvSpPr>
        <p:spPr>
          <a:xfrm>
            <a:off x="6263640" y="2990088"/>
            <a:ext cx="1965960" cy="47548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privilege 15</a:t>
            </a:r>
            <a:endParaRPr lang="en-US" sz="1050" dirty="0"/>
          </a:p>
        </p:txBody>
      </p:sp>
      <p:sp>
        <p:nvSpPr>
          <p:cNvPr id="30" name="Text 28"/>
          <p:cNvSpPr txBox="1"/>
          <p:nvPr/>
        </p:nvSpPr>
        <p:spPr>
          <a:xfrm>
            <a:off x="8366760" y="2944368"/>
            <a:ext cx="3276295" cy="566928"/>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Ansible login แล้วเข้า privileged EXEC ทันที ไม่ต้องใช้ enable</a:t>
            </a:r>
            <a:endParaRPr lang="en-US" sz="1150" dirty="0"/>
          </a:p>
        </p:txBody>
      </p:sp>
      <p:sp>
        <p:nvSpPr>
          <p:cNvPr id="31" name="Shape 29"/>
          <p:cNvSpPr/>
          <p:nvPr/>
        </p:nvSpPr>
        <p:spPr>
          <a:xfrm>
            <a:off x="6263640" y="3593592"/>
            <a:ext cx="1965960" cy="475488"/>
          </a:xfrm>
          <a:prstGeom prst="roundRect">
            <a:avLst>
              <a:gd name="adj" fmla="val 9615"/>
            </a:avLst>
          </a:prstGeom>
          <a:solidFill>
            <a:srgbClr val="E8EDF4"/>
          </a:solidFill>
          <a:ln w="12700">
            <a:solidFill>
              <a:srgbClr val="E8EDF4"/>
            </a:solidFill>
            <a:prstDash val="solid"/>
          </a:ln>
        </p:spPr>
        <p:txBody>
          <a:bodyPr/>
          <a:lstStyle/>
          <a:p>
            <a:endParaRPr lang="en-TH"/>
          </a:p>
        </p:txBody>
      </p:sp>
      <p:sp>
        <p:nvSpPr>
          <p:cNvPr id="32" name="Text 30"/>
          <p:cNvSpPr txBox="1"/>
          <p:nvPr/>
        </p:nvSpPr>
        <p:spPr>
          <a:xfrm>
            <a:off x="6263640" y="3593592"/>
            <a:ext cx="1965960" cy="47548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transport input ssh</a:t>
            </a:r>
            <a:endParaRPr lang="en-US" sz="1050" dirty="0"/>
          </a:p>
        </p:txBody>
      </p:sp>
      <p:sp>
        <p:nvSpPr>
          <p:cNvPr id="33" name="Text 31"/>
          <p:cNvSpPr txBox="1"/>
          <p:nvPr/>
        </p:nvSpPr>
        <p:spPr>
          <a:xfrm>
            <a:off x="8366760" y="3547872"/>
            <a:ext cx="3276295" cy="566928"/>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VTY รับเฉพาะ SSH (ปิด Telnet ที่ส่งรหัสผ่านเป็นข้อความธรรมดา)</a:t>
            </a:r>
            <a:endParaRPr lang="en-US" sz="1150" dirty="0"/>
          </a:p>
        </p:txBody>
      </p:sp>
      <p:sp>
        <p:nvSpPr>
          <p:cNvPr id="34" name="Shape 32"/>
          <p:cNvSpPr/>
          <p:nvPr/>
        </p:nvSpPr>
        <p:spPr>
          <a:xfrm>
            <a:off x="6263640" y="4197096"/>
            <a:ext cx="1965960" cy="475488"/>
          </a:xfrm>
          <a:prstGeom prst="roundRect">
            <a:avLst>
              <a:gd name="adj" fmla="val 9615"/>
            </a:avLst>
          </a:prstGeom>
          <a:solidFill>
            <a:srgbClr val="E8EDF4"/>
          </a:solidFill>
          <a:ln w="12700">
            <a:solidFill>
              <a:srgbClr val="E8EDF4"/>
            </a:solidFill>
            <a:prstDash val="solid"/>
          </a:ln>
        </p:spPr>
        <p:txBody>
          <a:bodyPr/>
          <a:lstStyle/>
          <a:p>
            <a:endParaRPr lang="en-TH"/>
          </a:p>
        </p:txBody>
      </p:sp>
      <p:sp>
        <p:nvSpPr>
          <p:cNvPr id="35" name="Text 33"/>
          <p:cNvSpPr txBox="1"/>
          <p:nvPr/>
        </p:nvSpPr>
        <p:spPr>
          <a:xfrm>
            <a:off x="6263640" y="4197096"/>
            <a:ext cx="1965960" cy="47548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archive log config</a:t>
            </a:r>
            <a:endParaRPr lang="en-US" sz="1050" dirty="0"/>
          </a:p>
        </p:txBody>
      </p:sp>
      <p:sp>
        <p:nvSpPr>
          <p:cNvPr id="36" name="Text 34"/>
          <p:cNvSpPr txBox="1"/>
          <p:nvPr/>
        </p:nvSpPr>
        <p:spPr>
          <a:xfrm>
            <a:off x="8366760" y="4151376"/>
            <a:ext cx="3276295" cy="566928"/>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บันทึกทุกคำสั่งที่ถูกส่งเข้ามาและส่งออกเป็น syslog → ใช้ audit งานของ Ansible</a:t>
            </a:r>
            <a:endParaRPr lang="en-US" sz="1150" dirty="0"/>
          </a:p>
        </p:txBody>
      </p:sp>
      <p:sp>
        <p:nvSpPr>
          <p:cNvPr id="37" name="Shape 35"/>
          <p:cNvSpPr/>
          <p:nvPr/>
        </p:nvSpPr>
        <p:spPr>
          <a:xfrm>
            <a:off x="6263640" y="4800600"/>
            <a:ext cx="1965960" cy="475488"/>
          </a:xfrm>
          <a:prstGeom prst="roundRect">
            <a:avLst>
              <a:gd name="adj" fmla="val 9615"/>
            </a:avLst>
          </a:prstGeom>
          <a:solidFill>
            <a:srgbClr val="E8EDF4"/>
          </a:solidFill>
          <a:ln w="12700">
            <a:solidFill>
              <a:srgbClr val="E8EDF4"/>
            </a:solidFill>
            <a:prstDash val="solid"/>
          </a:ln>
        </p:spPr>
        <p:txBody>
          <a:bodyPr/>
          <a:lstStyle/>
          <a:p>
            <a:endParaRPr lang="en-TH"/>
          </a:p>
        </p:txBody>
      </p:sp>
      <p:sp>
        <p:nvSpPr>
          <p:cNvPr id="38" name="Text 36"/>
          <p:cNvSpPr txBox="1"/>
          <p:nvPr/>
        </p:nvSpPr>
        <p:spPr>
          <a:xfrm>
            <a:off x="6263640" y="4800600"/>
            <a:ext cx="1965960" cy="475488"/>
          </a:xfrm>
          <a:prstGeom prst="rect">
            <a:avLst/>
          </a:prstGeom>
          <a:noFill/>
          <a:ln/>
        </p:spPr>
        <p:txBody>
          <a:bodyPr wrap="square" lIns="0" tIns="0" rIns="0" bIns="0" rtlCol="0" anchor="ctr"/>
          <a:lstStyle/>
          <a:p>
            <a:pPr marL="0" indent="0" algn="ctr">
              <a:buNone/>
            </a:pPr>
            <a:r>
              <a:rPr lang="en-US" sz="1050" b="1" dirty="0">
                <a:solidFill>
                  <a:srgbClr val="13233F"/>
                </a:solidFill>
                <a:latin typeface="Courier New" pitchFamily="34" charset="0"/>
                <a:ea typeface="Courier New" pitchFamily="34" charset="-122"/>
                <a:cs typeface="Courier New" pitchFamily="34" charset="-120"/>
              </a:rPr>
              <a:t>logging host</a:t>
            </a:r>
            <a:endParaRPr lang="en-US" sz="1050" dirty="0"/>
          </a:p>
        </p:txBody>
      </p:sp>
      <p:sp>
        <p:nvSpPr>
          <p:cNvPr id="39" name="Text 37"/>
          <p:cNvSpPr txBox="1"/>
          <p:nvPr/>
        </p:nvSpPr>
        <p:spPr>
          <a:xfrm>
            <a:off x="8366760" y="4754880"/>
            <a:ext cx="3276295" cy="566928"/>
          </a:xfrm>
          <a:prstGeom prst="rect">
            <a:avLst/>
          </a:prstGeom>
          <a:noFill/>
          <a:ln/>
        </p:spPr>
        <p:txBody>
          <a:bodyPr wrap="square" lIns="0" tIns="0" rIns="0" bIns="0" rtlCol="0" anchor="ctr"/>
          <a:lstStyle/>
          <a:p>
            <a:pPr marL="0" indent="0">
              <a:buNone/>
            </a:pPr>
            <a:r>
              <a:rPr lang="en-US" sz="1150" dirty="0">
                <a:solidFill>
                  <a:srgbClr val="1E2733"/>
                </a:solidFill>
                <a:latin typeface="Tahoma" pitchFamily="34" charset="0"/>
                <a:ea typeface="Tahoma" pitchFamily="34" charset="-122"/>
                <a:cs typeface="Tahoma" pitchFamily="34" charset="-120"/>
              </a:rPr>
              <a:t>ส่ง syslog ไปที่ automation host ใช้ทั้ง audit และเป็นแหล่ง event</a:t>
            </a:r>
            <a:endParaRPr lang="en-US" sz="1150" dirty="0"/>
          </a:p>
        </p:txBody>
      </p:sp>
      <p:sp>
        <p:nvSpPr>
          <p:cNvPr id="40" name="Shape 38"/>
          <p:cNvSpPr/>
          <p:nvPr/>
        </p:nvSpPr>
        <p:spPr>
          <a:xfrm>
            <a:off x="6263640" y="5486400"/>
            <a:ext cx="5379415" cy="731520"/>
          </a:xfrm>
          <a:prstGeom prst="roundRect">
            <a:avLst>
              <a:gd name="adj" fmla="val 7500"/>
            </a:avLst>
          </a:prstGeom>
          <a:solidFill>
            <a:srgbClr val="F6F0E3"/>
          </a:solidFill>
          <a:ln w="9525">
            <a:solidFill>
              <a:srgbClr val="D9BE82"/>
            </a:solidFill>
            <a:prstDash val="solid"/>
          </a:ln>
        </p:spPr>
        <p:txBody>
          <a:bodyPr/>
          <a:lstStyle/>
          <a:p>
            <a:endParaRPr lang="en-TH"/>
          </a:p>
        </p:txBody>
      </p:sp>
      <p:pic>
        <p:nvPicPr>
          <p:cNvPr id="41" name="Image 0" descr="preencoded.png"/>
          <p:cNvPicPr>
            <a:picLocks noChangeAspect="1"/>
          </p:cNvPicPr>
          <p:nvPr/>
        </p:nvPicPr>
        <p:blipFill>
          <a:blip r:embed="rId3"/>
          <a:stretch>
            <a:fillRect/>
          </a:stretch>
        </p:blipFill>
        <p:spPr>
          <a:xfrm>
            <a:off x="6428232" y="5669280"/>
            <a:ext cx="365760" cy="365760"/>
          </a:xfrm>
          <a:prstGeom prst="rect">
            <a:avLst/>
          </a:prstGeom>
        </p:spPr>
      </p:pic>
      <p:sp>
        <p:nvSpPr>
          <p:cNvPr id="42" name="Text 39"/>
          <p:cNvSpPr txBox="1"/>
          <p:nvPr/>
        </p:nvSpPr>
        <p:spPr>
          <a:xfrm>
            <a:off x="6922008" y="5486400"/>
            <a:ext cx="4602175" cy="731520"/>
          </a:xfrm>
          <a:prstGeom prst="rect">
            <a:avLst/>
          </a:prstGeom>
          <a:noFill/>
          <a:ln/>
        </p:spPr>
        <p:txBody>
          <a:bodyPr wrap="square" lIns="0" tIns="0" rIns="0" bIns="0" rtlCol="0" anchor="ctr"/>
          <a:lstStyle/>
          <a:p>
            <a:pPr marL="0" indent="0">
              <a:buNone/>
            </a:pPr>
            <a:r>
              <a:rPr lang="en-US" sz="1200" b="1" dirty="0">
                <a:solidFill>
                  <a:srgbClr val="13233F"/>
                </a:solidFill>
                <a:latin typeface="Tahoma" pitchFamily="34" charset="0"/>
                <a:ea typeface="Tahoma" pitchFamily="34" charset="-122"/>
                <a:cs typeface="Tahoma" pitchFamily="34" charset="-120"/>
              </a:rPr>
              <a:t>ตรวจความพร้อมก่อนรัน Ansible</a:t>
            </a:r>
            <a:endParaRPr lang="en-US" sz="1200" dirty="0"/>
          </a:p>
          <a:p>
            <a:pPr marL="0" indent="0">
              <a:buNone/>
            </a:pPr>
            <a:r>
              <a:rPr lang="en-US" sz="1000" dirty="0">
                <a:solidFill>
                  <a:srgbClr val="1E2733"/>
                </a:solidFill>
                <a:latin typeface="Courier New" pitchFamily="34" charset="0"/>
                <a:ea typeface="Courier New" pitchFamily="34" charset="-122"/>
                <a:cs typeface="Courier New" pitchFamily="34" charset="-120"/>
              </a:rPr>
              <a:t>show ip ssh  ·  show crypto key mypubkey rsa</a:t>
            </a:r>
            <a:endParaRPr lang="en-US" sz="1200" dirty="0"/>
          </a:p>
          <a:p>
            <a:pPr marL="0" indent="0">
              <a:buNone/>
            </a:pPr>
            <a:r>
              <a:rPr lang="en-US" sz="1000" dirty="0">
                <a:solidFill>
                  <a:srgbClr val="1E2733"/>
                </a:solidFill>
                <a:latin typeface="Courier New" pitchFamily="34" charset="0"/>
                <a:ea typeface="Courier New" pitchFamily="34" charset="-122"/>
                <a:cs typeface="Courier New" pitchFamily="34" charset="-120"/>
              </a:rPr>
              <a:t>show run | section line vty</a:t>
            </a:r>
            <a:endParaRPr lang="en-US" sz="1200" dirty="0"/>
          </a:p>
        </p:txBody>
      </p:sp>
      <p:sp>
        <p:nvSpPr>
          <p:cNvPr id="43" name="Text 40"/>
          <p:cNvSpPr txBox="1"/>
          <p:nvPr/>
        </p:nvSpPr>
        <p:spPr>
          <a:xfrm>
            <a:off x="548640" y="6126480"/>
            <a:ext cx="5394960" cy="182880"/>
          </a:xfrm>
          <a:prstGeom prst="rect">
            <a:avLst/>
          </a:prstGeom>
          <a:noFill/>
          <a:ln/>
        </p:spPr>
        <p:txBody>
          <a:bodyPr wrap="square" lIns="0" tIns="0" rIns="0" bIns="0" rtlCol="0" anchor="t"/>
          <a:lstStyle/>
          <a:p>
            <a:pPr marL="0" indent="0">
              <a:buNone/>
            </a:pPr>
            <a:r>
              <a:rPr lang="en-US" sz="900" i="1" dirty="0">
                <a:solidFill>
                  <a:srgbClr val="5F6B7A"/>
                </a:solidFill>
                <a:latin typeface="Tahoma" pitchFamily="34" charset="0"/>
                <a:ea typeface="Tahoma" pitchFamily="34" charset="-122"/>
                <a:cs typeface="Tahoma" pitchFamily="34" charset="-120"/>
              </a:rPr>
              <a:t>รหัสผ่านในสไลด์ใช้ในแลบเท่านั้น</a:t>
            </a:r>
            <a:endParaRPr lang="en-US" sz="900" dirty="0"/>
          </a:p>
        </p:txBody>
      </p:sp>
      <p:sp>
        <p:nvSpPr>
          <p:cNvPr id="44" name="Text 41"/>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45" name="Text 42"/>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Demo 1 — Inventory และ Playbook</a:t>
            </a:r>
            <a:endParaRPr lang="en-US" sz="3000" dirty="0"/>
          </a:p>
        </p:txBody>
      </p:sp>
      <p:sp>
        <p:nvSpPr>
          <p:cNvPr id="4" name="Shape 2"/>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5" name="Text 3"/>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6" name="Shape 4"/>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7" name="Text 5"/>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8" name="Shape 6"/>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9" name="Text 7"/>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0" name="Shape 8"/>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1" name="Text 9"/>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2" name="Shape 10"/>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3" name="Text 11"/>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4" name="Shape 12"/>
          <p:cNvSpPr/>
          <p:nvPr/>
        </p:nvSpPr>
        <p:spPr>
          <a:xfrm>
            <a:off x="548640" y="1463040"/>
            <a:ext cx="5074920" cy="3017520"/>
          </a:xfrm>
          <a:prstGeom prst="roundRect">
            <a:avLst>
              <a:gd name="adj" fmla="val 1818"/>
            </a:avLst>
          </a:prstGeom>
          <a:solidFill>
            <a:srgbClr val="0F1A2B"/>
          </a:solidFill>
          <a:ln w="12700">
            <a:solidFill>
              <a:srgbClr val="0F1A2B"/>
            </a:solidFill>
            <a:prstDash val="solid"/>
          </a:ln>
        </p:spPr>
        <p:txBody>
          <a:bodyPr/>
          <a:lstStyle/>
          <a:p>
            <a:endParaRPr lang="en-TH"/>
          </a:p>
        </p:txBody>
      </p:sp>
      <p:sp>
        <p:nvSpPr>
          <p:cNvPr id="15" name="Shape 13"/>
          <p:cNvSpPr/>
          <p:nvPr/>
        </p:nvSpPr>
        <p:spPr>
          <a:xfrm>
            <a:off x="694944" y="1581912"/>
            <a:ext cx="91440" cy="91440"/>
          </a:xfrm>
          <a:prstGeom prst="ellipse">
            <a:avLst/>
          </a:prstGeom>
          <a:solidFill>
            <a:srgbClr val="E06C6C"/>
          </a:solidFill>
          <a:ln w="12700">
            <a:solidFill>
              <a:srgbClr val="E06C6C"/>
            </a:solidFill>
            <a:prstDash val="solid"/>
          </a:ln>
        </p:spPr>
        <p:txBody>
          <a:bodyPr/>
          <a:lstStyle/>
          <a:p>
            <a:endParaRPr lang="en-TH"/>
          </a:p>
        </p:txBody>
      </p:sp>
      <p:sp>
        <p:nvSpPr>
          <p:cNvPr id="16" name="Shape 14"/>
          <p:cNvSpPr/>
          <p:nvPr/>
        </p:nvSpPr>
        <p:spPr>
          <a:xfrm>
            <a:off x="850392" y="1581912"/>
            <a:ext cx="91440" cy="91440"/>
          </a:xfrm>
          <a:prstGeom prst="ellipse">
            <a:avLst/>
          </a:prstGeom>
          <a:solidFill>
            <a:srgbClr val="E0B25C"/>
          </a:solidFill>
          <a:ln w="12700">
            <a:solidFill>
              <a:srgbClr val="E0B25C"/>
            </a:solidFill>
            <a:prstDash val="solid"/>
          </a:ln>
        </p:spPr>
        <p:txBody>
          <a:bodyPr/>
          <a:lstStyle/>
          <a:p>
            <a:endParaRPr lang="en-TH"/>
          </a:p>
        </p:txBody>
      </p:sp>
      <p:sp>
        <p:nvSpPr>
          <p:cNvPr id="17" name="Shape 15"/>
          <p:cNvSpPr/>
          <p:nvPr/>
        </p:nvSpPr>
        <p:spPr>
          <a:xfrm>
            <a:off x="1005840" y="1581912"/>
            <a:ext cx="91440" cy="91440"/>
          </a:xfrm>
          <a:prstGeom prst="ellipse">
            <a:avLst/>
          </a:prstGeom>
          <a:solidFill>
            <a:srgbClr val="6CC08B"/>
          </a:solidFill>
          <a:ln w="12700">
            <a:solidFill>
              <a:srgbClr val="6CC08B"/>
            </a:solidFill>
            <a:prstDash val="solid"/>
          </a:ln>
        </p:spPr>
        <p:txBody>
          <a:bodyPr/>
          <a:lstStyle/>
          <a:p>
            <a:endParaRPr lang="en-TH"/>
          </a:p>
        </p:txBody>
      </p:sp>
      <p:sp>
        <p:nvSpPr>
          <p:cNvPr id="18" name="Text 16"/>
          <p:cNvSpPr txBox="1"/>
          <p:nvPr/>
        </p:nvSpPr>
        <p:spPr>
          <a:xfrm>
            <a:off x="1207008" y="1499616"/>
            <a:ext cx="4297680"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inventory.yml — desired state ชุดเดียวใช้ได้ทุก router</a:t>
            </a:r>
            <a:endParaRPr lang="en-US" sz="1000" dirty="0"/>
          </a:p>
        </p:txBody>
      </p:sp>
      <p:sp>
        <p:nvSpPr>
          <p:cNvPr id="19" name="Shape 17"/>
          <p:cNvSpPr/>
          <p:nvPr/>
        </p:nvSpPr>
        <p:spPr>
          <a:xfrm>
            <a:off x="548640" y="1792224"/>
            <a:ext cx="5074920" cy="0"/>
          </a:xfrm>
          <a:prstGeom prst="line">
            <a:avLst/>
          </a:prstGeom>
          <a:noFill/>
          <a:ln w="9525">
            <a:solidFill>
              <a:srgbClr val="26364F"/>
            </a:solidFill>
            <a:prstDash val="solid"/>
          </a:ln>
        </p:spPr>
        <p:txBody>
          <a:bodyPr/>
          <a:lstStyle/>
          <a:p>
            <a:endParaRPr lang="en-TH"/>
          </a:p>
        </p:txBody>
      </p:sp>
      <p:sp>
        <p:nvSpPr>
          <p:cNvPr id="20" name="Text 18"/>
          <p:cNvSpPr txBox="1"/>
          <p:nvPr/>
        </p:nvSpPr>
        <p:spPr>
          <a:xfrm>
            <a:off x="713232" y="1883664"/>
            <a:ext cx="4800600" cy="2523744"/>
          </a:xfrm>
          <a:prstGeom prst="rect">
            <a:avLst/>
          </a:prstGeom>
          <a:noFill/>
          <a:ln/>
        </p:spPr>
        <p:txBody>
          <a:bodyPr wrap="square" lIns="0" tIns="0" rIns="0" bIns="0" rtlCol="0" anchor="t"/>
          <a:lstStyle/>
          <a:p>
            <a:pPr marL="0" indent="0">
              <a:buNone/>
            </a:pPr>
            <a:r>
              <a:rPr lang="en-US" sz="1000" dirty="0">
                <a:solidFill>
                  <a:srgbClr val="D5DCE6"/>
                </a:solidFill>
                <a:latin typeface="Courier New" pitchFamily="34" charset="0"/>
                <a:ea typeface="Courier New" pitchFamily="34" charset="-122"/>
                <a:cs typeface="Courier New" pitchFamily="34" charset="-120"/>
              </a:rPr>
              <a:t>all:</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children:</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routers:</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hosts:</a:t>
            </a:r>
            <a:endParaRPr lang="en-US" sz="1000" dirty="0"/>
          </a:p>
          <a:p>
            <a:pPr marL="0" indent="0">
              <a:buNone/>
            </a:pPr>
            <a:r>
              <a:rPr lang="en-US" sz="1000" dirty="0">
                <a:solidFill>
                  <a:srgbClr val="E8C46A"/>
                </a:solidFill>
                <a:latin typeface="Courier New" pitchFamily="34" charset="0"/>
                <a:ea typeface="Courier New" pitchFamily="34" charset="-122"/>
                <a:cs typeface="Courier New" pitchFamily="34" charset="-120"/>
              </a:rPr>
              <a:t>        R1: {ansible_host: 192.168.100.11,</a:t>
            </a:r>
            <a:endParaRPr lang="en-US" sz="1000" dirty="0"/>
          </a:p>
          <a:p>
            <a:pPr marL="0" indent="0">
              <a:buNone/>
            </a:pPr>
            <a:r>
              <a:rPr lang="en-US" sz="1000" dirty="0">
                <a:solidFill>
                  <a:srgbClr val="E8C46A"/>
                </a:solidFill>
                <a:latin typeface="Courier New" pitchFamily="34" charset="0"/>
                <a:ea typeface="Courier New" pitchFamily="34" charset="-122"/>
                <a:cs typeface="Courier New" pitchFamily="34" charset="-120"/>
              </a:rPr>
              <a:t>             rid: 1.1.1.1, p2p_ip: 10.12.12.1}</a:t>
            </a:r>
            <a:endParaRPr lang="en-US" sz="1000" dirty="0"/>
          </a:p>
          <a:p>
            <a:pPr marL="0" indent="0">
              <a:buNone/>
            </a:pPr>
            <a:r>
              <a:rPr lang="en-US" sz="1000" dirty="0">
                <a:solidFill>
                  <a:srgbClr val="E8C46A"/>
                </a:solidFill>
                <a:latin typeface="Courier New" pitchFamily="34" charset="0"/>
                <a:ea typeface="Courier New" pitchFamily="34" charset="-122"/>
                <a:cs typeface="Courier New" pitchFamily="34" charset="-120"/>
              </a:rPr>
              <a:t>        R2: {ansible_host: 192.168.100.12,</a:t>
            </a:r>
            <a:endParaRPr lang="en-US" sz="1000" dirty="0"/>
          </a:p>
          <a:p>
            <a:pPr marL="0" indent="0">
              <a:buNone/>
            </a:pPr>
            <a:r>
              <a:rPr lang="en-US" sz="1000" dirty="0">
                <a:solidFill>
                  <a:srgbClr val="E8C46A"/>
                </a:solidFill>
                <a:latin typeface="Courier New" pitchFamily="34" charset="0"/>
                <a:ea typeface="Courier New" pitchFamily="34" charset="-122"/>
                <a:cs typeface="Courier New" pitchFamily="34" charset="-120"/>
              </a:rPr>
              <a:t>             rid: 2.2.2.2, p2p_ip: 10.12.12.2}</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vars:</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ansible_connection: ansible.netcommon.network_cli</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ansible_network_os: cisco.ios.ios</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ansible_user: admin</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ansible_password: "{{ vault_admin_pw }}"</a:t>
            </a:r>
            <a:endParaRPr lang="en-US" sz="1000" dirty="0"/>
          </a:p>
        </p:txBody>
      </p:sp>
      <p:sp>
        <p:nvSpPr>
          <p:cNvPr id="21" name="Shape 19"/>
          <p:cNvSpPr/>
          <p:nvPr/>
        </p:nvSpPr>
        <p:spPr>
          <a:xfrm>
            <a:off x="548640" y="4663440"/>
            <a:ext cx="5074920" cy="1554480"/>
          </a:xfrm>
          <a:prstGeom prst="roundRect">
            <a:avLst>
              <a:gd name="adj" fmla="val 3529"/>
            </a:avLst>
          </a:prstGeom>
          <a:solidFill>
            <a:srgbClr val="F3F5F8"/>
          </a:solidFill>
          <a:ln w="9525">
            <a:solidFill>
              <a:srgbClr val="D6DCE4"/>
            </a:solidFill>
            <a:prstDash val="solid"/>
          </a:ln>
        </p:spPr>
        <p:txBody>
          <a:bodyPr/>
          <a:lstStyle/>
          <a:p>
            <a:endParaRPr lang="en-TH"/>
          </a:p>
        </p:txBody>
      </p:sp>
      <p:sp>
        <p:nvSpPr>
          <p:cNvPr id="22" name="Text 20"/>
          <p:cNvSpPr txBox="1"/>
          <p:nvPr/>
        </p:nvSpPr>
        <p:spPr>
          <a:xfrm>
            <a:off x="731520" y="4754880"/>
            <a:ext cx="2743200" cy="256032"/>
          </a:xfrm>
          <a:prstGeom prst="rect">
            <a:avLst/>
          </a:prstGeom>
          <a:noFill/>
          <a:ln/>
        </p:spPr>
        <p:txBody>
          <a:bodyPr wrap="square" lIns="0" tIns="0" rIns="0" bIns="0" rtlCol="0" anchor="t"/>
          <a:lstStyle/>
          <a:p>
            <a:pPr marL="0" indent="0">
              <a:buNone/>
            </a:pPr>
            <a:r>
              <a:rPr lang="en-US" sz="1250" b="1" dirty="0">
                <a:solidFill>
                  <a:srgbClr val="13233F"/>
                </a:solidFill>
                <a:latin typeface="Tahoma" pitchFamily="34" charset="0"/>
                <a:ea typeface="Tahoma" pitchFamily="34" charset="-122"/>
                <a:cs typeface="Tahoma" pitchFamily="34" charset="-120"/>
              </a:rPr>
              <a:t>จุดสังเกต</a:t>
            </a:r>
            <a:endParaRPr lang="en-US" sz="1250" dirty="0"/>
          </a:p>
        </p:txBody>
      </p:sp>
      <p:sp>
        <p:nvSpPr>
          <p:cNvPr id="23" name="Text 21"/>
          <p:cNvSpPr txBox="1"/>
          <p:nvPr/>
        </p:nvSpPr>
        <p:spPr>
          <a:xfrm>
            <a:off x="731520" y="5047488"/>
            <a:ext cx="4754880" cy="11430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ตัวแปรต่อเครื่อง (rid, p2p_ip) อยู่ใน inventory → playbook เดียวใช้ได้ทุก router</a:t>
            </a:r>
            <a:endParaRPr lang="en-US" sz="1100" dirty="0"/>
          </a:p>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รหัสผ่านอยู่ใน group_vars/routers/vault.yml ที่เข้ารหัสด้วย ansible-vault (AES256)</a:t>
            </a:r>
            <a:endParaRPr lang="en-US" sz="1100" dirty="0"/>
          </a:p>
          <a:p>
            <a:pPr marL="177800" indent="-177800">
              <a:spcAft>
                <a:spcPts val="300"/>
              </a:spcAft>
              <a:buSzPct val="100000"/>
              <a:buChar char="•"/>
            </a:pPr>
            <a:r>
              <a:rPr lang="en-US" sz="1100" b="1" dirty="0">
                <a:solidFill>
                  <a:srgbClr val="13233F"/>
                </a:solidFill>
                <a:latin typeface="Courier New" pitchFamily="34" charset="0"/>
                <a:ea typeface="Courier New" pitchFamily="34" charset="-122"/>
                <a:cs typeface="Courier New" pitchFamily="34" charset="-120"/>
              </a:rPr>
              <a:t>ios_config</a:t>
            </a:r>
            <a:r>
              <a:rPr lang="en-US" sz="1100" dirty="0">
                <a:solidFill>
                  <a:srgbClr val="1E2733"/>
                </a:solidFill>
                <a:latin typeface="Tahoma" pitchFamily="34" charset="0"/>
                <a:ea typeface="Tahoma" pitchFamily="34" charset="-122"/>
                <a:cs typeface="Tahoma" pitchFamily="34" charset="-120"/>
              </a:rPr>
              <a:t> + “no shutdown” จะ changed ทุกรอบ เพราะ running-config ไม่แสดงบรรทัดนี้ → ใช้ </a:t>
            </a:r>
            <a:r>
              <a:rPr lang="en-US" sz="1100" b="1" dirty="0">
                <a:solidFill>
                  <a:srgbClr val="13233F"/>
                </a:solidFill>
                <a:latin typeface="Courier New" pitchFamily="34" charset="0"/>
                <a:ea typeface="Courier New" pitchFamily="34" charset="-122"/>
                <a:cs typeface="Courier New" pitchFamily="34" charset="-120"/>
              </a:rPr>
              <a:t>ios_interfaces</a:t>
            </a:r>
            <a:endParaRPr lang="en-US" sz="1100" dirty="0"/>
          </a:p>
        </p:txBody>
      </p:sp>
      <p:sp>
        <p:nvSpPr>
          <p:cNvPr id="24" name="Shape 22"/>
          <p:cNvSpPr/>
          <p:nvPr/>
        </p:nvSpPr>
        <p:spPr>
          <a:xfrm>
            <a:off x="5852160" y="1463040"/>
            <a:ext cx="5790895" cy="4754880"/>
          </a:xfrm>
          <a:prstGeom prst="roundRect">
            <a:avLst>
              <a:gd name="adj" fmla="val 1154"/>
            </a:avLst>
          </a:prstGeom>
          <a:solidFill>
            <a:srgbClr val="0F1A2B"/>
          </a:solidFill>
          <a:ln w="12700">
            <a:solidFill>
              <a:srgbClr val="0F1A2B"/>
            </a:solidFill>
            <a:prstDash val="solid"/>
          </a:ln>
        </p:spPr>
        <p:txBody>
          <a:bodyPr/>
          <a:lstStyle/>
          <a:p>
            <a:endParaRPr lang="en-TH"/>
          </a:p>
        </p:txBody>
      </p:sp>
      <p:sp>
        <p:nvSpPr>
          <p:cNvPr id="25" name="Shape 23"/>
          <p:cNvSpPr/>
          <p:nvPr/>
        </p:nvSpPr>
        <p:spPr>
          <a:xfrm>
            <a:off x="5998464" y="1581912"/>
            <a:ext cx="91440" cy="91440"/>
          </a:xfrm>
          <a:prstGeom prst="ellipse">
            <a:avLst/>
          </a:prstGeom>
          <a:solidFill>
            <a:srgbClr val="E06C6C"/>
          </a:solidFill>
          <a:ln w="12700">
            <a:solidFill>
              <a:srgbClr val="E06C6C"/>
            </a:solidFill>
            <a:prstDash val="solid"/>
          </a:ln>
        </p:spPr>
        <p:txBody>
          <a:bodyPr/>
          <a:lstStyle/>
          <a:p>
            <a:endParaRPr lang="en-TH"/>
          </a:p>
        </p:txBody>
      </p:sp>
      <p:sp>
        <p:nvSpPr>
          <p:cNvPr id="26" name="Shape 24"/>
          <p:cNvSpPr/>
          <p:nvPr/>
        </p:nvSpPr>
        <p:spPr>
          <a:xfrm>
            <a:off x="6153912" y="1581912"/>
            <a:ext cx="91440" cy="91440"/>
          </a:xfrm>
          <a:prstGeom prst="ellipse">
            <a:avLst/>
          </a:prstGeom>
          <a:solidFill>
            <a:srgbClr val="E0B25C"/>
          </a:solidFill>
          <a:ln w="12700">
            <a:solidFill>
              <a:srgbClr val="E0B25C"/>
            </a:solidFill>
            <a:prstDash val="solid"/>
          </a:ln>
        </p:spPr>
        <p:txBody>
          <a:bodyPr/>
          <a:lstStyle/>
          <a:p>
            <a:endParaRPr lang="en-TH"/>
          </a:p>
        </p:txBody>
      </p:sp>
      <p:sp>
        <p:nvSpPr>
          <p:cNvPr id="27" name="Shape 25"/>
          <p:cNvSpPr/>
          <p:nvPr/>
        </p:nvSpPr>
        <p:spPr>
          <a:xfrm>
            <a:off x="6309360" y="1581912"/>
            <a:ext cx="91440" cy="91440"/>
          </a:xfrm>
          <a:prstGeom prst="ellipse">
            <a:avLst/>
          </a:prstGeom>
          <a:solidFill>
            <a:srgbClr val="6CC08B"/>
          </a:solidFill>
          <a:ln w="12700">
            <a:solidFill>
              <a:srgbClr val="6CC08B"/>
            </a:solidFill>
            <a:prstDash val="solid"/>
          </a:ln>
        </p:spPr>
        <p:txBody>
          <a:bodyPr/>
          <a:lstStyle/>
          <a:p>
            <a:endParaRPr lang="en-TH"/>
          </a:p>
        </p:txBody>
      </p:sp>
      <p:sp>
        <p:nvSpPr>
          <p:cNvPr id="28" name="Text 26"/>
          <p:cNvSpPr txBox="1"/>
          <p:nvPr/>
        </p:nvSpPr>
        <p:spPr>
          <a:xfrm>
            <a:off x="6510528" y="1499616"/>
            <a:ext cx="5013655"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site.yml</a:t>
            </a:r>
            <a:endParaRPr lang="en-US" sz="1000" dirty="0"/>
          </a:p>
        </p:txBody>
      </p:sp>
      <p:sp>
        <p:nvSpPr>
          <p:cNvPr id="29" name="Shape 27"/>
          <p:cNvSpPr/>
          <p:nvPr/>
        </p:nvSpPr>
        <p:spPr>
          <a:xfrm>
            <a:off x="5852160" y="1792224"/>
            <a:ext cx="5790895" cy="0"/>
          </a:xfrm>
          <a:prstGeom prst="line">
            <a:avLst/>
          </a:prstGeom>
          <a:noFill/>
          <a:ln w="9525">
            <a:solidFill>
              <a:srgbClr val="26364F"/>
            </a:solidFill>
            <a:prstDash val="solid"/>
          </a:ln>
        </p:spPr>
        <p:txBody>
          <a:bodyPr/>
          <a:lstStyle/>
          <a:p>
            <a:endParaRPr lang="en-TH"/>
          </a:p>
        </p:txBody>
      </p:sp>
      <p:sp>
        <p:nvSpPr>
          <p:cNvPr id="30" name="Text 28"/>
          <p:cNvSpPr txBox="1"/>
          <p:nvPr/>
        </p:nvSpPr>
        <p:spPr>
          <a:xfrm>
            <a:off x="6016752" y="1883664"/>
            <a:ext cx="5516575" cy="4261104"/>
          </a:xfrm>
          <a:prstGeom prst="rect">
            <a:avLst/>
          </a:prstGeom>
          <a:noFill/>
          <a:ln/>
        </p:spPr>
        <p:txBody>
          <a:bodyPr wrap="square" lIns="0" tIns="0" rIns="0" bIns="0" rtlCol="0" anchor="t"/>
          <a:lstStyle/>
          <a:p>
            <a:pPr marL="0" indent="0">
              <a:buNone/>
            </a:pPr>
            <a:r>
              <a:rPr lang="en-US" sz="950" dirty="0">
                <a:solidFill>
                  <a:srgbClr val="D5DCE6"/>
                </a:solidFill>
                <a:latin typeface="Courier New" pitchFamily="34" charset="0"/>
                <a:ea typeface="Courier New" pitchFamily="34" charset="-122"/>
                <a:cs typeface="Courier New" pitchFamily="34" charset="-120"/>
              </a:rPr>
              <a:t>- name: Deploy OSPF area 0</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hosts: routers</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gather_facts: false</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tasks:</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 name: L3 interfaces (resource module)</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cisco.ios.ios_l3_interfaces:</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state: merged</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config:</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{name: Loopback0, ipv4: [{address: "{{ rid }}/32"}]}</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{name: GigabitEthernet0/1,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ipv4: [{address: "{{ p2p_ip }}/30"}]}</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 name: Enable Gi0/1 (idempotent no shutdown)</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cisco.ios.ios_interfaces:</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state: merged</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config: [{name: GigabitEthernet0/1, enabled: true}]</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 name: OSPF process 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cisco.ios.ios_config:</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parents: router ospf 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lines:</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router-id {{ rid }}</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network 10.12.12.0 0.0.0.3 area 0</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network {{ rid }} 0.0.0.0 area 0</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 name: Verify adjacency is FULL</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cisco.ios.ios_command:</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commands: show ip ospf neighbor</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wait_for: result[0] contains FULL</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retries: 12</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interval: 5</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when: not ansible_check_mode</a:t>
            </a:r>
            <a:endParaRPr lang="en-US" sz="950" dirty="0"/>
          </a:p>
        </p:txBody>
      </p:sp>
      <p:sp>
        <p:nvSpPr>
          <p:cNvPr id="31" name="Text 29"/>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32" name="Text 30"/>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Demo 1 — Dry-run → Apply → Idempotency</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รัน playbook 3 รอบ: ตรวจก่อนด้วย --check, ใช้งานจริง แล้วรันซ้ำเพื่อพิสูจน์ว่าไม่มีการเปลี่ยนแปลงซ้ำ</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7635240" cy="4251960"/>
          </a:xfrm>
          <a:prstGeom prst="roundRect">
            <a:avLst>
              <a:gd name="adj" fmla="val 1290"/>
            </a:avLst>
          </a:prstGeom>
          <a:solidFill>
            <a:srgbClr val="0F1A2B"/>
          </a:solidFill>
          <a:ln w="12700">
            <a:solidFill>
              <a:srgbClr val="0F1A2B"/>
            </a:solidFill>
            <a:prstDash val="solid"/>
          </a:ln>
        </p:spPr>
        <p:txBody>
          <a:bodyPr/>
          <a:lstStyle/>
          <a:p>
            <a:endParaRPr lang="en-TH"/>
          </a:p>
        </p:txBody>
      </p:sp>
      <p:sp>
        <p:nvSpPr>
          <p:cNvPr id="16" name="Shape 14"/>
          <p:cNvSpPr/>
          <p:nvPr/>
        </p:nvSpPr>
        <p:spPr>
          <a:xfrm>
            <a:off x="694944" y="1901952"/>
            <a:ext cx="91440" cy="91440"/>
          </a:xfrm>
          <a:prstGeom prst="ellipse">
            <a:avLst/>
          </a:prstGeom>
          <a:solidFill>
            <a:srgbClr val="E06C6C"/>
          </a:solidFill>
          <a:ln w="12700">
            <a:solidFill>
              <a:srgbClr val="E06C6C"/>
            </a:solidFill>
            <a:prstDash val="solid"/>
          </a:ln>
        </p:spPr>
        <p:txBody>
          <a:bodyPr/>
          <a:lstStyle/>
          <a:p>
            <a:endParaRPr lang="en-TH"/>
          </a:p>
        </p:txBody>
      </p:sp>
      <p:sp>
        <p:nvSpPr>
          <p:cNvPr id="17" name="Shape 15"/>
          <p:cNvSpPr/>
          <p:nvPr/>
        </p:nvSpPr>
        <p:spPr>
          <a:xfrm>
            <a:off x="850392" y="1901952"/>
            <a:ext cx="91440" cy="91440"/>
          </a:xfrm>
          <a:prstGeom prst="ellipse">
            <a:avLst/>
          </a:prstGeom>
          <a:solidFill>
            <a:srgbClr val="E0B25C"/>
          </a:solidFill>
          <a:ln w="12700">
            <a:solidFill>
              <a:srgbClr val="E0B25C"/>
            </a:solidFill>
            <a:prstDash val="solid"/>
          </a:ln>
        </p:spPr>
        <p:txBody>
          <a:bodyPr/>
          <a:lstStyle/>
          <a:p>
            <a:endParaRPr lang="en-TH"/>
          </a:p>
        </p:txBody>
      </p:sp>
      <p:sp>
        <p:nvSpPr>
          <p:cNvPr id="18" name="Shape 16"/>
          <p:cNvSpPr/>
          <p:nvPr/>
        </p:nvSpPr>
        <p:spPr>
          <a:xfrm>
            <a:off x="1005840" y="1901952"/>
            <a:ext cx="91440" cy="91440"/>
          </a:xfrm>
          <a:prstGeom prst="ellipse">
            <a:avLst/>
          </a:prstGeom>
          <a:solidFill>
            <a:srgbClr val="6CC08B"/>
          </a:solidFill>
          <a:ln w="12700">
            <a:solidFill>
              <a:srgbClr val="6CC08B"/>
            </a:solidFill>
            <a:prstDash val="solid"/>
          </a:ln>
        </p:spPr>
        <p:txBody>
          <a:bodyPr/>
          <a:lstStyle/>
          <a:p>
            <a:endParaRPr lang="en-TH"/>
          </a:p>
        </p:txBody>
      </p:sp>
      <p:sp>
        <p:nvSpPr>
          <p:cNvPr id="19" name="Text 17"/>
          <p:cNvSpPr txBox="1"/>
          <p:nvPr/>
        </p:nvSpPr>
        <p:spPr>
          <a:xfrm>
            <a:off x="1207008" y="1819656"/>
            <a:ext cx="6858000"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automation-host (Ubuntu) — bash</a:t>
            </a:r>
            <a:endParaRPr lang="en-US" sz="1000" dirty="0"/>
          </a:p>
        </p:txBody>
      </p:sp>
      <p:sp>
        <p:nvSpPr>
          <p:cNvPr id="20" name="Shape 18"/>
          <p:cNvSpPr/>
          <p:nvPr/>
        </p:nvSpPr>
        <p:spPr>
          <a:xfrm>
            <a:off x="548640" y="2112264"/>
            <a:ext cx="7635240" cy="0"/>
          </a:xfrm>
          <a:prstGeom prst="line">
            <a:avLst/>
          </a:prstGeom>
          <a:noFill/>
          <a:ln w="9525">
            <a:solidFill>
              <a:srgbClr val="26364F"/>
            </a:solidFill>
            <a:prstDash val="solid"/>
          </a:ln>
        </p:spPr>
        <p:txBody>
          <a:bodyPr/>
          <a:lstStyle/>
          <a:p>
            <a:endParaRPr lang="en-TH"/>
          </a:p>
        </p:txBody>
      </p:sp>
      <p:sp>
        <p:nvSpPr>
          <p:cNvPr id="21" name="Text 19"/>
          <p:cNvSpPr txBox="1"/>
          <p:nvPr/>
        </p:nvSpPr>
        <p:spPr>
          <a:xfrm>
            <a:off x="713232" y="2203704"/>
            <a:ext cx="7360920" cy="3758184"/>
          </a:xfrm>
          <a:prstGeom prst="rect">
            <a:avLst/>
          </a:prstGeom>
          <a:noFill/>
          <a:ln/>
        </p:spPr>
        <p:txBody>
          <a:bodyPr wrap="square" lIns="0" tIns="0" rIns="0" bIns="0" rtlCol="0" anchor="t"/>
          <a:lstStyle/>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ansible-inventory -i inventory.yml --graph</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@all:</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|--@ungrouped:</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|--@routers:</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|--R1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  |--R2</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ansible-playbook -i inventory.yml site.yml -J --check -v</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TASK [OSPF process 1] *********************************************</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changed: [R1] =&gt; {"banners": {}, "changed": true, "commands": ["router ospf 1",</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"router-id 1.1.1.1", "network 10.12.12.0 0.0.0.3 area 0", ...]}</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TASK [Verify adjacency is FULL] ***********************************</a:t>
            </a:r>
            <a:endParaRPr lang="en-US" sz="950" dirty="0"/>
          </a:p>
          <a:p>
            <a:pPr marL="0" indent="0">
              <a:buNone/>
            </a:pPr>
            <a:r>
              <a:rPr lang="en-US" sz="950" dirty="0">
                <a:solidFill>
                  <a:srgbClr val="8391A7"/>
                </a:solidFill>
                <a:latin typeface="Courier New" pitchFamily="34" charset="0"/>
                <a:ea typeface="Courier New" pitchFamily="34" charset="-122"/>
                <a:cs typeface="Courier New" pitchFamily="34" charset="-120"/>
              </a:rPr>
              <a:t>skipping: [R1] =&gt; {"false_condition": "not ansible_check_mode", ...}</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ansible-playbook -i inventory.yml site.yml -J</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PLAY RECAP ********************************************************</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R1  : ok=4    changed=3    unreachable=0    failed=0    skipped=0    rescued=0    ignored=0</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R2  : ok=4    changed=3    unreachable=0    failed=0    skipped=0    rescued=0    ignored=0</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ansible-playbook -i inventory.yml site.yml -J</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PLAY RECAP ********************************************************</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R1  : ok=4    changed=0    unreachable=0    failed=0    skipped=0    rescued=0    ignored=0</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R2  : ok=4    changed=0    unreachable=0    failed=0    skipped=0    rescued=0    ignored=0</a:t>
            </a:r>
            <a:endParaRPr lang="en-US" sz="950" dirty="0"/>
          </a:p>
        </p:txBody>
      </p:sp>
      <p:sp>
        <p:nvSpPr>
          <p:cNvPr id="22" name="Text 20"/>
          <p:cNvSpPr txBox="1"/>
          <p:nvPr/>
        </p:nvSpPr>
        <p:spPr>
          <a:xfrm>
            <a:off x="548640" y="6053328"/>
            <a:ext cx="7635240" cy="219456"/>
          </a:xfrm>
          <a:prstGeom prst="rect">
            <a:avLst/>
          </a:prstGeom>
          <a:noFill/>
          <a:ln/>
        </p:spPr>
        <p:txBody>
          <a:bodyPr wrap="square" lIns="0" tIns="0" rIns="0" bIns="0" rtlCol="0" anchor="t"/>
          <a:lstStyle/>
          <a:p>
            <a:pPr marL="0" indent="0" algn="r">
              <a:buNone/>
            </a:pPr>
            <a:r>
              <a:rPr lang="en-US" sz="950" i="1" dirty="0">
                <a:solidFill>
                  <a:srgbClr val="5F6B7A"/>
                </a:solidFill>
                <a:latin typeface="Tahoma" pitchFamily="34" charset="0"/>
                <a:ea typeface="Tahoma" pitchFamily="34" charset="-122"/>
                <a:cs typeface="Tahoma" pitchFamily="34" charset="-120"/>
              </a:rPr>
              <a:t>ผลลัพธ์จริงจากแลบ Cisco CML (DevNet Sandbox) — ย่อช่องว่างบางส่วนให้พอดีสไลด์</a:t>
            </a:r>
            <a:endParaRPr lang="en-US" sz="950" dirty="0"/>
          </a:p>
        </p:txBody>
      </p:sp>
      <p:sp>
        <p:nvSpPr>
          <p:cNvPr id="23" name="Shape 21"/>
          <p:cNvSpPr/>
          <p:nvPr/>
        </p:nvSpPr>
        <p:spPr>
          <a:xfrm>
            <a:off x="8503920" y="1783080"/>
            <a:ext cx="3139135" cy="1234440"/>
          </a:xfrm>
          <a:prstGeom prst="roundRect">
            <a:avLst>
              <a:gd name="adj" fmla="val 5926"/>
            </a:avLst>
          </a:prstGeom>
          <a:solidFill>
            <a:srgbClr val="F3F5F8"/>
          </a:solidFill>
          <a:ln w="12700">
            <a:solidFill>
              <a:srgbClr val="F3F5F8"/>
            </a:solidFill>
            <a:prstDash val="solid"/>
          </a:ln>
        </p:spPr>
        <p:txBody>
          <a:bodyPr/>
          <a:lstStyle/>
          <a:p>
            <a:endParaRPr lang="en-TH"/>
          </a:p>
        </p:txBody>
      </p:sp>
      <p:sp>
        <p:nvSpPr>
          <p:cNvPr id="24" name="Text 22"/>
          <p:cNvSpPr txBox="1"/>
          <p:nvPr/>
        </p:nvSpPr>
        <p:spPr>
          <a:xfrm>
            <a:off x="8705088" y="1874520"/>
            <a:ext cx="2773375" cy="237744"/>
          </a:xfrm>
          <a:prstGeom prst="rect">
            <a:avLst/>
          </a:prstGeom>
          <a:noFill/>
          <a:ln/>
        </p:spPr>
        <p:txBody>
          <a:bodyPr wrap="square" lIns="0" tIns="0" rIns="0" bIns="0" rtlCol="0" anchor="t"/>
          <a:lstStyle/>
          <a:p>
            <a:pPr marL="0" indent="0">
              <a:buNone/>
            </a:pPr>
            <a:r>
              <a:rPr lang="en-US" sz="1100" b="1" dirty="0">
                <a:solidFill>
                  <a:srgbClr val="5F6B7A"/>
                </a:solidFill>
                <a:latin typeface="Tahoma" pitchFamily="34" charset="0"/>
                <a:ea typeface="Tahoma" pitchFamily="34" charset="-122"/>
                <a:cs typeface="Tahoma" pitchFamily="34" charset="-120"/>
              </a:rPr>
              <a:t>Dry-run</a:t>
            </a:r>
            <a:endParaRPr lang="en-US" sz="1100" dirty="0"/>
          </a:p>
        </p:txBody>
      </p:sp>
      <p:sp>
        <p:nvSpPr>
          <p:cNvPr id="25" name="Text 23"/>
          <p:cNvSpPr txBox="1"/>
          <p:nvPr/>
        </p:nvSpPr>
        <p:spPr>
          <a:xfrm>
            <a:off x="8705088" y="2112264"/>
            <a:ext cx="2773375" cy="457200"/>
          </a:xfrm>
          <a:prstGeom prst="rect">
            <a:avLst/>
          </a:prstGeom>
          <a:noFill/>
          <a:ln/>
        </p:spPr>
        <p:txBody>
          <a:bodyPr wrap="square" lIns="0" tIns="0" rIns="0" bIns="0" rtlCol="0" anchor="ctr"/>
          <a:lstStyle/>
          <a:p>
            <a:pPr marL="0" indent="0">
              <a:buNone/>
            </a:pPr>
            <a:r>
              <a:rPr lang="en-US" sz="2400" b="1" dirty="0">
                <a:solidFill>
                  <a:srgbClr val="13233F"/>
                </a:solidFill>
                <a:latin typeface="Courier New" pitchFamily="34" charset="0"/>
                <a:ea typeface="Courier New" pitchFamily="34" charset="-122"/>
                <a:cs typeface="Courier New" pitchFamily="34" charset="-120"/>
              </a:rPr>
              <a:t>--check</a:t>
            </a:r>
            <a:endParaRPr lang="en-US" sz="2400" dirty="0"/>
          </a:p>
        </p:txBody>
      </p:sp>
      <p:sp>
        <p:nvSpPr>
          <p:cNvPr id="26" name="Text 24"/>
          <p:cNvSpPr txBox="1"/>
          <p:nvPr/>
        </p:nvSpPr>
        <p:spPr>
          <a:xfrm>
            <a:off x="8705088" y="2569464"/>
            <a:ext cx="2819095" cy="41148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แสดงคำสั่งที่ “จะ” ส่ง โดยไม่แตะอุปกรณ์</a:t>
            </a:r>
            <a:endParaRPr lang="en-US" sz="1100" dirty="0"/>
          </a:p>
        </p:txBody>
      </p:sp>
      <p:sp>
        <p:nvSpPr>
          <p:cNvPr id="27" name="Shape 25"/>
          <p:cNvSpPr/>
          <p:nvPr/>
        </p:nvSpPr>
        <p:spPr>
          <a:xfrm>
            <a:off x="10073488" y="3035808"/>
            <a:ext cx="0" cy="192024"/>
          </a:xfrm>
          <a:prstGeom prst="line">
            <a:avLst/>
          </a:prstGeom>
          <a:noFill/>
          <a:ln w="15875">
            <a:solidFill>
              <a:srgbClr val="5F6B7A"/>
            </a:solidFill>
            <a:prstDash val="solid"/>
            <a:tailEnd type="triangle"/>
          </a:ln>
        </p:spPr>
        <p:txBody>
          <a:bodyPr/>
          <a:lstStyle/>
          <a:p>
            <a:endParaRPr lang="en-TH"/>
          </a:p>
        </p:txBody>
      </p:sp>
      <p:sp>
        <p:nvSpPr>
          <p:cNvPr id="28" name="Shape 26"/>
          <p:cNvSpPr/>
          <p:nvPr/>
        </p:nvSpPr>
        <p:spPr>
          <a:xfrm>
            <a:off x="8503920" y="3246120"/>
            <a:ext cx="3139135" cy="1234440"/>
          </a:xfrm>
          <a:prstGeom prst="roundRect">
            <a:avLst>
              <a:gd name="adj" fmla="val 5926"/>
            </a:avLst>
          </a:prstGeom>
          <a:solidFill>
            <a:srgbClr val="F6F0E3"/>
          </a:solidFill>
          <a:ln w="12700">
            <a:solidFill>
              <a:srgbClr val="F6F0E3"/>
            </a:solidFill>
            <a:prstDash val="solid"/>
          </a:ln>
        </p:spPr>
        <p:txBody>
          <a:bodyPr/>
          <a:lstStyle/>
          <a:p>
            <a:endParaRPr lang="en-TH"/>
          </a:p>
        </p:txBody>
      </p:sp>
      <p:sp>
        <p:nvSpPr>
          <p:cNvPr id="29" name="Text 27"/>
          <p:cNvSpPr txBox="1"/>
          <p:nvPr/>
        </p:nvSpPr>
        <p:spPr>
          <a:xfrm>
            <a:off x="8705088" y="3337560"/>
            <a:ext cx="2773375" cy="237744"/>
          </a:xfrm>
          <a:prstGeom prst="rect">
            <a:avLst/>
          </a:prstGeom>
          <a:noFill/>
          <a:ln/>
        </p:spPr>
        <p:txBody>
          <a:bodyPr wrap="square" lIns="0" tIns="0" rIns="0" bIns="0" rtlCol="0" anchor="t"/>
          <a:lstStyle/>
          <a:p>
            <a:pPr marL="0" indent="0">
              <a:buNone/>
            </a:pPr>
            <a:r>
              <a:rPr lang="en-US" sz="1100" b="1" dirty="0">
                <a:solidFill>
                  <a:srgbClr val="5F6B7A"/>
                </a:solidFill>
                <a:latin typeface="Tahoma" pitchFamily="34" charset="0"/>
                <a:ea typeface="Tahoma" pitchFamily="34" charset="-122"/>
                <a:cs typeface="Tahoma" pitchFamily="34" charset="-120"/>
              </a:rPr>
              <a:t>รอบที่ 1</a:t>
            </a:r>
            <a:endParaRPr lang="en-US" sz="1100" dirty="0"/>
          </a:p>
        </p:txBody>
      </p:sp>
      <p:sp>
        <p:nvSpPr>
          <p:cNvPr id="30" name="Text 28"/>
          <p:cNvSpPr txBox="1"/>
          <p:nvPr/>
        </p:nvSpPr>
        <p:spPr>
          <a:xfrm>
            <a:off x="8705088" y="3575304"/>
            <a:ext cx="2773375" cy="457200"/>
          </a:xfrm>
          <a:prstGeom prst="rect">
            <a:avLst/>
          </a:prstGeom>
          <a:noFill/>
          <a:ln/>
        </p:spPr>
        <p:txBody>
          <a:bodyPr wrap="square" lIns="0" tIns="0" rIns="0" bIns="0" rtlCol="0" anchor="ctr"/>
          <a:lstStyle/>
          <a:p>
            <a:pPr marL="0" indent="0">
              <a:buNone/>
            </a:pPr>
            <a:r>
              <a:rPr lang="en-US" sz="2400" b="1" dirty="0">
                <a:solidFill>
                  <a:srgbClr val="A9812F"/>
                </a:solidFill>
                <a:latin typeface="Courier New" pitchFamily="34" charset="0"/>
                <a:ea typeface="Courier New" pitchFamily="34" charset="-122"/>
                <a:cs typeface="Courier New" pitchFamily="34" charset="-120"/>
              </a:rPr>
              <a:t>changed = 3</a:t>
            </a:r>
            <a:endParaRPr lang="en-US" sz="2400" dirty="0"/>
          </a:p>
        </p:txBody>
      </p:sp>
      <p:sp>
        <p:nvSpPr>
          <p:cNvPr id="31" name="Text 29"/>
          <p:cNvSpPr txBox="1"/>
          <p:nvPr/>
        </p:nvSpPr>
        <p:spPr>
          <a:xfrm>
            <a:off x="8705088" y="4032504"/>
            <a:ext cx="2819095" cy="41148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ส่งเฉพาะคำสั่งที่ยังไม่มีใน running-config</a:t>
            </a:r>
            <a:endParaRPr lang="en-US" sz="1100" dirty="0"/>
          </a:p>
        </p:txBody>
      </p:sp>
      <p:sp>
        <p:nvSpPr>
          <p:cNvPr id="32" name="Shape 30"/>
          <p:cNvSpPr/>
          <p:nvPr/>
        </p:nvSpPr>
        <p:spPr>
          <a:xfrm>
            <a:off x="10073488" y="4498848"/>
            <a:ext cx="0" cy="192024"/>
          </a:xfrm>
          <a:prstGeom prst="line">
            <a:avLst/>
          </a:prstGeom>
          <a:noFill/>
          <a:ln w="15875">
            <a:solidFill>
              <a:srgbClr val="5F6B7A"/>
            </a:solidFill>
            <a:prstDash val="solid"/>
            <a:tailEnd type="triangle"/>
          </a:ln>
        </p:spPr>
        <p:txBody>
          <a:bodyPr/>
          <a:lstStyle/>
          <a:p>
            <a:endParaRPr lang="en-TH"/>
          </a:p>
        </p:txBody>
      </p:sp>
      <p:sp>
        <p:nvSpPr>
          <p:cNvPr id="33" name="Shape 31"/>
          <p:cNvSpPr/>
          <p:nvPr/>
        </p:nvSpPr>
        <p:spPr>
          <a:xfrm>
            <a:off x="8503920" y="4709160"/>
            <a:ext cx="3139135" cy="1234440"/>
          </a:xfrm>
          <a:prstGeom prst="roundRect">
            <a:avLst>
              <a:gd name="adj" fmla="val 5926"/>
            </a:avLst>
          </a:prstGeom>
          <a:solidFill>
            <a:srgbClr val="E6F2EA"/>
          </a:solidFill>
          <a:ln w="12700">
            <a:solidFill>
              <a:srgbClr val="E6F2EA"/>
            </a:solidFill>
            <a:prstDash val="solid"/>
          </a:ln>
        </p:spPr>
        <p:txBody>
          <a:bodyPr/>
          <a:lstStyle/>
          <a:p>
            <a:endParaRPr lang="en-TH"/>
          </a:p>
        </p:txBody>
      </p:sp>
      <p:sp>
        <p:nvSpPr>
          <p:cNvPr id="34" name="Text 32"/>
          <p:cNvSpPr txBox="1"/>
          <p:nvPr/>
        </p:nvSpPr>
        <p:spPr>
          <a:xfrm>
            <a:off x="8705088" y="4800600"/>
            <a:ext cx="2773375" cy="237744"/>
          </a:xfrm>
          <a:prstGeom prst="rect">
            <a:avLst/>
          </a:prstGeom>
          <a:noFill/>
          <a:ln/>
        </p:spPr>
        <p:txBody>
          <a:bodyPr wrap="square" lIns="0" tIns="0" rIns="0" bIns="0" rtlCol="0" anchor="t"/>
          <a:lstStyle/>
          <a:p>
            <a:pPr marL="0" indent="0">
              <a:buNone/>
            </a:pPr>
            <a:r>
              <a:rPr lang="en-US" sz="1100" b="1" dirty="0">
                <a:solidFill>
                  <a:srgbClr val="5F6B7A"/>
                </a:solidFill>
                <a:latin typeface="Tahoma" pitchFamily="34" charset="0"/>
                <a:ea typeface="Tahoma" pitchFamily="34" charset="-122"/>
                <a:cs typeface="Tahoma" pitchFamily="34" charset="-120"/>
              </a:rPr>
              <a:t>รอบที่ 2</a:t>
            </a:r>
            <a:endParaRPr lang="en-US" sz="1100" dirty="0"/>
          </a:p>
        </p:txBody>
      </p:sp>
      <p:sp>
        <p:nvSpPr>
          <p:cNvPr id="35" name="Text 33"/>
          <p:cNvSpPr txBox="1"/>
          <p:nvPr/>
        </p:nvSpPr>
        <p:spPr>
          <a:xfrm>
            <a:off x="8705088" y="5038344"/>
            <a:ext cx="2773375" cy="457200"/>
          </a:xfrm>
          <a:prstGeom prst="rect">
            <a:avLst/>
          </a:prstGeom>
          <a:noFill/>
          <a:ln/>
        </p:spPr>
        <p:txBody>
          <a:bodyPr wrap="square" lIns="0" tIns="0" rIns="0" bIns="0" rtlCol="0" anchor="ctr"/>
          <a:lstStyle/>
          <a:p>
            <a:pPr marL="0" indent="0">
              <a:buNone/>
            </a:pPr>
            <a:r>
              <a:rPr lang="en-US" sz="2400" b="1" dirty="0">
                <a:solidFill>
                  <a:srgbClr val="2E7D4F"/>
                </a:solidFill>
                <a:latin typeface="Courier New" pitchFamily="34" charset="0"/>
                <a:ea typeface="Courier New" pitchFamily="34" charset="-122"/>
                <a:cs typeface="Courier New" pitchFamily="34" charset="-120"/>
              </a:rPr>
              <a:t>changed = 0</a:t>
            </a:r>
            <a:endParaRPr lang="en-US" sz="2400" dirty="0"/>
          </a:p>
        </p:txBody>
      </p:sp>
      <p:sp>
        <p:nvSpPr>
          <p:cNvPr id="36" name="Text 34"/>
          <p:cNvSpPr txBox="1"/>
          <p:nvPr/>
        </p:nvSpPr>
        <p:spPr>
          <a:xfrm>
            <a:off x="8705088" y="5495544"/>
            <a:ext cx="2819095" cy="41148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สถานะตรง desired state แล้ว ไม่ส่งอะไรเลย</a:t>
            </a:r>
            <a:endParaRPr lang="en-US" sz="1100" dirty="0"/>
          </a:p>
        </p:txBody>
      </p:sp>
      <p:sp>
        <p:nvSpPr>
          <p:cNvPr id="37" name="Text 35"/>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38" name="Text 36"/>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Demo 1 — ตรวจสอบผลบนอุปกรณ์</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ยืนยันทั้ง control plane (OSPF) และ audit trail ว่าคำสั่งมาจาก Ansible จริง</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6903720" cy="4251960"/>
          </a:xfrm>
          <a:prstGeom prst="roundRect">
            <a:avLst>
              <a:gd name="adj" fmla="val 1290"/>
            </a:avLst>
          </a:prstGeom>
          <a:solidFill>
            <a:srgbClr val="0F1A2B"/>
          </a:solidFill>
          <a:ln w="12700">
            <a:solidFill>
              <a:srgbClr val="0F1A2B"/>
            </a:solidFill>
            <a:prstDash val="solid"/>
          </a:ln>
        </p:spPr>
        <p:txBody>
          <a:bodyPr/>
          <a:lstStyle/>
          <a:p>
            <a:endParaRPr lang="en-TH"/>
          </a:p>
        </p:txBody>
      </p:sp>
      <p:sp>
        <p:nvSpPr>
          <p:cNvPr id="16" name="Shape 14"/>
          <p:cNvSpPr/>
          <p:nvPr/>
        </p:nvSpPr>
        <p:spPr>
          <a:xfrm>
            <a:off x="694944" y="1901952"/>
            <a:ext cx="91440" cy="91440"/>
          </a:xfrm>
          <a:prstGeom prst="ellipse">
            <a:avLst/>
          </a:prstGeom>
          <a:solidFill>
            <a:srgbClr val="E06C6C"/>
          </a:solidFill>
          <a:ln w="12700">
            <a:solidFill>
              <a:srgbClr val="E06C6C"/>
            </a:solidFill>
            <a:prstDash val="solid"/>
          </a:ln>
        </p:spPr>
        <p:txBody>
          <a:bodyPr/>
          <a:lstStyle/>
          <a:p>
            <a:endParaRPr lang="en-TH"/>
          </a:p>
        </p:txBody>
      </p:sp>
      <p:sp>
        <p:nvSpPr>
          <p:cNvPr id="17" name="Shape 15"/>
          <p:cNvSpPr/>
          <p:nvPr/>
        </p:nvSpPr>
        <p:spPr>
          <a:xfrm>
            <a:off x="850392" y="1901952"/>
            <a:ext cx="91440" cy="91440"/>
          </a:xfrm>
          <a:prstGeom prst="ellipse">
            <a:avLst/>
          </a:prstGeom>
          <a:solidFill>
            <a:srgbClr val="E0B25C"/>
          </a:solidFill>
          <a:ln w="12700">
            <a:solidFill>
              <a:srgbClr val="E0B25C"/>
            </a:solidFill>
            <a:prstDash val="solid"/>
          </a:ln>
        </p:spPr>
        <p:txBody>
          <a:bodyPr/>
          <a:lstStyle/>
          <a:p>
            <a:endParaRPr lang="en-TH"/>
          </a:p>
        </p:txBody>
      </p:sp>
      <p:sp>
        <p:nvSpPr>
          <p:cNvPr id="18" name="Shape 16"/>
          <p:cNvSpPr/>
          <p:nvPr/>
        </p:nvSpPr>
        <p:spPr>
          <a:xfrm>
            <a:off x="1005840" y="1901952"/>
            <a:ext cx="91440" cy="91440"/>
          </a:xfrm>
          <a:prstGeom prst="ellipse">
            <a:avLst/>
          </a:prstGeom>
          <a:solidFill>
            <a:srgbClr val="6CC08B"/>
          </a:solidFill>
          <a:ln w="12700">
            <a:solidFill>
              <a:srgbClr val="6CC08B"/>
            </a:solidFill>
            <a:prstDash val="solid"/>
          </a:ln>
        </p:spPr>
        <p:txBody>
          <a:bodyPr/>
          <a:lstStyle/>
          <a:p>
            <a:endParaRPr lang="en-TH"/>
          </a:p>
        </p:txBody>
      </p:sp>
      <p:sp>
        <p:nvSpPr>
          <p:cNvPr id="19" name="Text 17"/>
          <p:cNvSpPr txBox="1"/>
          <p:nvPr/>
        </p:nvSpPr>
        <p:spPr>
          <a:xfrm>
            <a:off x="1207008" y="1819656"/>
            <a:ext cx="6126480"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R1 — verification</a:t>
            </a:r>
            <a:endParaRPr lang="en-US" sz="1000" dirty="0"/>
          </a:p>
        </p:txBody>
      </p:sp>
      <p:sp>
        <p:nvSpPr>
          <p:cNvPr id="20" name="Shape 18"/>
          <p:cNvSpPr/>
          <p:nvPr/>
        </p:nvSpPr>
        <p:spPr>
          <a:xfrm>
            <a:off x="548640" y="2112264"/>
            <a:ext cx="6903720" cy="0"/>
          </a:xfrm>
          <a:prstGeom prst="line">
            <a:avLst/>
          </a:prstGeom>
          <a:noFill/>
          <a:ln w="9525">
            <a:solidFill>
              <a:srgbClr val="26364F"/>
            </a:solidFill>
            <a:prstDash val="solid"/>
          </a:ln>
        </p:spPr>
        <p:txBody>
          <a:bodyPr/>
          <a:lstStyle/>
          <a:p>
            <a:endParaRPr lang="en-TH"/>
          </a:p>
        </p:txBody>
      </p:sp>
      <p:sp>
        <p:nvSpPr>
          <p:cNvPr id="21" name="Text 19"/>
          <p:cNvSpPr txBox="1"/>
          <p:nvPr/>
        </p:nvSpPr>
        <p:spPr>
          <a:xfrm>
            <a:off x="713232" y="2203704"/>
            <a:ext cx="6629400" cy="3758184"/>
          </a:xfrm>
          <a:prstGeom prst="rect">
            <a:avLst/>
          </a:prstGeom>
          <a:noFill/>
          <a:ln/>
        </p:spPr>
        <p:txBody>
          <a:bodyPr wrap="square" lIns="0" tIns="0" rIns="0" bIns="0" rtlCol="0" anchor="t"/>
          <a:lstStyle/>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ip ospf neighbor</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Neighbor ID     Pri   State           Dead Time   Address         Interface</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2.2.2.2           1   FULL/DR         00:00:31    10.12.12.2      GigabitEthernet0/1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ip route ospf | begin Gateway</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Gateway of last resort is not set</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2.0.0.0/32 is subnetted, 1 subnets</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O        2.2.2.2 [110/2] via 10.12.12.2, 00:00:40, GigabitEthernet0/1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archive log config all | include router-id</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40     0          admin@vty1     | router-id 1.1.1.1</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logging | include CONFIG_I</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*Sep 16 23:20:38.643: %SYS-5-CONFIG_I: Configured from console</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by admin on vty1 (192.168.100.10)</a:t>
            </a:r>
            <a:endParaRPr lang="en-US" sz="950" dirty="0"/>
          </a:p>
        </p:txBody>
      </p:sp>
      <p:sp>
        <p:nvSpPr>
          <p:cNvPr id="22" name="Text 20"/>
          <p:cNvSpPr txBox="1"/>
          <p:nvPr/>
        </p:nvSpPr>
        <p:spPr>
          <a:xfrm>
            <a:off x="548640" y="6053328"/>
            <a:ext cx="6903720" cy="219456"/>
          </a:xfrm>
          <a:prstGeom prst="rect">
            <a:avLst/>
          </a:prstGeom>
          <a:noFill/>
          <a:ln/>
        </p:spPr>
        <p:txBody>
          <a:bodyPr wrap="square" lIns="0" tIns="0" rIns="0" bIns="0" rtlCol="0" anchor="t"/>
          <a:lstStyle/>
          <a:p>
            <a:pPr marL="0" indent="0" algn="r">
              <a:buNone/>
            </a:pPr>
            <a:r>
              <a:rPr lang="en-US" sz="950" i="1" dirty="0">
                <a:solidFill>
                  <a:srgbClr val="5F6B7A"/>
                </a:solidFill>
                <a:latin typeface="Tahoma" pitchFamily="34" charset="0"/>
                <a:ea typeface="Tahoma" pitchFamily="34" charset="-122"/>
                <a:cs typeface="Tahoma" pitchFamily="34" charset="-120"/>
              </a:rPr>
              <a:t>ผลลัพธ์จริงจากแลบ Cisco CML (DevNet Sandbox) — ย่อช่องว่างบางส่วนให้พอดีสไลด์</a:t>
            </a:r>
            <a:endParaRPr lang="en-US" sz="950" dirty="0"/>
          </a:p>
        </p:txBody>
      </p:sp>
      <p:sp>
        <p:nvSpPr>
          <p:cNvPr id="23" name="Text 21"/>
          <p:cNvSpPr txBox="1"/>
          <p:nvPr/>
        </p:nvSpPr>
        <p:spPr>
          <a:xfrm>
            <a:off x="7772400" y="1755648"/>
            <a:ext cx="387065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สิ่งที่ยืนยันได้</a:t>
            </a:r>
            <a:endParaRPr lang="en-US" sz="1400" dirty="0"/>
          </a:p>
        </p:txBody>
      </p:sp>
      <p:pic>
        <p:nvPicPr>
          <p:cNvPr id="24" name="Image 0" descr="preencoded.png"/>
          <p:cNvPicPr>
            <a:picLocks noChangeAspect="1"/>
          </p:cNvPicPr>
          <p:nvPr/>
        </p:nvPicPr>
        <p:blipFill>
          <a:blip r:embed="rId3"/>
          <a:stretch>
            <a:fillRect/>
          </a:stretch>
        </p:blipFill>
        <p:spPr>
          <a:xfrm>
            <a:off x="7772400" y="2194560"/>
            <a:ext cx="256032" cy="256032"/>
          </a:xfrm>
          <a:prstGeom prst="rect">
            <a:avLst/>
          </a:prstGeom>
        </p:spPr>
      </p:pic>
      <p:sp>
        <p:nvSpPr>
          <p:cNvPr id="25" name="Text 22"/>
          <p:cNvSpPr txBox="1"/>
          <p:nvPr/>
        </p:nvSpPr>
        <p:spPr>
          <a:xfrm>
            <a:off x="8119872" y="2139696"/>
            <a:ext cx="3523183" cy="402336"/>
          </a:xfrm>
          <a:prstGeom prst="rect">
            <a:avLst/>
          </a:prstGeom>
          <a:noFill/>
          <a:ln/>
        </p:spPr>
        <p:txBody>
          <a:bodyPr wrap="square" lIns="0" tIns="0" rIns="0" bIns="0" rtlCol="0" anchor="ctr"/>
          <a:lstStyle/>
          <a:p>
            <a:pPr marL="0" indent="0">
              <a:buNone/>
            </a:pPr>
            <a:r>
              <a:rPr lang="en-US" sz="1050" b="1" dirty="0">
                <a:solidFill>
                  <a:srgbClr val="13233F"/>
                </a:solidFill>
                <a:latin typeface="Courier New" pitchFamily="34" charset="0"/>
                <a:ea typeface="Courier New" pitchFamily="34" charset="-122"/>
                <a:cs typeface="Courier New" pitchFamily="34" charset="-120"/>
              </a:rPr>
              <a:t>FULL/DR  </a:t>
            </a:r>
            <a:r>
              <a:rPr lang="en-US" sz="1150" dirty="0">
                <a:solidFill>
                  <a:srgbClr val="1E2733"/>
                </a:solidFill>
                <a:latin typeface="Tahoma" pitchFamily="34" charset="0"/>
                <a:ea typeface="Tahoma" pitchFamily="34" charset="-122"/>
                <a:cs typeface="Tahoma" pitchFamily="34" charset="-120"/>
              </a:rPr>
              <a:t>adjacency สมบูรณ์ แลก LSA ครบ</a:t>
            </a:r>
            <a:endParaRPr lang="en-US" sz="1150" dirty="0"/>
          </a:p>
        </p:txBody>
      </p:sp>
      <p:pic>
        <p:nvPicPr>
          <p:cNvPr id="26" name="Image 1" descr="preencoded.png"/>
          <p:cNvPicPr>
            <a:picLocks noChangeAspect="1"/>
          </p:cNvPicPr>
          <p:nvPr/>
        </p:nvPicPr>
        <p:blipFill>
          <a:blip r:embed="rId3"/>
          <a:stretch>
            <a:fillRect/>
          </a:stretch>
        </p:blipFill>
        <p:spPr>
          <a:xfrm>
            <a:off x="7772400" y="2670048"/>
            <a:ext cx="256032" cy="256032"/>
          </a:xfrm>
          <a:prstGeom prst="rect">
            <a:avLst/>
          </a:prstGeom>
        </p:spPr>
      </p:pic>
      <p:sp>
        <p:nvSpPr>
          <p:cNvPr id="27" name="Text 23"/>
          <p:cNvSpPr txBox="1"/>
          <p:nvPr/>
        </p:nvSpPr>
        <p:spPr>
          <a:xfrm>
            <a:off x="8119872" y="2615184"/>
            <a:ext cx="3523183" cy="402336"/>
          </a:xfrm>
          <a:prstGeom prst="rect">
            <a:avLst/>
          </a:prstGeom>
          <a:noFill/>
          <a:ln/>
        </p:spPr>
        <p:txBody>
          <a:bodyPr wrap="square" lIns="0" tIns="0" rIns="0" bIns="0" rtlCol="0" anchor="ctr"/>
          <a:lstStyle/>
          <a:p>
            <a:pPr marL="0" indent="0">
              <a:buNone/>
            </a:pPr>
            <a:r>
              <a:rPr lang="en-US" sz="1050" b="1" dirty="0">
                <a:solidFill>
                  <a:srgbClr val="13233F"/>
                </a:solidFill>
                <a:latin typeface="Courier New" pitchFamily="34" charset="0"/>
                <a:ea typeface="Courier New" pitchFamily="34" charset="-122"/>
                <a:cs typeface="Courier New" pitchFamily="34" charset="-120"/>
              </a:rPr>
              <a:t>O [110/2]  </a:t>
            </a:r>
            <a:r>
              <a:rPr lang="en-US" sz="1150" dirty="0">
                <a:solidFill>
                  <a:srgbClr val="1E2733"/>
                </a:solidFill>
                <a:latin typeface="Tahoma" pitchFamily="34" charset="0"/>
                <a:ea typeface="Tahoma" pitchFamily="34" charset="-122"/>
                <a:cs typeface="Tahoma" pitchFamily="34" charset="-120"/>
              </a:rPr>
              <a:t>AD 110, cost 1 + 1 ผ่าน Gi0/1</a:t>
            </a:r>
            <a:endParaRPr lang="en-US" sz="1150" dirty="0"/>
          </a:p>
        </p:txBody>
      </p:sp>
      <p:pic>
        <p:nvPicPr>
          <p:cNvPr id="28" name="Image 2" descr="preencoded.png"/>
          <p:cNvPicPr>
            <a:picLocks noChangeAspect="1"/>
          </p:cNvPicPr>
          <p:nvPr/>
        </p:nvPicPr>
        <p:blipFill>
          <a:blip r:embed="rId3"/>
          <a:stretch>
            <a:fillRect/>
          </a:stretch>
        </p:blipFill>
        <p:spPr>
          <a:xfrm>
            <a:off x="7772400" y="3145536"/>
            <a:ext cx="256032" cy="256032"/>
          </a:xfrm>
          <a:prstGeom prst="rect">
            <a:avLst/>
          </a:prstGeom>
        </p:spPr>
      </p:pic>
      <p:sp>
        <p:nvSpPr>
          <p:cNvPr id="29" name="Text 24"/>
          <p:cNvSpPr txBox="1"/>
          <p:nvPr/>
        </p:nvSpPr>
        <p:spPr>
          <a:xfrm>
            <a:off x="8119872" y="3090672"/>
            <a:ext cx="3523183" cy="402336"/>
          </a:xfrm>
          <a:prstGeom prst="rect">
            <a:avLst/>
          </a:prstGeom>
          <a:noFill/>
          <a:ln/>
        </p:spPr>
        <p:txBody>
          <a:bodyPr wrap="square" lIns="0" tIns="0" rIns="0" bIns="0" rtlCol="0" anchor="ctr"/>
          <a:lstStyle/>
          <a:p>
            <a:pPr marL="0" indent="0">
              <a:buNone/>
            </a:pPr>
            <a:r>
              <a:rPr lang="en-US" sz="1050" b="1" dirty="0">
                <a:solidFill>
                  <a:srgbClr val="13233F"/>
                </a:solidFill>
                <a:latin typeface="Courier New" pitchFamily="34" charset="0"/>
                <a:ea typeface="Courier New" pitchFamily="34" charset="-122"/>
                <a:cs typeface="Courier New" pitchFamily="34" charset="-120"/>
              </a:rPr>
              <a:t>admin@vty1  </a:t>
            </a:r>
            <a:r>
              <a:rPr lang="en-US" sz="1150" dirty="0">
                <a:solidFill>
                  <a:srgbClr val="1E2733"/>
                </a:solidFill>
                <a:latin typeface="Tahoma" pitchFamily="34" charset="0"/>
                <a:ea typeface="Tahoma" pitchFamily="34" charset="-122"/>
                <a:cs typeface="Tahoma" pitchFamily="34" charset="-120"/>
              </a:rPr>
              <a:t>ทุกคำสั่งถูกส่งผ่าน SSH session ของ Ansible</a:t>
            </a:r>
            <a:endParaRPr lang="en-US" sz="1150" dirty="0"/>
          </a:p>
        </p:txBody>
      </p:sp>
      <p:pic>
        <p:nvPicPr>
          <p:cNvPr id="30" name="Image 3" descr="preencoded.png"/>
          <p:cNvPicPr>
            <a:picLocks noChangeAspect="1"/>
          </p:cNvPicPr>
          <p:nvPr/>
        </p:nvPicPr>
        <p:blipFill>
          <a:blip r:embed="rId3"/>
          <a:stretch>
            <a:fillRect/>
          </a:stretch>
        </p:blipFill>
        <p:spPr>
          <a:xfrm>
            <a:off x="7772400" y="3621024"/>
            <a:ext cx="256032" cy="256032"/>
          </a:xfrm>
          <a:prstGeom prst="rect">
            <a:avLst/>
          </a:prstGeom>
        </p:spPr>
      </p:pic>
      <p:sp>
        <p:nvSpPr>
          <p:cNvPr id="31" name="Text 25"/>
          <p:cNvSpPr txBox="1"/>
          <p:nvPr/>
        </p:nvSpPr>
        <p:spPr>
          <a:xfrm>
            <a:off x="8119872" y="3566160"/>
            <a:ext cx="3523183" cy="402336"/>
          </a:xfrm>
          <a:prstGeom prst="rect">
            <a:avLst/>
          </a:prstGeom>
          <a:noFill/>
          <a:ln/>
        </p:spPr>
        <p:txBody>
          <a:bodyPr wrap="square" lIns="0" tIns="0" rIns="0" bIns="0" rtlCol="0" anchor="ctr"/>
          <a:lstStyle/>
          <a:p>
            <a:pPr marL="0" indent="0">
              <a:buNone/>
            </a:pPr>
            <a:r>
              <a:rPr lang="en-US" sz="1050" b="1" dirty="0">
                <a:solidFill>
                  <a:srgbClr val="13233F"/>
                </a:solidFill>
                <a:latin typeface="Courier New" pitchFamily="34" charset="0"/>
                <a:ea typeface="Courier New" pitchFamily="34" charset="-122"/>
                <a:cs typeface="Courier New" pitchFamily="34" charset="-120"/>
              </a:rPr>
              <a:t>(192.168.100.10)  </a:t>
            </a:r>
            <a:r>
              <a:rPr lang="en-US" sz="1150" dirty="0">
                <a:solidFill>
                  <a:srgbClr val="1E2733"/>
                </a:solidFill>
                <a:latin typeface="Tahoma" pitchFamily="34" charset="0"/>
                <a:ea typeface="Tahoma" pitchFamily="34" charset="-122"/>
                <a:cs typeface="Tahoma" pitchFamily="34" charset="-120"/>
              </a:rPr>
              <a:t>syslog ระบุ IP ต้นทางคือ control node</a:t>
            </a:r>
            <a:endParaRPr lang="en-US" sz="1150" dirty="0"/>
          </a:p>
        </p:txBody>
      </p:sp>
      <p:sp>
        <p:nvSpPr>
          <p:cNvPr id="32" name="Shape 26"/>
          <p:cNvSpPr/>
          <p:nvPr/>
        </p:nvSpPr>
        <p:spPr>
          <a:xfrm>
            <a:off x="7772400" y="4114800"/>
            <a:ext cx="3870655" cy="2103120"/>
          </a:xfrm>
          <a:prstGeom prst="roundRect">
            <a:avLst>
              <a:gd name="adj" fmla="val 2609"/>
            </a:avLst>
          </a:prstGeom>
          <a:solidFill>
            <a:srgbClr val="F3F5F8"/>
          </a:solidFill>
          <a:ln w="9525">
            <a:solidFill>
              <a:srgbClr val="D6DCE4"/>
            </a:solidFill>
            <a:prstDash val="solid"/>
          </a:ln>
        </p:spPr>
        <p:txBody>
          <a:bodyPr/>
          <a:lstStyle/>
          <a:p>
            <a:endParaRPr lang="en-TH"/>
          </a:p>
        </p:txBody>
      </p:sp>
      <p:pic>
        <p:nvPicPr>
          <p:cNvPr id="33" name="Image 4" descr="preencoded.png"/>
          <p:cNvPicPr>
            <a:picLocks noChangeAspect="1"/>
          </p:cNvPicPr>
          <p:nvPr/>
        </p:nvPicPr>
        <p:blipFill>
          <a:blip r:embed="rId4"/>
          <a:stretch>
            <a:fillRect/>
          </a:stretch>
        </p:blipFill>
        <p:spPr>
          <a:xfrm>
            <a:off x="7936992" y="4206240"/>
            <a:ext cx="292608" cy="292608"/>
          </a:xfrm>
          <a:prstGeom prst="rect">
            <a:avLst/>
          </a:prstGeom>
        </p:spPr>
      </p:pic>
      <p:sp>
        <p:nvSpPr>
          <p:cNvPr id="34" name="Text 27"/>
          <p:cNvSpPr txBox="1"/>
          <p:nvPr/>
        </p:nvSpPr>
        <p:spPr>
          <a:xfrm>
            <a:off x="8321040" y="4206240"/>
            <a:ext cx="3230575" cy="29260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Packet capture บนลิงก์ MGMT</a:t>
            </a:r>
            <a:endParaRPr lang="en-US" sz="1250" dirty="0"/>
          </a:p>
        </p:txBody>
      </p:sp>
      <p:sp>
        <p:nvSpPr>
          <p:cNvPr id="35" name="Text 28"/>
          <p:cNvSpPr txBox="1"/>
          <p:nvPr/>
        </p:nvSpPr>
        <p:spPr>
          <a:xfrm>
            <a:off x="7955280" y="4572000"/>
            <a:ext cx="3550615" cy="160020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1E2733"/>
                </a:solidFill>
                <a:latin typeface="Tahoma" pitchFamily="34" charset="0"/>
                <a:ea typeface="Tahoma" pitchFamily="34" charset="-122"/>
                <a:cs typeface="Tahoma" pitchFamily="34" charset="-120"/>
              </a:rPr>
              <a:t>Filter: </a:t>
            </a:r>
            <a:r>
              <a:rPr lang="en-US" sz="1100" b="1" dirty="0">
                <a:solidFill>
                  <a:srgbClr val="13233F"/>
                </a:solidFill>
                <a:latin typeface="Courier New" pitchFamily="34" charset="0"/>
                <a:ea typeface="Courier New" pitchFamily="34" charset="-122"/>
                <a:cs typeface="Courier New" pitchFamily="34" charset="-120"/>
              </a:rPr>
              <a:t>tcp.port == 22</a:t>
            </a:r>
            <a:endParaRPr lang="en-US" sz="1100" dirty="0"/>
          </a:p>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TCP handshake .10 → .11:22</a:t>
            </a:r>
            <a:endParaRPr lang="en-US" sz="1100" dirty="0"/>
          </a:p>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SSH-2.0 banner + Key Exchange</a:t>
            </a:r>
            <a:endParaRPr lang="en-US" sz="1100" dirty="0"/>
          </a:p>
          <a:p>
            <a:pPr marL="177800" indent="-177800">
              <a:spcAft>
                <a:spcPts val="300"/>
              </a:spcAft>
              <a:buSzPct val="100000"/>
              <a:buChar char="•"/>
            </a:pPr>
            <a:r>
              <a:rPr lang="en-US" sz="1100" dirty="0">
                <a:solidFill>
                  <a:srgbClr val="1E2733"/>
                </a:solidFill>
                <a:latin typeface="Tahoma" pitchFamily="34" charset="0"/>
                <a:ea typeface="Tahoma" pitchFamily="34" charset="-122"/>
                <a:cs typeface="Tahoma" pitchFamily="34" charset="-120"/>
              </a:rPr>
              <a:t>payload ถูกเข้ารหัสทั้งหมด (config ไม่รั่ว)</a:t>
            </a:r>
            <a:endParaRPr lang="en-US" sz="1100" dirty="0"/>
          </a:p>
          <a:p>
            <a:pPr marL="177800" indent="-177800">
              <a:spcAft>
                <a:spcPts val="300"/>
              </a:spcAft>
              <a:buSzPct val="100000"/>
              <a:buChar char="•"/>
            </a:pPr>
            <a:r>
              <a:rPr lang="en-US" sz="1100" b="1" dirty="0">
                <a:solidFill>
                  <a:srgbClr val="1E2733"/>
                </a:solidFill>
                <a:latin typeface="Tahoma" pitchFamily="34" charset="0"/>
                <a:ea typeface="Tahoma" pitchFamily="34" charset="-122"/>
                <a:cs typeface="Tahoma" pitchFamily="34" charset="-120"/>
              </a:rPr>
              <a:t>ไม่มี port อื่นของ agent = agentless จริง</a:t>
            </a:r>
            <a:endParaRPr lang="en-US" sz="1100" dirty="0"/>
          </a:p>
        </p:txBody>
      </p:sp>
      <p:sp>
        <p:nvSpPr>
          <p:cNvPr id="36" name="Text 29"/>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37" name="Text 30"/>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Demo 2 — EEM เก็บหลักฐานเมื่อ OSPF ล่ม</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ตั้งบน R1: เมื่อ syslog ตรง pattern ให้เก็บ neighbor ทันที รอ SPF 6 วินาทีแล้วเก็บ routing table และส่ง syslog critical</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11094415" cy="1874520"/>
          </a:xfrm>
          <a:prstGeom prst="roundRect">
            <a:avLst>
              <a:gd name="adj" fmla="val 2927"/>
            </a:avLst>
          </a:prstGeom>
          <a:solidFill>
            <a:srgbClr val="0F1A2B"/>
          </a:solidFill>
          <a:ln w="12700">
            <a:solidFill>
              <a:srgbClr val="0F1A2B"/>
            </a:solidFill>
            <a:prstDash val="solid"/>
          </a:ln>
        </p:spPr>
        <p:txBody>
          <a:bodyPr/>
          <a:lstStyle/>
          <a:p>
            <a:endParaRPr lang="en-TH"/>
          </a:p>
        </p:txBody>
      </p:sp>
      <p:sp>
        <p:nvSpPr>
          <p:cNvPr id="16" name="Shape 14"/>
          <p:cNvSpPr/>
          <p:nvPr/>
        </p:nvSpPr>
        <p:spPr>
          <a:xfrm>
            <a:off x="694944" y="1901952"/>
            <a:ext cx="91440" cy="91440"/>
          </a:xfrm>
          <a:prstGeom prst="ellipse">
            <a:avLst/>
          </a:prstGeom>
          <a:solidFill>
            <a:srgbClr val="E06C6C"/>
          </a:solidFill>
          <a:ln w="12700">
            <a:solidFill>
              <a:srgbClr val="E06C6C"/>
            </a:solidFill>
            <a:prstDash val="solid"/>
          </a:ln>
        </p:spPr>
        <p:txBody>
          <a:bodyPr/>
          <a:lstStyle/>
          <a:p>
            <a:endParaRPr lang="en-TH"/>
          </a:p>
        </p:txBody>
      </p:sp>
      <p:sp>
        <p:nvSpPr>
          <p:cNvPr id="17" name="Shape 15"/>
          <p:cNvSpPr/>
          <p:nvPr/>
        </p:nvSpPr>
        <p:spPr>
          <a:xfrm>
            <a:off x="850392" y="1901952"/>
            <a:ext cx="91440" cy="91440"/>
          </a:xfrm>
          <a:prstGeom prst="ellipse">
            <a:avLst/>
          </a:prstGeom>
          <a:solidFill>
            <a:srgbClr val="E0B25C"/>
          </a:solidFill>
          <a:ln w="12700">
            <a:solidFill>
              <a:srgbClr val="E0B25C"/>
            </a:solidFill>
            <a:prstDash val="solid"/>
          </a:ln>
        </p:spPr>
        <p:txBody>
          <a:bodyPr/>
          <a:lstStyle/>
          <a:p>
            <a:endParaRPr lang="en-TH"/>
          </a:p>
        </p:txBody>
      </p:sp>
      <p:sp>
        <p:nvSpPr>
          <p:cNvPr id="18" name="Shape 16"/>
          <p:cNvSpPr/>
          <p:nvPr/>
        </p:nvSpPr>
        <p:spPr>
          <a:xfrm>
            <a:off x="1005840" y="1901952"/>
            <a:ext cx="91440" cy="91440"/>
          </a:xfrm>
          <a:prstGeom prst="ellipse">
            <a:avLst/>
          </a:prstGeom>
          <a:solidFill>
            <a:srgbClr val="6CC08B"/>
          </a:solidFill>
          <a:ln w="12700">
            <a:solidFill>
              <a:srgbClr val="6CC08B"/>
            </a:solidFill>
            <a:prstDash val="solid"/>
          </a:ln>
        </p:spPr>
        <p:txBody>
          <a:bodyPr/>
          <a:lstStyle/>
          <a:p>
            <a:endParaRPr lang="en-TH"/>
          </a:p>
        </p:txBody>
      </p:sp>
      <p:sp>
        <p:nvSpPr>
          <p:cNvPr id="19" name="Text 17"/>
          <p:cNvSpPr txBox="1"/>
          <p:nvPr/>
        </p:nvSpPr>
        <p:spPr>
          <a:xfrm>
            <a:off x="1207008" y="1819656"/>
            <a:ext cx="10317175"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R1 — applet configuration</a:t>
            </a:r>
            <a:endParaRPr lang="en-US" sz="1000" dirty="0"/>
          </a:p>
        </p:txBody>
      </p:sp>
      <p:sp>
        <p:nvSpPr>
          <p:cNvPr id="20" name="Shape 18"/>
          <p:cNvSpPr/>
          <p:nvPr/>
        </p:nvSpPr>
        <p:spPr>
          <a:xfrm>
            <a:off x="548640" y="2112264"/>
            <a:ext cx="11094415" cy="0"/>
          </a:xfrm>
          <a:prstGeom prst="line">
            <a:avLst/>
          </a:prstGeom>
          <a:noFill/>
          <a:ln w="9525">
            <a:solidFill>
              <a:srgbClr val="26364F"/>
            </a:solidFill>
            <a:prstDash val="solid"/>
          </a:ln>
        </p:spPr>
        <p:txBody>
          <a:bodyPr/>
          <a:lstStyle/>
          <a:p>
            <a:endParaRPr lang="en-TH"/>
          </a:p>
        </p:txBody>
      </p:sp>
      <p:sp>
        <p:nvSpPr>
          <p:cNvPr id="21" name="Text 19"/>
          <p:cNvSpPr txBox="1"/>
          <p:nvPr/>
        </p:nvSpPr>
        <p:spPr>
          <a:xfrm>
            <a:off x="713232" y="2203704"/>
            <a:ext cx="10820095" cy="1380744"/>
          </a:xfrm>
          <a:prstGeom prst="rect">
            <a:avLst/>
          </a:prstGeom>
          <a:noFill/>
          <a:ln/>
        </p:spPr>
        <p:txBody>
          <a:bodyPr wrap="square" lIns="0" tIns="0" rIns="0" bIns="0" rtlCol="0" anchor="t"/>
          <a:lstStyle/>
          <a:p>
            <a:pPr marL="0" indent="0">
              <a:buNone/>
            </a:pPr>
            <a:r>
              <a:rPr lang="en-US" sz="1000" b="1" dirty="0">
                <a:solidFill>
                  <a:srgbClr val="8FCB9B"/>
                </a:solidFill>
                <a:latin typeface="Courier New" pitchFamily="34" charset="0"/>
                <a:ea typeface="Courier New" pitchFamily="34" charset="-122"/>
                <a:cs typeface="Courier New" pitchFamily="34" charset="-120"/>
              </a:rPr>
              <a:t>R1(config)# </a:t>
            </a:r>
            <a:r>
              <a:rPr lang="en-US" sz="1000" b="1" dirty="0">
                <a:solidFill>
                  <a:srgbClr val="FFFFFF"/>
                </a:solidFill>
                <a:latin typeface="Courier New" pitchFamily="34" charset="0"/>
                <a:ea typeface="Courier New" pitchFamily="34" charset="-122"/>
                <a:cs typeface="Courier New" pitchFamily="34" charset="-120"/>
              </a:rPr>
              <a:t>event manager applet OSPF-NBR-DOWN</a:t>
            </a:r>
            <a:endParaRPr lang="en-US" sz="1000" dirty="0"/>
          </a:p>
          <a:p>
            <a:pPr marL="0" indent="0">
              <a:buNone/>
            </a:pPr>
            <a:r>
              <a:rPr lang="en-US" sz="1000" dirty="0">
                <a:solidFill>
                  <a:srgbClr val="E8C46A"/>
                </a:solidFill>
                <a:latin typeface="Courier New" pitchFamily="34" charset="0"/>
                <a:ea typeface="Courier New" pitchFamily="34" charset="-122"/>
                <a:cs typeface="Courier New" pitchFamily="34" charset="-120"/>
              </a:rPr>
              <a:t> event syslog pattern "OSPF-5-ADJCHG.*FULL to DOWN" ratelimit 60 maxrun 60</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action 1.0 cli command "enable"</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action 1.5 cli command "delete /force flash0:ospf-ev.txt"</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action 2.0 cli command "show ip ospf neighbor | redirect flash0:ospf-ev.txt"</a:t>
            </a:r>
            <a:endParaRPr lang="en-US" sz="1000" dirty="0"/>
          </a:p>
          <a:p>
            <a:pPr marL="0" indent="0">
              <a:buNone/>
            </a:pPr>
            <a:r>
              <a:rPr lang="en-US" sz="1000" dirty="0">
                <a:solidFill>
                  <a:srgbClr val="E8C46A"/>
                </a:solidFill>
                <a:latin typeface="Courier New" pitchFamily="34" charset="0"/>
                <a:ea typeface="Courier New" pitchFamily="34" charset="-122"/>
                <a:cs typeface="Courier New" pitchFamily="34" charset="-120"/>
              </a:rPr>
              <a:t> action 2.5 wait 6</a:t>
            </a:r>
            <a:endParaRPr lang="en-US" sz="1000" dirty="0"/>
          </a:p>
          <a:p>
            <a:pPr marL="0" indent="0">
              <a:buNone/>
            </a:pPr>
            <a:r>
              <a:rPr lang="en-US" sz="1000" dirty="0">
                <a:solidFill>
                  <a:srgbClr val="D5DCE6"/>
                </a:solidFill>
                <a:latin typeface="Courier New" pitchFamily="34" charset="0"/>
                <a:ea typeface="Courier New" pitchFamily="34" charset="-122"/>
                <a:cs typeface="Courier New" pitchFamily="34" charset="-120"/>
              </a:rPr>
              <a:t> action 3.0 cli command "show ip route ospf | append flash0:ospf-ev.txt"</a:t>
            </a:r>
            <a:endParaRPr lang="en-US" sz="1000" dirty="0"/>
          </a:p>
          <a:p>
            <a:pPr marL="0" indent="0">
              <a:buNone/>
            </a:pPr>
            <a:r>
              <a:rPr lang="en-US" sz="1000" dirty="0">
                <a:solidFill>
                  <a:srgbClr val="8FCB9B"/>
                </a:solidFill>
                <a:latin typeface="Courier New" pitchFamily="34" charset="0"/>
                <a:ea typeface="Courier New" pitchFamily="34" charset="-122"/>
                <a:cs typeface="Courier New" pitchFamily="34" charset="-120"/>
              </a:rPr>
              <a:t> action 4.0 syslog priority critical msg "OSPF nbr lost - evidence saved"</a:t>
            </a:r>
            <a:endParaRPr lang="en-US" sz="1000" dirty="0"/>
          </a:p>
        </p:txBody>
      </p:sp>
      <p:sp>
        <p:nvSpPr>
          <p:cNvPr id="22" name="Shape 20"/>
          <p:cNvSpPr/>
          <p:nvPr/>
        </p:nvSpPr>
        <p:spPr>
          <a:xfrm>
            <a:off x="548640" y="3794760"/>
            <a:ext cx="4572000" cy="2240280"/>
          </a:xfrm>
          <a:prstGeom prst="roundRect">
            <a:avLst>
              <a:gd name="adj" fmla="val 2449"/>
            </a:avLst>
          </a:prstGeom>
          <a:solidFill>
            <a:srgbClr val="0F1A2B"/>
          </a:solidFill>
          <a:ln w="12700">
            <a:solidFill>
              <a:srgbClr val="0F1A2B"/>
            </a:solidFill>
            <a:prstDash val="solid"/>
          </a:ln>
        </p:spPr>
        <p:txBody>
          <a:bodyPr/>
          <a:lstStyle/>
          <a:p>
            <a:endParaRPr lang="en-TH"/>
          </a:p>
        </p:txBody>
      </p:sp>
      <p:sp>
        <p:nvSpPr>
          <p:cNvPr id="23" name="Shape 21"/>
          <p:cNvSpPr/>
          <p:nvPr/>
        </p:nvSpPr>
        <p:spPr>
          <a:xfrm>
            <a:off x="694944" y="3913632"/>
            <a:ext cx="91440" cy="91440"/>
          </a:xfrm>
          <a:prstGeom prst="ellipse">
            <a:avLst/>
          </a:prstGeom>
          <a:solidFill>
            <a:srgbClr val="E06C6C"/>
          </a:solidFill>
          <a:ln w="12700">
            <a:solidFill>
              <a:srgbClr val="E06C6C"/>
            </a:solidFill>
            <a:prstDash val="solid"/>
          </a:ln>
        </p:spPr>
        <p:txBody>
          <a:bodyPr/>
          <a:lstStyle/>
          <a:p>
            <a:endParaRPr lang="en-TH"/>
          </a:p>
        </p:txBody>
      </p:sp>
      <p:sp>
        <p:nvSpPr>
          <p:cNvPr id="24" name="Shape 22"/>
          <p:cNvSpPr/>
          <p:nvPr/>
        </p:nvSpPr>
        <p:spPr>
          <a:xfrm>
            <a:off x="850392" y="3913632"/>
            <a:ext cx="91440" cy="91440"/>
          </a:xfrm>
          <a:prstGeom prst="ellipse">
            <a:avLst/>
          </a:prstGeom>
          <a:solidFill>
            <a:srgbClr val="E0B25C"/>
          </a:solidFill>
          <a:ln w="12700">
            <a:solidFill>
              <a:srgbClr val="E0B25C"/>
            </a:solidFill>
            <a:prstDash val="solid"/>
          </a:ln>
        </p:spPr>
        <p:txBody>
          <a:bodyPr/>
          <a:lstStyle/>
          <a:p>
            <a:endParaRPr lang="en-TH"/>
          </a:p>
        </p:txBody>
      </p:sp>
      <p:sp>
        <p:nvSpPr>
          <p:cNvPr id="25" name="Shape 23"/>
          <p:cNvSpPr/>
          <p:nvPr/>
        </p:nvSpPr>
        <p:spPr>
          <a:xfrm>
            <a:off x="1005840" y="3913632"/>
            <a:ext cx="91440" cy="91440"/>
          </a:xfrm>
          <a:prstGeom prst="ellipse">
            <a:avLst/>
          </a:prstGeom>
          <a:solidFill>
            <a:srgbClr val="6CC08B"/>
          </a:solidFill>
          <a:ln w="12700">
            <a:solidFill>
              <a:srgbClr val="6CC08B"/>
            </a:solidFill>
            <a:prstDash val="solid"/>
          </a:ln>
        </p:spPr>
        <p:txBody>
          <a:bodyPr/>
          <a:lstStyle/>
          <a:p>
            <a:endParaRPr lang="en-TH"/>
          </a:p>
        </p:txBody>
      </p:sp>
      <p:sp>
        <p:nvSpPr>
          <p:cNvPr id="26" name="Text 24"/>
          <p:cNvSpPr txBox="1"/>
          <p:nvPr/>
        </p:nvSpPr>
        <p:spPr>
          <a:xfrm>
            <a:off x="1207008" y="3831336"/>
            <a:ext cx="3794760"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R1 — ตรวจการลงทะเบียน</a:t>
            </a:r>
            <a:endParaRPr lang="en-US" sz="1000" dirty="0"/>
          </a:p>
        </p:txBody>
      </p:sp>
      <p:sp>
        <p:nvSpPr>
          <p:cNvPr id="27" name="Shape 25"/>
          <p:cNvSpPr/>
          <p:nvPr/>
        </p:nvSpPr>
        <p:spPr>
          <a:xfrm>
            <a:off x="548640" y="4123944"/>
            <a:ext cx="4572000" cy="0"/>
          </a:xfrm>
          <a:prstGeom prst="line">
            <a:avLst/>
          </a:prstGeom>
          <a:noFill/>
          <a:ln w="9525">
            <a:solidFill>
              <a:srgbClr val="26364F"/>
            </a:solidFill>
            <a:prstDash val="solid"/>
          </a:ln>
        </p:spPr>
        <p:txBody>
          <a:bodyPr/>
          <a:lstStyle/>
          <a:p>
            <a:endParaRPr lang="en-TH"/>
          </a:p>
        </p:txBody>
      </p:sp>
      <p:sp>
        <p:nvSpPr>
          <p:cNvPr id="28" name="Text 26"/>
          <p:cNvSpPr txBox="1"/>
          <p:nvPr/>
        </p:nvSpPr>
        <p:spPr>
          <a:xfrm>
            <a:off x="713232" y="4215384"/>
            <a:ext cx="4297680" cy="1746504"/>
          </a:xfrm>
          <a:prstGeom prst="rect">
            <a:avLst/>
          </a:prstGeom>
          <a:noFill/>
          <a:ln/>
        </p:spPr>
        <p:txBody>
          <a:bodyPr wrap="square" lIns="0" tIns="0" rIns="0" bIns="0" rtlCol="0" anchor="t"/>
          <a:lstStyle/>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event manager policy registered</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No.  Class   Type   Event Type   Trap  Name</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1    applet  user   syslog       Off   OSPF-NBR-DOWN</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pattern {OSPF-5-ADJCHG.*FULL to DOWN}</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maxrun 60.000</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ratelimit 60.000</a:t>
            </a:r>
            <a:endParaRPr lang="en-US" sz="950" dirty="0"/>
          </a:p>
          <a:p>
            <a:pPr marL="0" indent="0">
              <a:buNone/>
            </a:pPr>
            <a:r>
              <a:rPr lang="en-US" sz="950" dirty="0">
                <a:solidFill>
                  <a:srgbClr val="8391A7"/>
                </a:solidFill>
                <a:latin typeface="Courier New" pitchFamily="34" charset="0"/>
                <a:ea typeface="Courier New" pitchFamily="34" charset="-122"/>
                <a:cs typeface="Courier New" pitchFamily="34" charset="-120"/>
              </a:rPr>
              <a:t> action 1.0 ... action 4.0</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debug event manager action cli</a:t>
            </a:r>
            <a:endParaRPr lang="en-US" sz="950" dirty="0"/>
          </a:p>
        </p:txBody>
      </p:sp>
      <p:sp>
        <p:nvSpPr>
          <p:cNvPr id="29" name="Shape 27"/>
          <p:cNvSpPr/>
          <p:nvPr/>
        </p:nvSpPr>
        <p:spPr>
          <a:xfrm>
            <a:off x="5394960" y="3794760"/>
            <a:ext cx="6248095" cy="2240280"/>
          </a:xfrm>
          <a:prstGeom prst="roundRect">
            <a:avLst>
              <a:gd name="adj" fmla="val 2449"/>
            </a:avLst>
          </a:prstGeom>
          <a:solidFill>
            <a:srgbClr val="0F1A2B"/>
          </a:solidFill>
          <a:ln w="12700">
            <a:solidFill>
              <a:srgbClr val="0F1A2B"/>
            </a:solidFill>
            <a:prstDash val="solid"/>
          </a:ln>
        </p:spPr>
        <p:txBody>
          <a:bodyPr/>
          <a:lstStyle/>
          <a:p>
            <a:endParaRPr lang="en-TH"/>
          </a:p>
        </p:txBody>
      </p:sp>
      <p:sp>
        <p:nvSpPr>
          <p:cNvPr id="30" name="Shape 28"/>
          <p:cNvSpPr/>
          <p:nvPr/>
        </p:nvSpPr>
        <p:spPr>
          <a:xfrm>
            <a:off x="5541264" y="3913632"/>
            <a:ext cx="91440" cy="91440"/>
          </a:xfrm>
          <a:prstGeom prst="ellipse">
            <a:avLst/>
          </a:prstGeom>
          <a:solidFill>
            <a:srgbClr val="E06C6C"/>
          </a:solidFill>
          <a:ln w="12700">
            <a:solidFill>
              <a:srgbClr val="E06C6C"/>
            </a:solidFill>
            <a:prstDash val="solid"/>
          </a:ln>
        </p:spPr>
        <p:txBody>
          <a:bodyPr/>
          <a:lstStyle/>
          <a:p>
            <a:endParaRPr lang="en-TH"/>
          </a:p>
        </p:txBody>
      </p:sp>
      <p:sp>
        <p:nvSpPr>
          <p:cNvPr id="31" name="Shape 29"/>
          <p:cNvSpPr/>
          <p:nvPr/>
        </p:nvSpPr>
        <p:spPr>
          <a:xfrm>
            <a:off x="5696712" y="3913632"/>
            <a:ext cx="91440" cy="91440"/>
          </a:xfrm>
          <a:prstGeom prst="ellipse">
            <a:avLst/>
          </a:prstGeom>
          <a:solidFill>
            <a:srgbClr val="E0B25C"/>
          </a:solidFill>
          <a:ln w="12700">
            <a:solidFill>
              <a:srgbClr val="E0B25C"/>
            </a:solidFill>
            <a:prstDash val="solid"/>
          </a:ln>
        </p:spPr>
        <p:txBody>
          <a:bodyPr/>
          <a:lstStyle/>
          <a:p>
            <a:endParaRPr lang="en-TH"/>
          </a:p>
        </p:txBody>
      </p:sp>
      <p:sp>
        <p:nvSpPr>
          <p:cNvPr id="32" name="Shape 30"/>
          <p:cNvSpPr/>
          <p:nvPr/>
        </p:nvSpPr>
        <p:spPr>
          <a:xfrm>
            <a:off x="5852160" y="3913632"/>
            <a:ext cx="91440" cy="91440"/>
          </a:xfrm>
          <a:prstGeom prst="ellipse">
            <a:avLst/>
          </a:prstGeom>
          <a:solidFill>
            <a:srgbClr val="6CC08B"/>
          </a:solidFill>
          <a:ln w="12700">
            <a:solidFill>
              <a:srgbClr val="6CC08B"/>
            </a:solidFill>
            <a:prstDash val="solid"/>
          </a:ln>
        </p:spPr>
        <p:txBody>
          <a:bodyPr/>
          <a:lstStyle/>
          <a:p>
            <a:endParaRPr lang="en-TH"/>
          </a:p>
        </p:txBody>
      </p:sp>
      <p:sp>
        <p:nvSpPr>
          <p:cNvPr id="33" name="Text 31"/>
          <p:cNvSpPr txBox="1"/>
          <p:nvPr/>
        </p:nvSpPr>
        <p:spPr>
          <a:xfrm>
            <a:off x="6053328" y="3831336"/>
            <a:ext cx="5470855"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R1 — เมื่อเกิดเหตุ (debug + history)</a:t>
            </a:r>
            <a:endParaRPr lang="en-US" sz="1000" dirty="0"/>
          </a:p>
        </p:txBody>
      </p:sp>
      <p:sp>
        <p:nvSpPr>
          <p:cNvPr id="34" name="Shape 32"/>
          <p:cNvSpPr/>
          <p:nvPr/>
        </p:nvSpPr>
        <p:spPr>
          <a:xfrm>
            <a:off x="5394960" y="4123944"/>
            <a:ext cx="6248095" cy="0"/>
          </a:xfrm>
          <a:prstGeom prst="line">
            <a:avLst/>
          </a:prstGeom>
          <a:noFill/>
          <a:ln w="9525">
            <a:solidFill>
              <a:srgbClr val="26364F"/>
            </a:solidFill>
            <a:prstDash val="solid"/>
          </a:ln>
        </p:spPr>
        <p:txBody>
          <a:bodyPr/>
          <a:lstStyle/>
          <a:p>
            <a:endParaRPr lang="en-TH"/>
          </a:p>
        </p:txBody>
      </p:sp>
      <p:sp>
        <p:nvSpPr>
          <p:cNvPr id="35" name="Text 33"/>
          <p:cNvSpPr txBox="1"/>
          <p:nvPr/>
        </p:nvSpPr>
        <p:spPr>
          <a:xfrm>
            <a:off x="5559552" y="4215384"/>
            <a:ext cx="5973775" cy="1746504"/>
          </a:xfrm>
          <a:prstGeom prst="rect">
            <a:avLst/>
          </a:prstGeom>
          <a:noFill/>
          <a:ln/>
        </p:spPr>
        <p:txBody>
          <a:bodyPr wrap="square" lIns="0" tIns="0" rIns="0" bIns="0" rtlCol="0" anchor="t"/>
          <a:lstStyle/>
          <a:p>
            <a:pPr marL="0" indent="0">
              <a:buNone/>
            </a:pPr>
            <a:r>
              <a:rPr lang="en-US" sz="950" dirty="0">
                <a:solidFill>
                  <a:srgbClr val="F28B82"/>
                </a:solidFill>
                <a:latin typeface="Courier New" pitchFamily="34" charset="0"/>
                <a:ea typeface="Courier New" pitchFamily="34" charset="-122"/>
                <a:cs typeface="Courier New" pitchFamily="34" charset="-120"/>
              </a:rPr>
              <a:t>%OSPF-5-ADJCHG: Process 1, Nbr 2.2.2.2 on GigabitEthernet0/1 from</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  FULL to DOWN, Neighbor Down: Dead timer expired</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%HA_EM-6-LOG: OSPF-NBR-DOWN : ... : IN  : R1#delete /force flash0:ospf-ev.txt</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%HA_EM-6-LOG: OSPF-NBR-DOWN : ... : IN  : R1#show ip ospf neighbor | redirect ...</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%HA_EM-6-LOG: OSPF-NBR-DOWN : ... : IN  : R1#show ip route ospf | append ...</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%HA_EM-2-LOG: OSPF-NBR-DOWN: OSPF nbr lost - evidence saved</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event manager history events</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No.  Job Id Proc Status   Time of Event            Type    Name</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2    2      Actv success  Wed Sep16 23:28:25 2026  syslog  applet: OSPF-NBR-DOWN</a:t>
            </a:r>
            <a:endParaRPr lang="en-US" sz="950" dirty="0"/>
          </a:p>
        </p:txBody>
      </p:sp>
      <p:sp>
        <p:nvSpPr>
          <p:cNvPr id="36" name="Text 34"/>
          <p:cNvSpPr txBox="1"/>
          <p:nvPr/>
        </p:nvSpPr>
        <p:spPr>
          <a:xfrm>
            <a:off x="548640" y="6053328"/>
            <a:ext cx="11094415" cy="219456"/>
          </a:xfrm>
          <a:prstGeom prst="rect">
            <a:avLst/>
          </a:prstGeom>
          <a:noFill/>
          <a:ln/>
        </p:spPr>
        <p:txBody>
          <a:bodyPr wrap="square" lIns="0" tIns="0" rIns="0" bIns="0" rtlCol="0" anchor="t"/>
          <a:lstStyle/>
          <a:p>
            <a:pPr marL="0" indent="0" algn="r">
              <a:buNone/>
            </a:pPr>
            <a:r>
              <a:rPr lang="en-US" sz="950" i="1" dirty="0">
                <a:solidFill>
                  <a:srgbClr val="5F6B7A"/>
                </a:solidFill>
                <a:latin typeface="Tahoma" pitchFamily="34" charset="0"/>
                <a:ea typeface="Tahoma" pitchFamily="34" charset="-122"/>
                <a:cs typeface="Tahoma" pitchFamily="34" charset="-120"/>
              </a:rPr>
              <a:t>ผลลัพธ์จริงจากแลบ Cisco CML (DevNet Sandbox) — ย่อช่องว่างบางส่วนให้พอดีสไลด์</a:t>
            </a:r>
            <a:endParaRPr lang="en-US" sz="950" dirty="0"/>
          </a:p>
        </p:txBody>
      </p:sp>
      <p:sp>
        <p:nvSpPr>
          <p:cNvPr id="37" name="Text 35"/>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38" name="Text 36"/>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Troubleshooting #1 — Misconfiguration</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สถานการณ์: RSA key บน R2 ถูกลบ (เช่น เปลี่ยนเครื่องแล้วทำ Day-0 ไม่ครบ) → Ansible เชื่อมต่อ R2 ไม่ได้</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810512"/>
            <a:ext cx="475488" cy="475488"/>
          </a:xfrm>
          <a:prstGeom prst="ellipse">
            <a:avLst/>
          </a:prstGeom>
          <a:solidFill>
            <a:srgbClr val="B3261E"/>
          </a:solidFill>
          <a:ln w="12700">
            <a:solidFill>
              <a:srgbClr val="B3261E"/>
            </a:solidFill>
            <a:prstDash val="solid"/>
          </a:ln>
        </p:spPr>
        <p:txBody>
          <a:bodyPr/>
          <a:lstStyle/>
          <a:p>
            <a:endParaRPr lang="en-TH"/>
          </a:p>
        </p:txBody>
      </p:sp>
      <p:sp>
        <p:nvSpPr>
          <p:cNvPr id="16" name="Text 14"/>
          <p:cNvSpPr txBox="1"/>
          <p:nvPr/>
        </p:nvSpPr>
        <p:spPr>
          <a:xfrm>
            <a:off x="548640" y="1810512"/>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1</a:t>
            </a:r>
            <a:endParaRPr lang="en-US" sz="1400" dirty="0"/>
          </a:p>
        </p:txBody>
      </p:sp>
      <p:sp>
        <p:nvSpPr>
          <p:cNvPr id="17" name="Shape 15"/>
          <p:cNvSpPr/>
          <p:nvPr/>
        </p:nvSpPr>
        <p:spPr>
          <a:xfrm>
            <a:off x="786384" y="2313432"/>
            <a:ext cx="0" cy="356616"/>
          </a:xfrm>
          <a:prstGeom prst="line">
            <a:avLst/>
          </a:prstGeom>
          <a:noFill/>
          <a:ln w="25400">
            <a:solidFill>
              <a:srgbClr val="D6DCE4"/>
            </a:solidFill>
            <a:prstDash val="solid"/>
          </a:ln>
        </p:spPr>
        <p:txBody>
          <a:bodyPr/>
          <a:lstStyle/>
          <a:p>
            <a:endParaRPr lang="en-TH"/>
          </a:p>
        </p:txBody>
      </p:sp>
      <p:sp>
        <p:nvSpPr>
          <p:cNvPr id="18" name="Text 16"/>
          <p:cNvSpPr txBox="1"/>
          <p:nvPr/>
        </p:nvSpPr>
        <p:spPr>
          <a:xfrm>
            <a:off x="1188720" y="1792224"/>
            <a:ext cx="3977640"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อาการ (Symptom)</a:t>
            </a:r>
            <a:endParaRPr lang="en-US" sz="1400" dirty="0"/>
          </a:p>
        </p:txBody>
      </p:sp>
      <p:sp>
        <p:nvSpPr>
          <p:cNvPr id="19" name="Text 17"/>
          <p:cNvSpPr txBox="1"/>
          <p:nvPr/>
        </p:nvSpPr>
        <p:spPr>
          <a:xfrm>
            <a:off x="1188720" y="2084832"/>
            <a:ext cx="3977640" cy="50292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playbook ล้มเหลวเฉพาะ R2: “Unable to connect to port 22”</a:t>
            </a:r>
            <a:endParaRPr lang="en-US" sz="1150" dirty="0"/>
          </a:p>
        </p:txBody>
      </p:sp>
      <p:sp>
        <p:nvSpPr>
          <p:cNvPr id="20" name="Shape 18"/>
          <p:cNvSpPr/>
          <p:nvPr/>
        </p:nvSpPr>
        <p:spPr>
          <a:xfrm>
            <a:off x="548640" y="2697480"/>
            <a:ext cx="475488" cy="475488"/>
          </a:xfrm>
          <a:prstGeom prst="ellipse">
            <a:avLst/>
          </a:prstGeom>
          <a:solidFill>
            <a:srgbClr val="2E7D4F"/>
          </a:solidFill>
          <a:ln w="12700">
            <a:solidFill>
              <a:srgbClr val="2E7D4F"/>
            </a:solidFill>
            <a:prstDash val="solid"/>
          </a:ln>
        </p:spPr>
        <p:txBody>
          <a:bodyPr/>
          <a:lstStyle/>
          <a:p>
            <a:endParaRPr lang="en-TH"/>
          </a:p>
        </p:txBody>
      </p:sp>
      <p:sp>
        <p:nvSpPr>
          <p:cNvPr id="21" name="Text 19"/>
          <p:cNvSpPr txBox="1"/>
          <p:nvPr/>
        </p:nvSpPr>
        <p:spPr>
          <a:xfrm>
            <a:off x="548640" y="269748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2</a:t>
            </a:r>
            <a:endParaRPr lang="en-US" sz="1400" dirty="0"/>
          </a:p>
        </p:txBody>
      </p:sp>
      <p:sp>
        <p:nvSpPr>
          <p:cNvPr id="22" name="Shape 20"/>
          <p:cNvSpPr/>
          <p:nvPr/>
        </p:nvSpPr>
        <p:spPr>
          <a:xfrm>
            <a:off x="786384" y="3200400"/>
            <a:ext cx="0" cy="356616"/>
          </a:xfrm>
          <a:prstGeom prst="line">
            <a:avLst/>
          </a:prstGeom>
          <a:noFill/>
          <a:ln w="25400">
            <a:solidFill>
              <a:srgbClr val="D6DCE4"/>
            </a:solidFill>
            <a:prstDash val="solid"/>
          </a:ln>
        </p:spPr>
        <p:txBody>
          <a:bodyPr/>
          <a:lstStyle/>
          <a:p>
            <a:endParaRPr lang="en-TH"/>
          </a:p>
        </p:txBody>
      </p:sp>
      <p:sp>
        <p:nvSpPr>
          <p:cNvPr id="23" name="Text 21"/>
          <p:cNvSpPr txBox="1"/>
          <p:nvPr/>
        </p:nvSpPr>
        <p:spPr>
          <a:xfrm>
            <a:off x="1188720" y="2679192"/>
            <a:ext cx="3977640"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Layer 3 ถึงกันไหม?</a:t>
            </a:r>
            <a:endParaRPr lang="en-US" sz="1400" dirty="0"/>
          </a:p>
        </p:txBody>
      </p:sp>
      <p:sp>
        <p:nvSpPr>
          <p:cNvPr id="24" name="Text 22"/>
          <p:cNvSpPr txBox="1"/>
          <p:nvPr/>
        </p:nvSpPr>
        <p:spPr>
          <a:xfrm>
            <a:off x="1188720" y="2971800"/>
            <a:ext cx="3977640" cy="50292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ping 192.168.100.12 → ผ่าน (ตัดปัญหา routing / สาย)</a:t>
            </a:r>
            <a:endParaRPr lang="en-US" sz="1150" dirty="0"/>
          </a:p>
        </p:txBody>
      </p:sp>
      <p:sp>
        <p:nvSpPr>
          <p:cNvPr id="25" name="Shape 23"/>
          <p:cNvSpPr/>
          <p:nvPr/>
        </p:nvSpPr>
        <p:spPr>
          <a:xfrm>
            <a:off x="548640" y="3584448"/>
            <a:ext cx="475488" cy="475488"/>
          </a:xfrm>
          <a:prstGeom prst="ellipse">
            <a:avLst/>
          </a:prstGeom>
          <a:solidFill>
            <a:srgbClr val="B3261E"/>
          </a:solidFill>
          <a:ln w="12700">
            <a:solidFill>
              <a:srgbClr val="B3261E"/>
            </a:solidFill>
            <a:prstDash val="solid"/>
          </a:ln>
        </p:spPr>
        <p:txBody>
          <a:bodyPr/>
          <a:lstStyle/>
          <a:p>
            <a:endParaRPr lang="en-TH"/>
          </a:p>
        </p:txBody>
      </p:sp>
      <p:sp>
        <p:nvSpPr>
          <p:cNvPr id="26" name="Text 24"/>
          <p:cNvSpPr txBox="1"/>
          <p:nvPr/>
        </p:nvSpPr>
        <p:spPr>
          <a:xfrm>
            <a:off x="548640" y="3584448"/>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3</a:t>
            </a:r>
            <a:endParaRPr lang="en-US" sz="1400" dirty="0"/>
          </a:p>
        </p:txBody>
      </p:sp>
      <p:sp>
        <p:nvSpPr>
          <p:cNvPr id="27" name="Shape 25"/>
          <p:cNvSpPr/>
          <p:nvPr/>
        </p:nvSpPr>
        <p:spPr>
          <a:xfrm>
            <a:off x="786384" y="4087368"/>
            <a:ext cx="0" cy="356616"/>
          </a:xfrm>
          <a:prstGeom prst="line">
            <a:avLst/>
          </a:prstGeom>
          <a:noFill/>
          <a:ln w="25400">
            <a:solidFill>
              <a:srgbClr val="D6DCE4"/>
            </a:solidFill>
            <a:prstDash val="solid"/>
          </a:ln>
        </p:spPr>
        <p:txBody>
          <a:bodyPr/>
          <a:lstStyle/>
          <a:p>
            <a:endParaRPr lang="en-TH"/>
          </a:p>
        </p:txBody>
      </p:sp>
      <p:sp>
        <p:nvSpPr>
          <p:cNvPr id="28" name="Text 26"/>
          <p:cNvSpPr txBox="1"/>
          <p:nvPr/>
        </p:nvSpPr>
        <p:spPr>
          <a:xfrm>
            <a:off x="1188720" y="3566160"/>
            <a:ext cx="3977640"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Layer 4 port เปิดไหม?</a:t>
            </a:r>
            <a:endParaRPr lang="en-US" sz="1400" dirty="0"/>
          </a:p>
        </p:txBody>
      </p:sp>
      <p:sp>
        <p:nvSpPr>
          <p:cNvPr id="29" name="Text 27"/>
          <p:cNvSpPr txBox="1"/>
          <p:nvPr/>
        </p:nvSpPr>
        <p:spPr>
          <a:xfrm>
            <a:off x="1188720" y="3858768"/>
            <a:ext cx="3977640" cy="50292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nc -zv → Connection refused → ปัญหาอยู่ที่บริการบนอุปกรณ์</a:t>
            </a:r>
            <a:endParaRPr lang="en-US" sz="1150" dirty="0"/>
          </a:p>
        </p:txBody>
      </p:sp>
      <p:sp>
        <p:nvSpPr>
          <p:cNvPr id="30" name="Shape 28"/>
          <p:cNvSpPr/>
          <p:nvPr/>
        </p:nvSpPr>
        <p:spPr>
          <a:xfrm>
            <a:off x="548640" y="4471416"/>
            <a:ext cx="475488" cy="475488"/>
          </a:xfrm>
          <a:prstGeom prst="ellipse">
            <a:avLst/>
          </a:prstGeom>
          <a:solidFill>
            <a:srgbClr val="13233F"/>
          </a:solidFill>
          <a:ln w="12700">
            <a:solidFill>
              <a:srgbClr val="13233F"/>
            </a:solidFill>
            <a:prstDash val="solid"/>
          </a:ln>
        </p:spPr>
        <p:txBody>
          <a:bodyPr/>
          <a:lstStyle/>
          <a:p>
            <a:endParaRPr lang="en-TH"/>
          </a:p>
        </p:txBody>
      </p:sp>
      <p:sp>
        <p:nvSpPr>
          <p:cNvPr id="31" name="Text 29"/>
          <p:cNvSpPr txBox="1"/>
          <p:nvPr/>
        </p:nvSpPr>
        <p:spPr>
          <a:xfrm>
            <a:off x="548640" y="447141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4</a:t>
            </a:r>
            <a:endParaRPr lang="en-US" sz="1400" dirty="0"/>
          </a:p>
        </p:txBody>
      </p:sp>
      <p:sp>
        <p:nvSpPr>
          <p:cNvPr id="32" name="Shape 30"/>
          <p:cNvSpPr/>
          <p:nvPr/>
        </p:nvSpPr>
        <p:spPr>
          <a:xfrm>
            <a:off x="786384" y="4974336"/>
            <a:ext cx="0" cy="356616"/>
          </a:xfrm>
          <a:prstGeom prst="line">
            <a:avLst/>
          </a:prstGeom>
          <a:noFill/>
          <a:ln w="25400">
            <a:solidFill>
              <a:srgbClr val="D6DCE4"/>
            </a:solidFill>
            <a:prstDash val="solid"/>
          </a:ln>
        </p:spPr>
        <p:txBody>
          <a:bodyPr/>
          <a:lstStyle/>
          <a:p>
            <a:endParaRPr lang="en-TH"/>
          </a:p>
        </p:txBody>
      </p:sp>
      <p:sp>
        <p:nvSpPr>
          <p:cNvPr id="33" name="Text 31"/>
          <p:cNvSpPr txBox="1"/>
          <p:nvPr/>
        </p:nvSpPr>
        <p:spPr>
          <a:xfrm>
            <a:off x="1188720" y="4453128"/>
            <a:ext cx="3977640"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ตรวจบน R2</a:t>
            </a:r>
            <a:endParaRPr lang="en-US" sz="1400" dirty="0"/>
          </a:p>
        </p:txBody>
      </p:sp>
      <p:sp>
        <p:nvSpPr>
          <p:cNvPr id="34" name="Text 32"/>
          <p:cNvSpPr txBox="1"/>
          <p:nvPr/>
        </p:nvSpPr>
        <p:spPr>
          <a:xfrm>
            <a:off x="1188720" y="4745736"/>
            <a:ext cx="3977640" cy="50292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show ip ssh → SSH Disabled · ไม่มี RSA key pair</a:t>
            </a:r>
            <a:endParaRPr lang="en-US" sz="1150" dirty="0"/>
          </a:p>
        </p:txBody>
      </p:sp>
      <p:sp>
        <p:nvSpPr>
          <p:cNvPr id="35" name="Shape 33"/>
          <p:cNvSpPr/>
          <p:nvPr/>
        </p:nvSpPr>
        <p:spPr>
          <a:xfrm>
            <a:off x="548640" y="5358384"/>
            <a:ext cx="475488" cy="475488"/>
          </a:xfrm>
          <a:prstGeom prst="ellipse">
            <a:avLst/>
          </a:prstGeom>
          <a:solidFill>
            <a:srgbClr val="2E7D4F"/>
          </a:solidFill>
          <a:ln w="12700">
            <a:solidFill>
              <a:srgbClr val="2E7D4F"/>
            </a:solidFill>
            <a:prstDash val="solid"/>
          </a:ln>
        </p:spPr>
        <p:txBody>
          <a:bodyPr/>
          <a:lstStyle/>
          <a:p>
            <a:endParaRPr lang="en-TH"/>
          </a:p>
        </p:txBody>
      </p:sp>
      <p:sp>
        <p:nvSpPr>
          <p:cNvPr id="36" name="Text 34"/>
          <p:cNvSpPr txBox="1"/>
          <p:nvPr/>
        </p:nvSpPr>
        <p:spPr>
          <a:xfrm>
            <a:off x="548640" y="535838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ahoma" pitchFamily="34" charset="0"/>
                <a:ea typeface="Tahoma" pitchFamily="34" charset="-122"/>
                <a:cs typeface="Tahoma" pitchFamily="34" charset="-120"/>
              </a:rPr>
              <a:t>5</a:t>
            </a:r>
            <a:endParaRPr lang="en-US" sz="1400" dirty="0"/>
          </a:p>
        </p:txBody>
      </p:sp>
      <p:sp>
        <p:nvSpPr>
          <p:cNvPr id="37" name="Text 35"/>
          <p:cNvSpPr txBox="1"/>
          <p:nvPr/>
        </p:nvSpPr>
        <p:spPr>
          <a:xfrm>
            <a:off x="1188720" y="5340096"/>
            <a:ext cx="3977640"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แก้ไขและยืนยัน</a:t>
            </a:r>
            <a:endParaRPr lang="en-US" sz="1400" dirty="0"/>
          </a:p>
        </p:txBody>
      </p:sp>
      <p:sp>
        <p:nvSpPr>
          <p:cNvPr id="38" name="Text 36"/>
          <p:cNvSpPr txBox="1"/>
          <p:nvPr/>
        </p:nvSpPr>
        <p:spPr>
          <a:xfrm>
            <a:off x="1188720" y="5632704"/>
            <a:ext cx="3977640" cy="50292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สร้าง key → nc สำเร็จ → ssh-keygen -R (host key เปลี่ยน) → รัน playbook → failed=0</a:t>
            </a:r>
            <a:endParaRPr lang="en-US" sz="1150" dirty="0"/>
          </a:p>
        </p:txBody>
      </p:sp>
      <p:sp>
        <p:nvSpPr>
          <p:cNvPr id="39" name="Shape 37"/>
          <p:cNvSpPr/>
          <p:nvPr/>
        </p:nvSpPr>
        <p:spPr>
          <a:xfrm>
            <a:off x="5394960" y="1783080"/>
            <a:ext cx="6248095" cy="4251960"/>
          </a:xfrm>
          <a:prstGeom prst="roundRect">
            <a:avLst>
              <a:gd name="adj" fmla="val 1290"/>
            </a:avLst>
          </a:prstGeom>
          <a:solidFill>
            <a:srgbClr val="0F1A2B"/>
          </a:solidFill>
          <a:ln w="12700">
            <a:solidFill>
              <a:srgbClr val="0F1A2B"/>
            </a:solidFill>
            <a:prstDash val="solid"/>
          </a:ln>
        </p:spPr>
        <p:txBody>
          <a:bodyPr/>
          <a:lstStyle/>
          <a:p>
            <a:endParaRPr lang="en-TH"/>
          </a:p>
        </p:txBody>
      </p:sp>
      <p:sp>
        <p:nvSpPr>
          <p:cNvPr id="40" name="Shape 38"/>
          <p:cNvSpPr/>
          <p:nvPr/>
        </p:nvSpPr>
        <p:spPr>
          <a:xfrm>
            <a:off x="5541264" y="1901952"/>
            <a:ext cx="91440" cy="91440"/>
          </a:xfrm>
          <a:prstGeom prst="ellipse">
            <a:avLst/>
          </a:prstGeom>
          <a:solidFill>
            <a:srgbClr val="E06C6C"/>
          </a:solidFill>
          <a:ln w="12700">
            <a:solidFill>
              <a:srgbClr val="E06C6C"/>
            </a:solidFill>
            <a:prstDash val="solid"/>
          </a:ln>
        </p:spPr>
        <p:txBody>
          <a:bodyPr/>
          <a:lstStyle/>
          <a:p>
            <a:endParaRPr lang="en-TH"/>
          </a:p>
        </p:txBody>
      </p:sp>
      <p:sp>
        <p:nvSpPr>
          <p:cNvPr id="41" name="Shape 39"/>
          <p:cNvSpPr/>
          <p:nvPr/>
        </p:nvSpPr>
        <p:spPr>
          <a:xfrm>
            <a:off x="5696712" y="1901952"/>
            <a:ext cx="91440" cy="91440"/>
          </a:xfrm>
          <a:prstGeom prst="ellipse">
            <a:avLst/>
          </a:prstGeom>
          <a:solidFill>
            <a:srgbClr val="E0B25C"/>
          </a:solidFill>
          <a:ln w="12700">
            <a:solidFill>
              <a:srgbClr val="E0B25C"/>
            </a:solidFill>
            <a:prstDash val="solid"/>
          </a:ln>
        </p:spPr>
        <p:txBody>
          <a:bodyPr/>
          <a:lstStyle/>
          <a:p>
            <a:endParaRPr lang="en-TH"/>
          </a:p>
        </p:txBody>
      </p:sp>
      <p:sp>
        <p:nvSpPr>
          <p:cNvPr id="42" name="Shape 40"/>
          <p:cNvSpPr/>
          <p:nvPr/>
        </p:nvSpPr>
        <p:spPr>
          <a:xfrm>
            <a:off x="5852160" y="1901952"/>
            <a:ext cx="91440" cy="91440"/>
          </a:xfrm>
          <a:prstGeom prst="ellipse">
            <a:avLst/>
          </a:prstGeom>
          <a:solidFill>
            <a:srgbClr val="6CC08B"/>
          </a:solidFill>
          <a:ln w="12700">
            <a:solidFill>
              <a:srgbClr val="6CC08B"/>
            </a:solidFill>
            <a:prstDash val="solid"/>
          </a:ln>
        </p:spPr>
        <p:txBody>
          <a:bodyPr/>
          <a:lstStyle/>
          <a:p>
            <a:endParaRPr lang="en-TH"/>
          </a:p>
        </p:txBody>
      </p:sp>
      <p:sp>
        <p:nvSpPr>
          <p:cNvPr id="43" name="Text 41"/>
          <p:cNvSpPr txBox="1"/>
          <p:nvPr/>
        </p:nvSpPr>
        <p:spPr>
          <a:xfrm>
            <a:off x="6053328" y="1819656"/>
            <a:ext cx="5470855"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diagnose → fix → verify</a:t>
            </a:r>
            <a:endParaRPr lang="en-US" sz="1000" dirty="0"/>
          </a:p>
        </p:txBody>
      </p:sp>
      <p:sp>
        <p:nvSpPr>
          <p:cNvPr id="44" name="Shape 42"/>
          <p:cNvSpPr/>
          <p:nvPr/>
        </p:nvSpPr>
        <p:spPr>
          <a:xfrm>
            <a:off x="5394960" y="2112264"/>
            <a:ext cx="6248095" cy="0"/>
          </a:xfrm>
          <a:prstGeom prst="line">
            <a:avLst/>
          </a:prstGeom>
          <a:noFill/>
          <a:ln w="9525">
            <a:solidFill>
              <a:srgbClr val="26364F"/>
            </a:solidFill>
            <a:prstDash val="solid"/>
          </a:ln>
        </p:spPr>
        <p:txBody>
          <a:bodyPr/>
          <a:lstStyle/>
          <a:p>
            <a:endParaRPr lang="en-TH"/>
          </a:p>
        </p:txBody>
      </p:sp>
      <p:sp>
        <p:nvSpPr>
          <p:cNvPr id="45" name="Text 43"/>
          <p:cNvSpPr txBox="1"/>
          <p:nvPr/>
        </p:nvSpPr>
        <p:spPr>
          <a:xfrm>
            <a:off x="5559552" y="2203704"/>
            <a:ext cx="5973775" cy="3758184"/>
          </a:xfrm>
          <a:prstGeom prst="rect">
            <a:avLst/>
          </a:prstGeom>
          <a:noFill/>
          <a:ln/>
        </p:spPr>
        <p:txBody>
          <a:bodyPr wrap="square" lIns="0" tIns="0" rIns="0" bIns="0" rtlCol="0" anchor="t"/>
          <a:lstStyle/>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ansible-playbook site.yml -J</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fatal: [R2]: FAILED! =&gt; {"changed": false,</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  "msg": "[Errno None] Unable to connect to port 22 on 192.168.100.12"}</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ping -c 2 192.168.100.12</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2 packets transmitted, 2 received, 0% packet loss, time 1002ms</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nc -zv 192.168.100.12 22</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nc: connect to 192.168.100.12 port 22 (tcp) failed: Connection refused</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R2# </a:t>
            </a:r>
            <a:r>
              <a:rPr lang="en-US" sz="950" b="1" dirty="0">
                <a:solidFill>
                  <a:srgbClr val="FFFFFF"/>
                </a:solidFill>
                <a:latin typeface="Courier New" pitchFamily="34" charset="0"/>
                <a:ea typeface="Courier New" pitchFamily="34" charset="-122"/>
                <a:cs typeface="Courier New" pitchFamily="34" charset="-120"/>
              </a:rPr>
              <a:t>show ip ssh</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SSH Disabled - version 2.0</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%Please create RSA keys to enable SSH (and of atleast 768 bits for SSH v2).</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R2(config)# </a:t>
            </a:r>
            <a:r>
              <a:rPr lang="en-US" sz="950" b="1" dirty="0">
                <a:solidFill>
                  <a:srgbClr val="FFFFFF"/>
                </a:solidFill>
                <a:latin typeface="Courier New" pitchFamily="34" charset="0"/>
                <a:ea typeface="Courier New" pitchFamily="34" charset="-122"/>
                <a:cs typeface="Courier New" pitchFamily="34" charset="-120"/>
              </a:rPr>
              <a:t>crypto key generate rsa modulus 2048</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 Generating 2048 bit RSA keys, keys will be non-exportable...</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[OK] (elapsed time was 0 seconds)</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%SSH-5-ENABLED: SSH 2.0 has been enabled</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nc -zv 192.168.100.12 22</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Connection to 192.168.100.12 22 port [tcp/ssh] succeeded!</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ssh-keygen -R 192.168.100.12</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 Host 192.168.100.12 found: line 2</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/home/grp9/.ssh/known_hosts updated.</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 </a:t>
            </a:r>
            <a:r>
              <a:rPr lang="en-US" sz="950" b="1" dirty="0">
                <a:solidFill>
                  <a:srgbClr val="FFFFFF"/>
                </a:solidFill>
                <a:latin typeface="Courier New" pitchFamily="34" charset="0"/>
                <a:ea typeface="Courier New" pitchFamily="34" charset="-122"/>
                <a:cs typeface="Courier New" pitchFamily="34" charset="-120"/>
              </a:rPr>
              <a:t>ansible-playbook site.yml -J</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R2 : ok=4  changed=0  unreachable=0  failed=0  skipped=0  rescued=0</a:t>
            </a:r>
            <a:endParaRPr lang="en-US" sz="950" dirty="0"/>
          </a:p>
        </p:txBody>
      </p:sp>
      <p:sp>
        <p:nvSpPr>
          <p:cNvPr id="46" name="Text 44"/>
          <p:cNvSpPr txBox="1"/>
          <p:nvPr/>
        </p:nvSpPr>
        <p:spPr>
          <a:xfrm>
            <a:off x="5394960" y="6053328"/>
            <a:ext cx="6248095" cy="219456"/>
          </a:xfrm>
          <a:prstGeom prst="rect">
            <a:avLst/>
          </a:prstGeom>
          <a:noFill/>
          <a:ln/>
        </p:spPr>
        <p:txBody>
          <a:bodyPr wrap="square" lIns="0" tIns="0" rIns="0" bIns="0" rtlCol="0" anchor="t"/>
          <a:lstStyle/>
          <a:p>
            <a:pPr marL="0" indent="0" algn="r">
              <a:buNone/>
            </a:pPr>
            <a:r>
              <a:rPr lang="en-US" sz="950" i="1" dirty="0">
                <a:solidFill>
                  <a:srgbClr val="5F6B7A"/>
                </a:solidFill>
                <a:latin typeface="Tahoma" pitchFamily="34" charset="0"/>
                <a:ea typeface="Tahoma" pitchFamily="34" charset="-122"/>
                <a:cs typeface="Tahoma" pitchFamily="34" charset="-120"/>
              </a:rPr>
              <a:t>ผลลัพธ์จริงจากแลบ Cisco CML (DevNet Sandbox) — ย่อช่องว่างบางส่วนให้พอดีสไลด์</a:t>
            </a:r>
            <a:endParaRPr lang="en-US" sz="950" dirty="0"/>
          </a:p>
        </p:txBody>
      </p:sp>
      <p:sp>
        <p:nvSpPr>
          <p:cNvPr id="47" name="Text 45"/>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48" name="Text 46"/>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Troubleshooting #2 — Network Failure</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จำลองลิงก์ R1–R2 ล่ม แล้วติดตามการเปลี่ยนแปลงของ control plane จนกู้คืนได้</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2533574" cy="1481328"/>
          </a:xfrm>
          <a:prstGeom prst="roundRect">
            <a:avLst>
              <a:gd name="adj" fmla="val 3704"/>
            </a:avLst>
          </a:prstGeom>
          <a:solidFill>
            <a:srgbClr val="F3F5F8"/>
          </a:solidFill>
          <a:ln w="9525">
            <a:solidFill>
              <a:srgbClr val="D6DCE4"/>
            </a:solidFill>
            <a:prstDash val="solid"/>
          </a:ln>
        </p:spPr>
        <p:txBody>
          <a:bodyPr/>
          <a:lstStyle/>
          <a:p>
            <a:endParaRPr lang="en-TH"/>
          </a:p>
        </p:txBody>
      </p:sp>
      <p:sp>
        <p:nvSpPr>
          <p:cNvPr id="16" name="Text 14"/>
          <p:cNvSpPr txBox="1"/>
          <p:nvPr/>
        </p:nvSpPr>
        <p:spPr>
          <a:xfrm>
            <a:off x="713232" y="1847088"/>
            <a:ext cx="2259254"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t = 0</a:t>
            </a:r>
            <a:endParaRPr lang="en-US" sz="1100" dirty="0"/>
          </a:p>
        </p:txBody>
      </p:sp>
      <p:sp>
        <p:nvSpPr>
          <p:cNvPr id="17" name="Text 15"/>
          <p:cNvSpPr txBox="1"/>
          <p:nvPr/>
        </p:nvSpPr>
        <p:spPr>
          <a:xfrm>
            <a:off x="713232" y="2103120"/>
            <a:ext cx="2259254" cy="329184"/>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R2: shutdown Gi0/1</a:t>
            </a:r>
            <a:endParaRPr lang="en-US" sz="1400" dirty="0"/>
          </a:p>
        </p:txBody>
      </p:sp>
      <p:sp>
        <p:nvSpPr>
          <p:cNvPr id="18" name="Text 16"/>
          <p:cNvSpPr txBox="1"/>
          <p:nvPr/>
        </p:nvSpPr>
        <p:spPr>
          <a:xfrm>
            <a:off x="713232" y="2450592"/>
            <a:ext cx="2259254" cy="749808"/>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R2 ตัด adjacency ทันที (Interface down or detached)</a:t>
            </a:r>
            <a:endParaRPr lang="en-US" sz="1100" dirty="0"/>
          </a:p>
        </p:txBody>
      </p:sp>
      <p:sp>
        <p:nvSpPr>
          <p:cNvPr id="19" name="Shape 17"/>
          <p:cNvSpPr/>
          <p:nvPr/>
        </p:nvSpPr>
        <p:spPr>
          <a:xfrm>
            <a:off x="3118790" y="2523744"/>
            <a:ext cx="246888" cy="0"/>
          </a:xfrm>
          <a:prstGeom prst="line">
            <a:avLst/>
          </a:prstGeom>
          <a:noFill/>
          <a:ln w="25400">
            <a:solidFill>
              <a:srgbClr val="A9812F"/>
            </a:solidFill>
            <a:prstDash val="solid"/>
            <a:tailEnd type="triangle"/>
          </a:ln>
        </p:spPr>
        <p:txBody>
          <a:bodyPr/>
          <a:lstStyle/>
          <a:p>
            <a:endParaRPr lang="en-TH"/>
          </a:p>
        </p:txBody>
      </p:sp>
      <p:sp>
        <p:nvSpPr>
          <p:cNvPr id="20" name="Shape 18"/>
          <p:cNvSpPr/>
          <p:nvPr/>
        </p:nvSpPr>
        <p:spPr>
          <a:xfrm>
            <a:off x="3402254" y="1783080"/>
            <a:ext cx="2533574" cy="1481328"/>
          </a:xfrm>
          <a:prstGeom prst="roundRect">
            <a:avLst>
              <a:gd name="adj" fmla="val 3704"/>
            </a:avLst>
          </a:prstGeom>
          <a:solidFill>
            <a:srgbClr val="F3F5F8"/>
          </a:solidFill>
          <a:ln w="9525">
            <a:solidFill>
              <a:srgbClr val="D6DCE4"/>
            </a:solidFill>
            <a:prstDash val="solid"/>
          </a:ln>
        </p:spPr>
        <p:txBody>
          <a:bodyPr/>
          <a:lstStyle/>
          <a:p>
            <a:endParaRPr lang="en-TH"/>
          </a:p>
        </p:txBody>
      </p:sp>
      <p:sp>
        <p:nvSpPr>
          <p:cNvPr id="21" name="Text 19"/>
          <p:cNvSpPr txBox="1"/>
          <p:nvPr/>
        </p:nvSpPr>
        <p:spPr>
          <a:xfrm>
            <a:off x="3566846" y="1847088"/>
            <a:ext cx="2259254"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0 – 40 วินาที</a:t>
            </a:r>
            <a:endParaRPr lang="en-US" sz="1100" dirty="0"/>
          </a:p>
        </p:txBody>
      </p:sp>
      <p:sp>
        <p:nvSpPr>
          <p:cNvPr id="22" name="Text 20"/>
          <p:cNvSpPr txBox="1"/>
          <p:nvPr/>
        </p:nvSpPr>
        <p:spPr>
          <a:xfrm>
            <a:off x="3566846" y="2103120"/>
            <a:ext cx="2259254" cy="329184"/>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R1 ไม่ได้รับ Hello</a:t>
            </a:r>
            <a:endParaRPr lang="en-US" sz="1400" dirty="0"/>
          </a:p>
        </p:txBody>
      </p:sp>
      <p:sp>
        <p:nvSpPr>
          <p:cNvPr id="23" name="Text 21"/>
          <p:cNvSpPr txBox="1"/>
          <p:nvPr/>
        </p:nvSpPr>
        <p:spPr>
          <a:xfrm>
            <a:off x="3566846" y="2450592"/>
            <a:ext cx="2259254" cy="749808"/>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ลิงก์ฝั่ง R1 ยัง up/up ใน emulator จึงยังคิดว่า FULL</a:t>
            </a:r>
            <a:endParaRPr lang="en-US" sz="1100" dirty="0"/>
          </a:p>
        </p:txBody>
      </p:sp>
      <p:sp>
        <p:nvSpPr>
          <p:cNvPr id="24" name="Shape 22"/>
          <p:cNvSpPr/>
          <p:nvPr/>
        </p:nvSpPr>
        <p:spPr>
          <a:xfrm>
            <a:off x="5972404" y="2523744"/>
            <a:ext cx="246888" cy="0"/>
          </a:xfrm>
          <a:prstGeom prst="line">
            <a:avLst/>
          </a:prstGeom>
          <a:noFill/>
          <a:ln w="25400">
            <a:solidFill>
              <a:srgbClr val="A9812F"/>
            </a:solidFill>
            <a:prstDash val="solid"/>
            <a:tailEnd type="triangle"/>
          </a:ln>
        </p:spPr>
        <p:txBody>
          <a:bodyPr/>
          <a:lstStyle/>
          <a:p>
            <a:endParaRPr lang="en-TH"/>
          </a:p>
        </p:txBody>
      </p:sp>
      <p:sp>
        <p:nvSpPr>
          <p:cNvPr id="25" name="Shape 23"/>
          <p:cNvSpPr/>
          <p:nvPr/>
        </p:nvSpPr>
        <p:spPr>
          <a:xfrm>
            <a:off x="6255868" y="1783080"/>
            <a:ext cx="2533574" cy="1481328"/>
          </a:xfrm>
          <a:prstGeom prst="roundRect">
            <a:avLst>
              <a:gd name="adj" fmla="val 3704"/>
            </a:avLst>
          </a:prstGeom>
          <a:solidFill>
            <a:srgbClr val="13233F"/>
          </a:solidFill>
          <a:ln w="12700">
            <a:solidFill>
              <a:srgbClr val="13233F"/>
            </a:solidFill>
            <a:prstDash val="solid"/>
          </a:ln>
        </p:spPr>
        <p:txBody>
          <a:bodyPr/>
          <a:lstStyle/>
          <a:p>
            <a:endParaRPr lang="en-TH"/>
          </a:p>
        </p:txBody>
      </p:sp>
      <p:sp>
        <p:nvSpPr>
          <p:cNvPr id="26" name="Text 24"/>
          <p:cNvSpPr txBox="1"/>
          <p:nvPr/>
        </p:nvSpPr>
        <p:spPr>
          <a:xfrm>
            <a:off x="6420460" y="1847088"/>
            <a:ext cx="2259254" cy="256032"/>
          </a:xfrm>
          <a:prstGeom prst="rect">
            <a:avLst/>
          </a:prstGeom>
          <a:noFill/>
          <a:ln/>
        </p:spPr>
        <p:txBody>
          <a:bodyPr wrap="square" lIns="0" tIns="0" rIns="0" bIns="0" rtlCol="0" anchor="t"/>
          <a:lstStyle/>
          <a:p>
            <a:pPr marL="0" indent="0">
              <a:buNone/>
            </a:pPr>
            <a:r>
              <a:rPr lang="en-US" sz="1100" b="1" dirty="0">
                <a:solidFill>
                  <a:srgbClr val="D9BE82"/>
                </a:solidFill>
                <a:latin typeface="Tahoma" pitchFamily="34" charset="0"/>
                <a:ea typeface="Tahoma" pitchFamily="34" charset="-122"/>
                <a:cs typeface="Tahoma" pitchFamily="34" charset="-120"/>
              </a:rPr>
              <a:t>Dead timer หมด</a:t>
            </a:r>
            <a:endParaRPr lang="en-US" sz="1100" dirty="0"/>
          </a:p>
        </p:txBody>
      </p:sp>
      <p:sp>
        <p:nvSpPr>
          <p:cNvPr id="27" name="Text 25"/>
          <p:cNvSpPr txBox="1"/>
          <p:nvPr/>
        </p:nvSpPr>
        <p:spPr>
          <a:xfrm>
            <a:off x="6420460" y="2103120"/>
            <a:ext cx="2259254" cy="329184"/>
          </a:xfrm>
          <a:prstGeom prst="rect">
            <a:avLst/>
          </a:prstGeom>
          <a:noFill/>
          <a:ln/>
        </p:spPr>
        <p:txBody>
          <a:bodyPr wrap="square" lIns="0" tIns="0" rIns="0" bIns="0" rtlCol="0" anchor="t"/>
          <a:lstStyle/>
          <a:p>
            <a:pPr marL="0" indent="0">
              <a:buNone/>
            </a:pPr>
            <a:r>
              <a:rPr lang="en-US" sz="1400" b="1" dirty="0">
                <a:solidFill>
                  <a:srgbClr val="FFFFFF"/>
                </a:solidFill>
                <a:latin typeface="Tahoma" pitchFamily="34" charset="0"/>
                <a:ea typeface="Tahoma" pitchFamily="34" charset="-122"/>
                <a:cs typeface="Tahoma" pitchFamily="34" charset="-120"/>
              </a:rPr>
              <a:t>R1: FULL → DOWN</a:t>
            </a:r>
            <a:endParaRPr lang="en-US" sz="1400" dirty="0"/>
          </a:p>
        </p:txBody>
      </p:sp>
      <p:sp>
        <p:nvSpPr>
          <p:cNvPr id="28" name="Text 26"/>
          <p:cNvSpPr txBox="1"/>
          <p:nvPr/>
        </p:nvSpPr>
        <p:spPr>
          <a:xfrm>
            <a:off x="6420460" y="2450592"/>
            <a:ext cx="2259254" cy="749808"/>
          </a:xfrm>
          <a:prstGeom prst="rect">
            <a:avLst/>
          </a:prstGeom>
          <a:noFill/>
          <a:ln/>
        </p:spPr>
        <p:txBody>
          <a:bodyPr wrap="square" lIns="0" tIns="0" rIns="0" bIns="0" rtlCol="0" anchor="t"/>
          <a:lstStyle/>
          <a:p>
            <a:pPr marL="0" indent="0">
              <a:buNone/>
            </a:pPr>
            <a:r>
              <a:rPr lang="en-US" sz="1100" dirty="0">
                <a:solidFill>
                  <a:srgbClr val="C9D3E0"/>
                </a:solidFill>
                <a:latin typeface="Tahoma" pitchFamily="34" charset="0"/>
                <a:ea typeface="Tahoma" pitchFamily="34" charset="-122"/>
                <a:cs typeface="Tahoma" pitchFamily="34" charset="-120"/>
              </a:rPr>
              <a:t>สร้าง Router LSA ใหม่ → รัน SPF → 2.2.2.2 หายจาก RIB</a:t>
            </a:r>
            <a:endParaRPr lang="en-US" sz="1100" dirty="0"/>
          </a:p>
        </p:txBody>
      </p:sp>
      <p:sp>
        <p:nvSpPr>
          <p:cNvPr id="29" name="Shape 27"/>
          <p:cNvSpPr/>
          <p:nvPr/>
        </p:nvSpPr>
        <p:spPr>
          <a:xfrm>
            <a:off x="8826017" y="2523744"/>
            <a:ext cx="246888" cy="0"/>
          </a:xfrm>
          <a:prstGeom prst="line">
            <a:avLst/>
          </a:prstGeom>
          <a:noFill/>
          <a:ln w="25400">
            <a:solidFill>
              <a:srgbClr val="A9812F"/>
            </a:solidFill>
            <a:prstDash val="solid"/>
            <a:tailEnd type="triangle"/>
          </a:ln>
        </p:spPr>
        <p:txBody>
          <a:bodyPr/>
          <a:lstStyle/>
          <a:p>
            <a:endParaRPr lang="en-TH"/>
          </a:p>
        </p:txBody>
      </p:sp>
      <p:sp>
        <p:nvSpPr>
          <p:cNvPr id="30" name="Shape 28"/>
          <p:cNvSpPr/>
          <p:nvPr/>
        </p:nvSpPr>
        <p:spPr>
          <a:xfrm>
            <a:off x="9109481" y="1783080"/>
            <a:ext cx="2533574" cy="1481328"/>
          </a:xfrm>
          <a:prstGeom prst="roundRect">
            <a:avLst>
              <a:gd name="adj" fmla="val 3704"/>
            </a:avLst>
          </a:prstGeom>
          <a:solidFill>
            <a:srgbClr val="F6F0E3"/>
          </a:solidFill>
          <a:ln w="9525">
            <a:solidFill>
              <a:srgbClr val="D6DCE4"/>
            </a:solidFill>
            <a:prstDash val="solid"/>
          </a:ln>
        </p:spPr>
        <p:txBody>
          <a:bodyPr/>
          <a:lstStyle/>
          <a:p>
            <a:endParaRPr lang="en-TH"/>
          </a:p>
        </p:txBody>
      </p:sp>
      <p:sp>
        <p:nvSpPr>
          <p:cNvPr id="31" name="Text 29"/>
          <p:cNvSpPr txBox="1"/>
          <p:nvPr/>
        </p:nvSpPr>
        <p:spPr>
          <a:xfrm>
            <a:off x="9274073" y="1847088"/>
            <a:ext cx="2259254" cy="256032"/>
          </a:xfrm>
          <a:prstGeom prst="rect">
            <a:avLst/>
          </a:prstGeom>
          <a:noFill/>
          <a:ln/>
        </p:spPr>
        <p:txBody>
          <a:bodyPr wrap="square" lIns="0" tIns="0" rIns="0" bIns="0" rtlCol="0" anchor="t"/>
          <a:lstStyle/>
          <a:p>
            <a:pPr marL="0" indent="0">
              <a:buNone/>
            </a:pPr>
            <a:r>
              <a:rPr lang="en-US" sz="1100" b="1" dirty="0">
                <a:solidFill>
                  <a:srgbClr val="A9812F"/>
                </a:solidFill>
                <a:latin typeface="Tahoma" pitchFamily="34" charset="0"/>
                <a:ea typeface="Tahoma" pitchFamily="34" charset="-122"/>
                <a:cs typeface="Tahoma" pitchFamily="34" charset="-120"/>
              </a:rPr>
              <a:t>ทันที</a:t>
            </a:r>
            <a:endParaRPr lang="en-US" sz="1100" dirty="0"/>
          </a:p>
        </p:txBody>
      </p:sp>
      <p:sp>
        <p:nvSpPr>
          <p:cNvPr id="32" name="Text 30"/>
          <p:cNvSpPr txBox="1"/>
          <p:nvPr/>
        </p:nvSpPr>
        <p:spPr>
          <a:xfrm>
            <a:off x="9274073" y="2103120"/>
            <a:ext cx="2259254" cy="329184"/>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EEM บน R1 ทำงาน</a:t>
            </a:r>
            <a:endParaRPr lang="en-US" sz="1400" dirty="0"/>
          </a:p>
        </p:txBody>
      </p:sp>
      <p:sp>
        <p:nvSpPr>
          <p:cNvPr id="33" name="Text 31"/>
          <p:cNvSpPr txBox="1"/>
          <p:nvPr/>
        </p:nvSpPr>
        <p:spPr>
          <a:xfrm>
            <a:off x="9274073" y="2450592"/>
            <a:ext cx="2259254" cy="749808"/>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เก็บ neighbor → รอ SPF 6 วินาที → เก็บ route + syslog critical</a:t>
            </a:r>
            <a:endParaRPr lang="en-US" sz="1100" dirty="0"/>
          </a:p>
        </p:txBody>
      </p:sp>
      <p:sp>
        <p:nvSpPr>
          <p:cNvPr id="34" name="Shape 32"/>
          <p:cNvSpPr/>
          <p:nvPr/>
        </p:nvSpPr>
        <p:spPr>
          <a:xfrm>
            <a:off x="548640" y="3429000"/>
            <a:ext cx="5440680" cy="2606040"/>
          </a:xfrm>
          <a:prstGeom prst="roundRect">
            <a:avLst>
              <a:gd name="adj" fmla="val 2105"/>
            </a:avLst>
          </a:prstGeom>
          <a:solidFill>
            <a:srgbClr val="0F1A2B"/>
          </a:solidFill>
          <a:ln w="12700">
            <a:solidFill>
              <a:srgbClr val="0F1A2B"/>
            </a:solidFill>
            <a:prstDash val="solid"/>
          </a:ln>
        </p:spPr>
        <p:txBody>
          <a:bodyPr/>
          <a:lstStyle/>
          <a:p>
            <a:endParaRPr lang="en-TH"/>
          </a:p>
        </p:txBody>
      </p:sp>
      <p:sp>
        <p:nvSpPr>
          <p:cNvPr id="35" name="Shape 33"/>
          <p:cNvSpPr/>
          <p:nvPr/>
        </p:nvSpPr>
        <p:spPr>
          <a:xfrm>
            <a:off x="694944" y="3547872"/>
            <a:ext cx="91440" cy="91440"/>
          </a:xfrm>
          <a:prstGeom prst="ellipse">
            <a:avLst/>
          </a:prstGeom>
          <a:solidFill>
            <a:srgbClr val="E06C6C"/>
          </a:solidFill>
          <a:ln w="12700">
            <a:solidFill>
              <a:srgbClr val="E06C6C"/>
            </a:solidFill>
            <a:prstDash val="solid"/>
          </a:ln>
        </p:spPr>
        <p:txBody>
          <a:bodyPr/>
          <a:lstStyle/>
          <a:p>
            <a:endParaRPr lang="en-TH"/>
          </a:p>
        </p:txBody>
      </p:sp>
      <p:sp>
        <p:nvSpPr>
          <p:cNvPr id="36" name="Shape 34"/>
          <p:cNvSpPr/>
          <p:nvPr/>
        </p:nvSpPr>
        <p:spPr>
          <a:xfrm>
            <a:off x="850392" y="3547872"/>
            <a:ext cx="91440" cy="91440"/>
          </a:xfrm>
          <a:prstGeom prst="ellipse">
            <a:avLst/>
          </a:prstGeom>
          <a:solidFill>
            <a:srgbClr val="E0B25C"/>
          </a:solidFill>
          <a:ln w="12700">
            <a:solidFill>
              <a:srgbClr val="E0B25C"/>
            </a:solidFill>
            <a:prstDash val="solid"/>
          </a:ln>
        </p:spPr>
        <p:txBody>
          <a:bodyPr/>
          <a:lstStyle/>
          <a:p>
            <a:endParaRPr lang="en-TH"/>
          </a:p>
        </p:txBody>
      </p:sp>
      <p:sp>
        <p:nvSpPr>
          <p:cNvPr id="37" name="Shape 35"/>
          <p:cNvSpPr/>
          <p:nvPr/>
        </p:nvSpPr>
        <p:spPr>
          <a:xfrm>
            <a:off x="1005840" y="3547872"/>
            <a:ext cx="91440" cy="91440"/>
          </a:xfrm>
          <a:prstGeom prst="ellipse">
            <a:avLst/>
          </a:prstGeom>
          <a:solidFill>
            <a:srgbClr val="6CC08B"/>
          </a:solidFill>
          <a:ln w="12700">
            <a:solidFill>
              <a:srgbClr val="6CC08B"/>
            </a:solidFill>
            <a:prstDash val="solid"/>
          </a:ln>
        </p:spPr>
        <p:txBody>
          <a:bodyPr/>
          <a:lstStyle/>
          <a:p>
            <a:endParaRPr lang="en-TH"/>
          </a:p>
        </p:txBody>
      </p:sp>
      <p:sp>
        <p:nvSpPr>
          <p:cNvPr id="38" name="Text 36"/>
          <p:cNvSpPr txBox="1"/>
          <p:nvPr/>
        </p:nvSpPr>
        <p:spPr>
          <a:xfrm>
            <a:off x="1207008" y="3465576"/>
            <a:ext cx="4663440"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วินิจฉัย (R1 และ R2)</a:t>
            </a:r>
            <a:endParaRPr lang="en-US" sz="1000" dirty="0"/>
          </a:p>
        </p:txBody>
      </p:sp>
      <p:sp>
        <p:nvSpPr>
          <p:cNvPr id="39" name="Shape 37"/>
          <p:cNvSpPr/>
          <p:nvPr/>
        </p:nvSpPr>
        <p:spPr>
          <a:xfrm>
            <a:off x="548640" y="3758184"/>
            <a:ext cx="5440680" cy="0"/>
          </a:xfrm>
          <a:prstGeom prst="line">
            <a:avLst/>
          </a:prstGeom>
          <a:noFill/>
          <a:ln w="9525">
            <a:solidFill>
              <a:srgbClr val="26364F"/>
            </a:solidFill>
            <a:prstDash val="solid"/>
          </a:ln>
        </p:spPr>
        <p:txBody>
          <a:bodyPr/>
          <a:lstStyle/>
          <a:p>
            <a:endParaRPr lang="en-TH"/>
          </a:p>
        </p:txBody>
      </p:sp>
      <p:sp>
        <p:nvSpPr>
          <p:cNvPr id="40" name="Text 38"/>
          <p:cNvSpPr txBox="1"/>
          <p:nvPr/>
        </p:nvSpPr>
        <p:spPr>
          <a:xfrm>
            <a:off x="713232" y="3849624"/>
            <a:ext cx="5166360" cy="2112264"/>
          </a:xfrm>
          <a:prstGeom prst="rect">
            <a:avLst/>
          </a:prstGeom>
          <a:noFill/>
          <a:ln/>
        </p:spPr>
        <p:txBody>
          <a:bodyPr wrap="square" lIns="0" tIns="0" rIns="0" bIns="0" rtlCol="0" anchor="t"/>
          <a:lstStyle/>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ip ospf neighbor</a:t>
            </a:r>
            <a:endParaRPr lang="en-US" sz="950" dirty="0"/>
          </a:p>
          <a:p>
            <a:pPr marL="0" indent="0">
              <a:buNone/>
            </a:pPr>
            <a:r>
              <a:rPr lang="en-US" sz="950" dirty="0">
                <a:solidFill>
                  <a:srgbClr val="8391A7"/>
                </a:solidFill>
                <a:latin typeface="Courier New" pitchFamily="34" charset="0"/>
                <a:ea typeface="Courier New" pitchFamily="34" charset="-122"/>
                <a:cs typeface="Courier New" pitchFamily="34" charset="-120"/>
              </a:rPr>
              <a:t>R1#                              (no neighbors)</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ip route 2.2.2.2</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 Network not in table</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ip ospf interface brief</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Interface    PID  Area  IP Address/Mask   Cost  State Nbrs F/C</a:t>
            </a:r>
            <a:endParaRPr lang="en-US" sz="950" dirty="0"/>
          </a:p>
          <a:p>
            <a:pPr marL="0" indent="0">
              <a:buNone/>
            </a:pPr>
            <a:r>
              <a:rPr lang="en-US" sz="950" dirty="0">
                <a:solidFill>
                  <a:srgbClr val="D5DCE6"/>
                </a:solidFill>
                <a:latin typeface="Courier New" pitchFamily="34" charset="0"/>
                <a:ea typeface="Courier New" pitchFamily="34" charset="-122"/>
                <a:cs typeface="Courier New" pitchFamily="34" charset="-120"/>
              </a:rPr>
              <a:t>Lo0          1    0     1.1.1.1/32        1     LOOP  0/0</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Gi0/1        1    0     10.12.12.1/30     1     DR    0/0</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R2# </a:t>
            </a:r>
            <a:r>
              <a:rPr lang="en-US" sz="950" b="1" dirty="0">
                <a:solidFill>
                  <a:srgbClr val="FFFFFF"/>
                </a:solidFill>
                <a:latin typeface="Courier New" pitchFamily="34" charset="0"/>
                <a:ea typeface="Courier New" pitchFamily="34" charset="-122"/>
                <a:cs typeface="Courier New" pitchFamily="34" charset="-120"/>
              </a:rPr>
              <a:t>show ip interface brief | include 0/1</a:t>
            </a:r>
            <a:endParaRPr lang="en-US" sz="950" dirty="0"/>
          </a:p>
          <a:p>
            <a:pPr marL="0" indent="0">
              <a:buNone/>
            </a:pPr>
            <a:r>
              <a:rPr lang="en-US" sz="950" dirty="0">
                <a:solidFill>
                  <a:srgbClr val="F28B82"/>
                </a:solidFill>
                <a:latin typeface="Courier New" pitchFamily="34" charset="0"/>
                <a:ea typeface="Courier New" pitchFamily="34" charset="-122"/>
                <a:cs typeface="Courier New" pitchFamily="34" charset="-120"/>
              </a:rPr>
              <a:t>GigabitEthernet0/1  10.12.12.2  YES manual administratively down down</a:t>
            </a:r>
            <a:endParaRPr lang="en-US" sz="950" dirty="0"/>
          </a:p>
        </p:txBody>
      </p:sp>
      <p:sp>
        <p:nvSpPr>
          <p:cNvPr id="41" name="Shape 39"/>
          <p:cNvSpPr/>
          <p:nvPr/>
        </p:nvSpPr>
        <p:spPr>
          <a:xfrm>
            <a:off x="6199632" y="3429000"/>
            <a:ext cx="5443423" cy="2606040"/>
          </a:xfrm>
          <a:prstGeom prst="roundRect">
            <a:avLst>
              <a:gd name="adj" fmla="val 2105"/>
            </a:avLst>
          </a:prstGeom>
          <a:solidFill>
            <a:srgbClr val="0F1A2B"/>
          </a:solidFill>
          <a:ln w="12700">
            <a:solidFill>
              <a:srgbClr val="0F1A2B"/>
            </a:solidFill>
            <a:prstDash val="solid"/>
          </a:ln>
        </p:spPr>
        <p:txBody>
          <a:bodyPr/>
          <a:lstStyle/>
          <a:p>
            <a:endParaRPr lang="en-TH"/>
          </a:p>
        </p:txBody>
      </p:sp>
      <p:sp>
        <p:nvSpPr>
          <p:cNvPr id="42" name="Shape 40"/>
          <p:cNvSpPr/>
          <p:nvPr/>
        </p:nvSpPr>
        <p:spPr>
          <a:xfrm>
            <a:off x="6345936" y="3547872"/>
            <a:ext cx="91440" cy="91440"/>
          </a:xfrm>
          <a:prstGeom prst="ellipse">
            <a:avLst/>
          </a:prstGeom>
          <a:solidFill>
            <a:srgbClr val="E06C6C"/>
          </a:solidFill>
          <a:ln w="12700">
            <a:solidFill>
              <a:srgbClr val="E06C6C"/>
            </a:solidFill>
            <a:prstDash val="solid"/>
          </a:ln>
        </p:spPr>
        <p:txBody>
          <a:bodyPr/>
          <a:lstStyle/>
          <a:p>
            <a:endParaRPr lang="en-TH"/>
          </a:p>
        </p:txBody>
      </p:sp>
      <p:sp>
        <p:nvSpPr>
          <p:cNvPr id="43" name="Shape 41"/>
          <p:cNvSpPr/>
          <p:nvPr/>
        </p:nvSpPr>
        <p:spPr>
          <a:xfrm>
            <a:off x="6501384" y="3547872"/>
            <a:ext cx="91440" cy="91440"/>
          </a:xfrm>
          <a:prstGeom prst="ellipse">
            <a:avLst/>
          </a:prstGeom>
          <a:solidFill>
            <a:srgbClr val="E0B25C"/>
          </a:solidFill>
          <a:ln w="12700">
            <a:solidFill>
              <a:srgbClr val="E0B25C"/>
            </a:solidFill>
            <a:prstDash val="solid"/>
          </a:ln>
        </p:spPr>
        <p:txBody>
          <a:bodyPr/>
          <a:lstStyle/>
          <a:p>
            <a:endParaRPr lang="en-TH"/>
          </a:p>
        </p:txBody>
      </p:sp>
      <p:sp>
        <p:nvSpPr>
          <p:cNvPr id="44" name="Shape 42"/>
          <p:cNvSpPr/>
          <p:nvPr/>
        </p:nvSpPr>
        <p:spPr>
          <a:xfrm>
            <a:off x="6656832" y="3547872"/>
            <a:ext cx="91440" cy="91440"/>
          </a:xfrm>
          <a:prstGeom prst="ellipse">
            <a:avLst/>
          </a:prstGeom>
          <a:solidFill>
            <a:srgbClr val="6CC08B"/>
          </a:solidFill>
          <a:ln w="12700">
            <a:solidFill>
              <a:srgbClr val="6CC08B"/>
            </a:solidFill>
            <a:prstDash val="solid"/>
          </a:ln>
        </p:spPr>
        <p:txBody>
          <a:bodyPr/>
          <a:lstStyle/>
          <a:p>
            <a:endParaRPr lang="en-TH"/>
          </a:p>
        </p:txBody>
      </p:sp>
      <p:sp>
        <p:nvSpPr>
          <p:cNvPr id="45" name="Text 43"/>
          <p:cNvSpPr txBox="1"/>
          <p:nvPr/>
        </p:nvSpPr>
        <p:spPr>
          <a:xfrm>
            <a:off x="6858000" y="3465576"/>
            <a:ext cx="4666183" cy="256032"/>
          </a:xfrm>
          <a:prstGeom prst="rect">
            <a:avLst/>
          </a:prstGeom>
          <a:noFill/>
          <a:ln/>
        </p:spPr>
        <p:txBody>
          <a:bodyPr wrap="square" lIns="0" tIns="0" rIns="0" bIns="0" rtlCol="0" anchor="ctr"/>
          <a:lstStyle/>
          <a:p>
            <a:pPr marL="0" indent="0">
              <a:buNone/>
            </a:pPr>
            <a:r>
              <a:rPr lang="en-US" sz="1000" dirty="0">
                <a:solidFill>
                  <a:srgbClr val="8391A7"/>
                </a:solidFill>
                <a:latin typeface="Tahoma" pitchFamily="34" charset="0"/>
                <a:ea typeface="Tahoma" pitchFamily="34" charset="-122"/>
                <a:cs typeface="Tahoma" pitchFamily="34" charset="-120"/>
              </a:rPr>
              <a:t>แก้ไขบน R2 → ยืนยันบน R1</a:t>
            </a:r>
            <a:endParaRPr lang="en-US" sz="1000" dirty="0"/>
          </a:p>
        </p:txBody>
      </p:sp>
      <p:sp>
        <p:nvSpPr>
          <p:cNvPr id="46" name="Shape 44"/>
          <p:cNvSpPr/>
          <p:nvPr/>
        </p:nvSpPr>
        <p:spPr>
          <a:xfrm>
            <a:off x="6199632" y="3758184"/>
            <a:ext cx="5443423" cy="0"/>
          </a:xfrm>
          <a:prstGeom prst="line">
            <a:avLst/>
          </a:prstGeom>
          <a:noFill/>
          <a:ln w="9525">
            <a:solidFill>
              <a:srgbClr val="26364F"/>
            </a:solidFill>
            <a:prstDash val="solid"/>
          </a:ln>
        </p:spPr>
        <p:txBody>
          <a:bodyPr/>
          <a:lstStyle/>
          <a:p>
            <a:endParaRPr lang="en-TH"/>
          </a:p>
        </p:txBody>
      </p:sp>
      <p:sp>
        <p:nvSpPr>
          <p:cNvPr id="47" name="Text 45"/>
          <p:cNvSpPr txBox="1"/>
          <p:nvPr/>
        </p:nvSpPr>
        <p:spPr>
          <a:xfrm>
            <a:off x="6364224" y="3849624"/>
            <a:ext cx="5169103" cy="2112264"/>
          </a:xfrm>
          <a:prstGeom prst="rect">
            <a:avLst/>
          </a:prstGeom>
          <a:noFill/>
          <a:ln/>
        </p:spPr>
        <p:txBody>
          <a:bodyPr wrap="square" lIns="0" tIns="0" rIns="0" bIns="0" rtlCol="0" anchor="t"/>
          <a:lstStyle/>
          <a:p>
            <a:pPr marL="0" indent="0">
              <a:buNone/>
            </a:pPr>
            <a:r>
              <a:rPr lang="en-US" sz="950" b="1" dirty="0">
                <a:solidFill>
                  <a:srgbClr val="8FCB9B"/>
                </a:solidFill>
                <a:latin typeface="Courier New" pitchFamily="34" charset="0"/>
                <a:ea typeface="Courier New" pitchFamily="34" charset="-122"/>
                <a:cs typeface="Courier New" pitchFamily="34" charset="-120"/>
              </a:rPr>
              <a:t>R2(config-if)# </a:t>
            </a:r>
            <a:r>
              <a:rPr lang="en-US" sz="950" b="1" dirty="0">
                <a:solidFill>
                  <a:srgbClr val="FFFFFF"/>
                </a:solidFill>
                <a:latin typeface="Courier New" pitchFamily="34" charset="0"/>
                <a:ea typeface="Courier New" pitchFamily="34" charset="-122"/>
                <a:cs typeface="Courier New" pitchFamily="34" charset="-120"/>
              </a:rPr>
              <a:t>no shutdown</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R1: %OSPF-5-ADJCHG: Process 1, Nbr 2.2.2.2 on</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    GigabitEthernet0/1 from LOADING to FULL, Loading Done</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show ip route ospf | include 2.2.2.2</a:t>
            </a:r>
            <a:endParaRPr lang="en-US" sz="950" dirty="0"/>
          </a:p>
          <a:p>
            <a:pPr marL="0" indent="0">
              <a:buNone/>
            </a:pPr>
            <a:r>
              <a:rPr lang="en-US" sz="950" dirty="0">
                <a:solidFill>
                  <a:srgbClr val="E8C46A"/>
                </a:solidFill>
                <a:latin typeface="Courier New" pitchFamily="34" charset="0"/>
                <a:ea typeface="Courier New" pitchFamily="34" charset="-122"/>
                <a:cs typeface="Courier New" pitchFamily="34" charset="-120"/>
              </a:rPr>
              <a:t>O        2.2.2.2 [110/2] via 10.12.12.2, 00:00:05, GigabitEthernet0/1</a:t>
            </a:r>
            <a:endParaRPr lang="en-US" sz="950" dirty="0"/>
          </a:p>
          <a:p>
            <a:pPr marL="0" indent="0">
              <a:buNone/>
            </a:pPr>
            <a:r>
              <a:rPr lang="en-US" sz="950" b="1" dirty="0">
                <a:solidFill>
                  <a:srgbClr val="8FCB9B"/>
                </a:solidFill>
                <a:latin typeface="Courier New" pitchFamily="34" charset="0"/>
                <a:ea typeface="Courier New" pitchFamily="34" charset="-122"/>
                <a:cs typeface="Courier New" pitchFamily="34" charset="-120"/>
              </a:rPr>
              <a:t>R1# </a:t>
            </a:r>
            <a:r>
              <a:rPr lang="en-US" sz="950" b="1" dirty="0">
                <a:solidFill>
                  <a:srgbClr val="FFFFFF"/>
                </a:solidFill>
                <a:latin typeface="Courier New" pitchFamily="34" charset="0"/>
                <a:ea typeface="Courier New" pitchFamily="34" charset="-122"/>
                <a:cs typeface="Courier New" pitchFamily="34" charset="-120"/>
              </a:rPr>
              <a:t>ping 2.2.2.2 source loopback0</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8FCB9B"/>
                </a:solidFill>
                <a:latin typeface="Courier New" pitchFamily="34" charset="0"/>
                <a:ea typeface="Courier New" pitchFamily="34" charset="-122"/>
                <a:cs typeface="Courier New" pitchFamily="34" charset="-120"/>
              </a:rPr>
              <a:t>Success rate is 100 percent (5/5), round-trip min/avg/max = 1/1/2 ms</a:t>
            </a:r>
            <a:endParaRPr lang="en-US" sz="950" dirty="0"/>
          </a:p>
        </p:txBody>
      </p:sp>
      <p:sp>
        <p:nvSpPr>
          <p:cNvPr id="48" name="Text 46"/>
          <p:cNvSpPr txBox="1"/>
          <p:nvPr/>
        </p:nvSpPr>
        <p:spPr>
          <a:xfrm>
            <a:off x="548640" y="6053328"/>
            <a:ext cx="11094415" cy="219456"/>
          </a:xfrm>
          <a:prstGeom prst="rect">
            <a:avLst/>
          </a:prstGeom>
          <a:noFill/>
          <a:ln/>
        </p:spPr>
        <p:txBody>
          <a:bodyPr wrap="square" lIns="0" tIns="0" rIns="0" bIns="0" rtlCol="0" anchor="t"/>
          <a:lstStyle/>
          <a:p>
            <a:pPr marL="0" indent="0" algn="r">
              <a:buNone/>
            </a:pPr>
            <a:r>
              <a:rPr lang="en-US" sz="950" i="1" dirty="0">
                <a:solidFill>
                  <a:srgbClr val="5F6B7A"/>
                </a:solidFill>
                <a:latin typeface="Tahoma" pitchFamily="34" charset="0"/>
                <a:ea typeface="Tahoma" pitchFamily="34" charset="-122"/>
                <a:cs typeface="Tahoma" pitchFamily="34" charset="-120"/>
              </a:rPr>
              <a:t>ผลลัพธ์จริงจากแลบ Cisco CML (DevNet Sandbox) — ย่อช่องว่างบางส่วนให้พอดีสไลด์</a:t>
            </a:r>
            <a:endParaRPr lang="en-US" sz="950" dirty="0"/>
          </a:p>
        </p:txBody>
      </p:sp>
      <p:sp>
        <p:nvSpPr>
          <p:cNvPr id="49" name="Text 47"/>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50" name="Text 48"/>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3  ·  การสาธิตด้วยคำสั่งจริงและการแก้ปัญหา</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Troubleshooting Toolkit</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อาการที่พบบ่อย → ชั้นที่ควรสงสัย → คำสั่งวินิจฉัย → สิ่งที่ต้องดูและวิธีแก้</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224528"/>
        </p:xfrm>
        <a:graphic>
          <a:graphicData uri="http://schemas.openxmlformats.org/drawingml/2006/table">
            <a:tbl>
              <a:tblPr/>
              <a:tblGrid>
                <a:gridCol w="27889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อาการ</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ชั้นที่สงสัย</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คำสั่งวินิจฉัย</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สิ่งที่ต้องดู / วิธีแก้</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Ansible: “Unable to connect to port 22”</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SSH service</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nc -zv &lt;ip&gt; 22</a:t>
                      </a:r>
                      <a:endParaRPr lang="en-US" sz="1000" dirty="0">
                        <a:latin typeface="Courier New" charset="0"/>
                        <a:ea typeface="Courier New" charset="0"/>
                        <a:cs typeface="Courier New" charset="0"/>
                      </a:endParaRPr>
                    </a:p>
                    <a:p>
                      <a:pPr marL="0" indent="0">
                        <a:buNone/>
                      </a:pPr>
                      <a:r>
                        <a:rPr lang="en-US" sz="1000" b="1" dirty="0">
                          <a:solidFill>
                            <a:srgbClr val="13233F"/>
                          </a:solidFill>
                          <a:latin typeface="Courier New" pitchFamily="34" charset="0"/>
                          <a:ea typeface="Courier New" pitchFamily="34" charset="-122"/>
                          <a:cs typeface="Courier New" pitchFamily="34" charset="-120"/>
                        </a:rPr>
                        <a:t>show ip ssh</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Connection refused → สร้าง RSA key, ip ssh version 2</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Ansible: “Authentication failed”</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Credential / VTY</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ansible-inventory --host R2</a:t>
                      </a:r>
                      <a:endParaRPr lang="en-US" sz="1000" dirty="0">
                        <a:latin typeface="Courier New" charset="0"/>
                        <a:ea typeface="Courier New" charset="0"/>
                        <a:cs typeface="Courier New" charset="0"/>
                      </a:endParaRPr>
                    </a:p>
                    <a:p>
                      <a:pPr marL="0" indent="0">
                        <a:buNone/>
                      </a:pPr>
                      <a:r>
                        <a:rPr lang="en-US" sz="1000" b="1" dirty="0">
                          <a:solidFill>
                            <a:srgbClr val="13233F"/>
                          </a:solidFill>
                          <a:latin typeface="Courier New" pitchFamily="34" charset="0"/>
                          <a:ea typeface="Courier New" pitchFamily="34" charset="-122"/>
                          <a:cs typeface="Courier New" pitchFamily="34" charset="-120"/>
                        </a:rPr>
                        <a:t>show run | section line vty</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user/password ใน vault, login local, transport input ssh</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Ansible: “host key mismatch”</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SSH host key</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ssh-keygen -R 192.168.100.12</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router สร้าง RSA key ใหม่ → ลบ key เก่าที่ control node จำไว้</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task เป็น changed ทุกรอบ</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Playbook logic</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ansible-playbook site.yml --check -v</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ดู commands ที่ถูกส่งซ้ำ → เปลี่ยนเป็น resource module</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EEM applet ไม่ทำงาน</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Event (regex)</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show event manager policy registered</a:t>
                      </a:r>
                      <a:endParaRPr lang="en-US" sz="1000" dirty="0">
                        <a:latin typeface="Courier New" charset="0"/>
                        <a:ea typeface="Courier New" charset="0"/>
                        <a:cs typeface="Courier New" charset="0"/>
                      </a:endParaRPr>
                    </a:p>
                    <a:p>
                      <a:pPr marL="0" indent="0">
                        <a:buNone/>
                      </a:pPr>
                      <a:r>
                        <a:rPr lang="en-US" sz="1000" b="1" dirty="0">
                          <a:solidFill>
                            <a:srgbClr val="13233F"/>
                          </a:solidFill>
                          <a:latin typeface="Courier New" pitchFamily="34" charset="0"/>
                          <a:ea typeface="Courier New" pitchFamily="34" charset="-122"/>
                          <a:cs typeface="Courier New" pitchFamily="34" charset="-120"/>
                        </a:rPr>
                        <a:t>show logging | include ADJCHG</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ยังไม่ลงทะเบียน applet หรือ pattern ไม่ตรงกับข้อความจริง</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EEM ขึ้น abort (เจอจริงตอนซ้อม)</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Action</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debug event manager action cli</a:t>
                      </a:r>
                      <a:endParaRPr lang="en-US" sz="1000" dirty="0">
                        <a:latin typeface="Courier New" charset="0"/>
                        <a:ea typeface="Courier New" charset="0"/>
                        <a:cs typeface="Courier New" charset="0"/>
                      </a:endParaRPr>
                    </a:p>
                    <a:p>
                      <a:pPr marL="0" indent="0">
                        <a:buNone/>
                      </a:pPr>
                      <a:r>
                        <a:rPr lang="en-US" sz="1000" b="1" dirty="0">
                          <a:solidFill>
                            <a:srgbClr val="13233F"/>
                          </a:solidFill>
                          <a:latin typeface="Courier New" pitchFamily="34" charset="0"/>
                          <a:ea typeface="Courier New" pitchFamily="34" charset="-122"/>
                          <a:cs typeface="Courier New" pitchFamily="34" charset="-120"/>
                        </a:rPr>
                        <a:t>show users</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ค้างที่ redirect เพราะ IOS ถามเขียนทับไฟล์ → delete /force ก่อน, เพิ่ม maxrun</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548640">
                <a:tc>
                  <a:txBody>
                    <a:bodyPr/>
                    <a:lstStyle/>
                    <a:p>
                      <a:pPr marL="0" indent="0">
                        <a:buNone/>
                      </a:pPr>
                      <a:r>
                        <a:rPr lang="en-US" sz="1100" b="1" dirty="0">
                          <a:solidFill>
                            <a:srgbClr val="1E2733"/>
                          </a:solidFill>
                          <a:latin typeface="Tahoma" pitchFamily="34" charset="0"/>
                          <a:ea typeface="Tahoma" pitchFamily="34" charset="-122"/>
                          <a:cs typeface="Tahoma" pitchFamily="34" charset="-120"/>
                        </a:rPr>
                        <a:t>OSPF neighbor ไม่ขึ้น</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5F6B7A"/>
                          </a:solidFill>
                          <a:latin typeface="Tahoma" pitchFamily="34" charset="0"/>
                          <a:ea typeface="Tahoma" pitchFamily="34" charset="-122"/>
                          <a:cs typeface="Tahoma" pitchFamily="34" charset="-120"/>
                        </a:rPr>
                        <a:t>Control plane</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000" b="1" dirty="0">
                          <a:solidFill>
                            <a:srgbClr val="13233F"/>
                          </a:solidFill>
                          <a:latin typeface="Courier New" pitchFamily="34" charset="0"/>
                          <a:ea typeface="Courier New" pitchFamily="34" charset="-122"/>
                          <a:cs typeface="Courier New" pitchFamily="34" charset="-120"/>
                        </a:rPr>
                        <a:t>show ip ospf interface brief</a:t>
                      </a:r>
                      <a:endParaRPr lang="en-US" sz="1000" dirty="0">
                        <a:latin typeface="Courier New" charset="0"/>
                        <a:ea typeface="Courier New" charset="0"/>
                        <a:cs typeface="Courier New" charset="0"/>
                      </a:endParaRPr>
                    </a:p>
                    <a:p>
                      <a:pPr marL="0" indent="0">
                        <a:buNone/>
                      </a:pPr>
                      <a:r>
                        <a:rPr lang="en-US" sz="1000" b="1" dirty="0">
                          <a:solidFill>
                            <a:srgbClr val="13233F"/>
                          </a:solidFill>
                          <a:latin typeface="Courier New" pitchFamily="34" charset="0"/>
                          <a:ea typeface="Courier New" pitchFamily="34" charset="-122"/>
                          <a:cs typeface="Courier New" pitchFamily="34" charset="-120"/>
                        </a:rPr>
                        <a:t>debug ip ospf adj</a:t>
                      </a:r>
                      <a:endParaRPr lang="en-US" sz="1000" dirty="0">
                        <a:latin typeface="Courier New" charset="0"/>
                        <a:ea typeface="Courier New" charset="0"/>
                        <a:cs typeface="Courier New"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buNone/>
                      </a:pPr>
                      <a:r>
                        <a:rPr lang="en-US" sz="1100" dirty="0">
                          <a:solidFill>
                            <a:srgbClr val="1E2733"/>
                          </a:solidFill>
                          <a:latin typeface="Tahoma" pitchFamily="34" charset="0"/>
                          <a:ea typeface="Tahoma" pitchFamily="34" charset="-122"/>
                          <a:cs typeface="Tahoma" pitchFamily="34" charset="-120"/>
                        </a:rPr>
                        <a:t>area, hello/dead timer, network type, authentication ไม่ตรงกัน</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6" name="Text 13"/>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17" name="Text 14"/>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p9-demo.mp4">
            <a:hlinkClick r:id="" action="ppaction://media"/>
            <a:extLst>
              <a:ext uri="{FF2B5EF4-FFF2-40B4-BE49-F238E27FC236}">
                <a16:creationId xmlns:a16="http://schemas.microsoft.com/office/drawing/2014/main" id="{EC4A1F31-3508-69FA-49FC-B1742B19A20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85351" y="172994"/>
            <a:ext cx="11775990" cy="6586151"/>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345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0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4  ·  การเปรียบเทียบกับเทคโนโลยีอื่น</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Head-to-Head Comparison</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เปรียบเทียบเครื่องมือในบทที่ 29 กับทางเลือกแบบเขียนโปรแกรมเอง (Python: Netmiko / Nornir)</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142232"/>
        </p:xfrm>
        <a:graphic>
          <a:graphicData uri="http://schemas.openxmlformats.org/drawingml/2006/table">
            <a:tbl>
              <a:tblPr/>
              <a:tblGrid>
                <a:gridCol w="1600200">
                  <a:extLst>
                    <a:ext uri="{9D8B030D-6E8A-4147-A177-3AD203B41FA5}">
                      <a16:colId xmlns:a16="http://schemas.microsoft.com/office/drawing/2014/main" val="20000"/>
                    </a:ext>
                  </a:extLst>
                </a:gridCol>
                <a:gridCol w="1581912">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gridCol w="1581912">
                  <a:extLst>
                    <a:ext uri="{9D8B030D-6E8A-4147-A177-3AD203B41FA5}">
                      <a16:colId xmlns:a16="http://schemas.microsoft.com/office/drawing/2014/main" val="20003"/>
                    </a:ext>
                  </a:extLst>
                </a:gridCol>
                <a:gridCol w="1581912">
                  <a:extLst>
                    <a:ext uri="{9D8B030D-6E8A-4147-A177-3AD203B41FA5}">
                      <a16:colId xmlns:a16="http://schemas.microsoft.com/office/drawing/2014/main" val="20004"/>
                    </a:ext>
                  </a:extLst>
                </a:gridCol>
                <a:gridCol w="1581912">
                  <a:extLst>
                    <a:ext uri="{9D8B030D-6E8A-4147-A177-3AD203B41FA5}">
                      <a16:colId xmlns:a16="http://schemas.microsoft.com/office/drawing/2014/main" val="20005"/>
                    </a:ext>
                  </a:extLst>
                </a:gridCol>
                <a:gridCol w="1581912">
                  <a:extLst>
                    <a:ext uri="{9D8B030D-6E8A-4147-A177-3AD203B41FA5}">
                      <a16:colId xmlns:a16="http://schemas.microsoft.com/office/drawing/2014/main" val="20006"/>
                    </a:ext>
                  </a:extLst>
                </a:gridCol>
              </a:tblGrid>
              <a:tr h="566928">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ปัจจัย</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EEM</a:t>
                      </a:r>
                      <a:endParaRPr lang="en-US" sz="1100" dirty="0">
                        <a:latin typeface="Tahoma" charset="0"/>
                        <a:ea typeface="Tahoma" charset="0"/>
                        <a:cs typeface="Tahoma" charset="0"/>
                      </a:endParaRPr>
                    </a:p>
                    <a:p>
                      <a:pPr marL="0" indent="0">
                        <a:buNone/>
                      </a:pPr>
                      <a:r>
                        <a:rPr lang="en-US" sz="1100" b="1" dirty="0">
                          <a:solidFill>
                            <a:srgbClr val="FFFFFF"/>
                          </a:solidFill>
                          <a:latin typeface="Tahoma" pitchFamily="34" charset="0"/>
                          <a:ea typeface="Tahoma" pitchFamily="34" charset="-122"/>
                          <a:cs typeface="Tahoma" pitchFamily="34" charset="-120"/>
                        </a:rPr>
                        <a:t>(ใช้ในเดโม)</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Ansible</a:t>
                      </a:r>
                      <a:endParaRPr lang="en-US" sz="1100" dirty="0">
                        <a:latin typeface="Tahoma" charset="0"/>
                        <a:ea typeface="Tahoma" charset="0"/>
                        <a:cs typeface="Tahoma" charset="0"/>
                      </a:endParaRPr>
                    </a:p>
                    <a:p>
                      <a:pPr marL="0" indent="0">
                        <a:buNone/>
                      </a:pPr>
                      <a:r>
                        <a:rPr lang="en-US" sz="1100" b="1" dirty="0">
                          <a:solidFill>
                            <a:srgbClr val="FFFFFF"/>
                          </a:solidFill>
                          <a:latin typeface="Tahoma" pitchFamily="34" charset="0"/>
                          <a:ea typeface="Tahoma" pitchFamily="34" charset="-122"/>
                          <a:cs typeface="Tahoma" pitchFamily="34" charset="-120"/>
                        </a:rPr>
                        <a:t>(ใช้ในเดโม)</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Puppet</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Chef</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SaltStack</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Tahoma" pitchFamily="34" charset="0"/>
                          <a:ea typeface="Tahoma" pitchFamily="34" charset="-122"/>
                          <a:cs typeface="Tahoma" pitchFamily="34" charset="-120"/>
                        </a:rPr>
                        <a:t>Python</a:t>
                      </a:r>
                      <a:endParaRPr lang="en-US" sz="1100" dirty="0">
                        <a:latin typeface="Tahoma" charset="0"/>
                        <a:ea typeface="Tahoma" charset="0"/>
                        <a:cs typeface="Tahoma" charset="0"/>
                      </a:endParaRPr>
                    </a:p>
                    <a:p>
                      <a:pPr marL="0" indent="0">
                        <a:buNone/>
                      </a:pPr>
                      <a:r>
                        <a:rPr lang="en-US" sz="1100" b="1" dirty="0">
                          <a:solidFill>
                            <a:srgbClr val="FFFFFF"/>
                          </a:solidFill>
                          <a:latin typeface="Tahoma" pitchFamily="34" charset="0"/>
                          <a:ea typeface="Tahoma" pitchFamily="34" charset="-122"/>
                          <a:cs typeface="Tahoma" pitchFamily="34" charset="-120"/>
                        </a:rPr>
                        <a:t>(Netmiko / Nornir)</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02920">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สถาปัตยกรรม</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On-box ในอุปกรณ์</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Control node → hosts</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Server + agent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Infra Server + client</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Master + minion</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สคริปต์บนเครื่องผู้ดูแล</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ต้องมี agent</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ไม่ต้อง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ไม่ต้อง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ต้อง</a:t>
                      </a:r>
                      <a:endParaRPr lang="en-US" sz="1050" dirty="0">
                        <a:latin typeface="Tahoma" charset="0"/>
                        <a:ea typeface="Tahoma" charset="0"/>
                        <a:cs typeface="Tahoma" charset="0"/>
                      </a:endParaRPr>
                    </a:p>
                    <a:p>
                      <a:pPr marL="0" indent="0" algn="ctr">
                        <a:buNone/>
                      </a:pPr>
                      <a:r>
                        <a:rPr lang="en-US" sz="1050" dirty="0">
                          <a:solidFill>
                            <a:srgbClr val="1E2733"/>
                          </a:solidFill>
                          <a:latin typeface="Tahoma" pitchFamily="34" charset="0"/>
                          <a:ea typeface="Tahoma" pitchFamily="34" charset="-122"/>
                          <a:cs typeface="Tahoma" pitchFamily="34" charset="-120"/>
                        </a:rPr>
                        <a:t>(Bolt: ไม่ต้อง)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ต้อง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ต้อง</a:t>
                      </a:r>
                      <a:endParaRPr lang="en-US" sz="1050" dirty="0">
                        <a:latin typeface="Tahoma" charset="0"/>
                        <a:ea typeface="Tahoma" charset="0"/>
                        <a:cs typeface="Tahoma" charset="0"/>
                      </a:endParaRPr>
                    </a:p>
                    <a:p>
                      <a:pPr marL="0" indent="0" algn="ctr">
                        <a:buNone/>
                      </a:pPr>
                      <a:r>
                        <a:rPr lang="en-US" sz="1050" dirty="0">
                          <a:solidFill>
                            <a:srgbClr val="1E2733"/>
                          </a:solidFill>
                          <a:latin typeface="Tahoma" pitchFamily="34" charset="0"/>
                          <a:ea typeface="Tahoma" pitchFamily="34" charset="-122"/>
                          <a:cs typeface="Tahoma" pitchFamily="34" charset="-120"/>
                        </a:rPr>
                        <a:t>(Salt SSH: ไม่ต้อง)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ไม่ต้อง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รูปแบบการทำงาน</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Event-driven</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Push</a:t>
                      </a:r>
                      <a:endParaRPr lang="en-US" sz="1050" dirty="0">
                        <a:latin typeface="Tahoma" charset="0"/>
                        <a:ea typeface="Tahoma" charset="0"/>
                        <a:cs typeface="Tahoma" charset="0"/>
                      </a:endParaRPr>
                    </a:p>
                    <a:p>
                      <a:pPr marL="0" indent="0" algn="ctr">
                        <a:buNone/>
                      </a:pPr>
                      <a:r>
                        <a:rPr lang="en-US" sz="1050" dirty="0">
                          <a:solidFill>
                            <a:srgbClr val="1E2733"/>
                          </a:solidFill>
                          <a:latin typeface="Tahoma" pitchFamily="34" charset="0"/>
                          <a:ea typeface="Tahoma" pitchFamily="34" charset="-122"/>
                          <a:cs typeface="Tahoma" pitchFamily="34" charset="-120"/>
                        </a:rPr>
                        <a:t>(+ Event-Driven Ansible)</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Pull ทุก 30 นาที</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Pull ทุก 30 นาที</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Push + event bus</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Push (imperative)</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ภาษา</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CLI applet / Tcl</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YAML + Jinja2</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Puppet DSL</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Ruby DSL</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YAML + Jinja2</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Python</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Transport / Port</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ภายในเครื่อง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SSH 22 / HTTPS API</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HTTPS 8140</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HTTPS 443</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ZeroMQ 4505/4506</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SSH 22</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Idempotent</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ต้องออกแบบเอง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b="1" dirty="0">
                          <a:solidFill>
                            <a:srgbClr val="2E7D4F"/>
                          </a:solidFill>
                          <a:latin typeface="Tahoma" pitchFamily="34" charset="0"/>
                          <a:ea typeface="Tahoma" pitchFamily="34" charset="-122"/>
                          <a:cs typeface="Tahoma" pitchFamily="34" charset="-120"/>
                        </a:rPr>
                        <a:t>ใช่ (modules)</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b="1" dirty="0">
                          <a:solidFill>
                            <a:srgbClr val="2E7D4F"/>
                          </a:solidFill>
                          <a:latin typeface="Tahoma" pitchFamily="34" charset="0"/>
                          <a:ea typeface="Tahoma" pitchFamily="34" charset="-122"/>
                          <a:cs typeface="Tahoma" pitchFamily="34" charset="-120"/>
                        </a:rPr>
                        <a:t>ใช่</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4F"/>
                          </a:solidFill>
                          <a:latin typeface="Tahoma" pitchFamily="34" charset="0"/>
                          <a:ea typeface="Tahoma" pitchFamily="34" charset="-122"/>
                          <a:cs typeface="Tahoma" pitchFamily="34" charset="-120"/>
                        </a:rPr>
                        <a:t>ใช่</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4F"/>
                          </a:solidFill>
                          <a:latin typeface="Tahoma" pitchFamily="34" charset="0"/>
                          <a:ea typeface="Tahoma" pitchFamily="34" charset="-122"/>
                          <a:cs typeface="Tahoma" pitchFamily="34" charset="-120"/>
                        </a:rPr>
                        <a:t>ใช่</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ต้องเขียนเอง</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buNone/>
                      </a:pPr>
                      <a:r>
                        <a:rPr lang="en-US" sz="1100" b="1" dirty="0">
                          <a:solidFill>
                            <a:srgbClr val="13233F"/>
                          </a:solidFill>
                          <a:latin typeface="Tahoma" pitchFamily="34" charset="0"/>
                          <a:ea typeface="Tahoma" pitchFamily="34" charset="-122"/>
                          <a:cs typeface="Tahoma" pitchFamily="34" charset="-120"/>
                        </a:rPr>
                        <a:t>จุดแข็ง</a:t>
                      </a:r>
                      <a:endParaRPr lang="en-US" sz="110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3F5F8"/>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ตอบสนองทันที แม้ไม่มี server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เรียนง่าย รองรับหลาย vendor</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6F0E3"/>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บังคับ compliance ขนาดใหญ่</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ยืดหยุ่นด้วย Ruby</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เร็ว รองรับ event-driven</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E2733"/>
                          </a:solidFill>
                          <a:latin typeface="Tahoma" pitchFamily="34" charset="0"/>
                          <a:ea typeface="Tahoma" pitchFamily="34" charset="-122"/>
                          <a:cs typeface="Tahoma" pitchFamily="34" charset="-120"/>
                        </a:rPr>
                        <a:t>ยืดหยุ่นสูงสุด</a:t>
                      </a:r>
                      <a:endParaRPr lang="en-US" sz="1050" dirty="0">
                        <a:latin typeface="Tahoma" charset="0"/>
                        <a:ea typeface="Tahoma" charset="0"/>
                        <a:cs typeface="Tahoma" charset="0"/>
                      </a:endParaRPr>
                    </a:p>
                  </a:txBody>
                  <a:tcPr marL="73152" marR="73152" marT="36576" marB="36576"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6" name="Text 13"/>
          <p:cNvSpPr txBox="1"/>
          <p:nvPr/>
        </p:nvSpPr>
        <p:spPr>
          <a:xfrm>
            <a:off x="548640" y="6053328"/>
            <a:ext cx="11094415" cy="256032"/>
          </a:xfrm>
          <a:prstGeom prst="rect">
            <a:avLst/>
          </a:prstGeom>
          <a:noFill/>
          <a:ln/>
        </p:spPr>
        <p:txBody>
          <a:bodyPr wrap="square" lIns="0" tIns="0" rIns="0" bIns="0" rtlCol="0" anchor="t"/>
          <a:lstStyle/>
          <a:p>
            <a:pPr marL="0" indent="0">
              <a:buNone/>
            </a:pPr>
            <a:r>
              <a:rPr lang="en-US" sz="1050" dirty="0">
                <a:solidFill>
                  <a:srgbClr val="5F6B7A"/>
                </a:solidFill>
                <a:latin typeface="Tahoma" pitchFamily="34" charset="0"/>
                <a:ea typeface="Tahoma" pitchFamily="34" charset="-122"/>
                <a:cs typeface="Tahoma" pitchFamily="34" charset="-120"/>
              </a:rPr>
              <a:t>คอลัมน์พื้นสีทอง = เครื่องมือที่ใช้ในการสาธิต  ·  Puppet runinterval และ chef-client daemon interval มีค่าเริ่มต้น 30 นาที (1800 วินาที)</a:t>
            </a:r>
            <a:endParaRPr lang="en-US" sz="1050" dirty="0"/>
          </a:p>
        </p:txBody>
      </p:sp>
      <p:sp>
        <p:nvSpPr>
          <p:cNvPr id="17" name="Text 14"/>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18" name="Text 15"/>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4  ·  การเปรียบเทียบกับเทคโนโลยีอื่น</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Trade-Off Matrix</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คะแนน 1–5 (ยิ่งมากยิ่งดีในมิตินั้น) — การประเมินเชิงคุณภาพของกลุ่ม สำหรับงานเครือข่ายองค์กร</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7772400" cy="658368"/>
          </a:xfrm>
          <a:prstGeom prst="rect">
            <a:avLst/>
          </a:prstGeom>
          <a:solidFill>
            <a:srgbClr val="13233F"/>
          </a:solidFill>
          <a:ln w="12700">
            <a:solidFill>
              <a:srgbClr val="13233F"/>
            </a:solidFill>
            <a:prstDash val="solid"/>
          </a:ln>
        </p:spPr>
        <p:txBody>
          <a:bodyPr/>
          <a:lstStyle/>
          <a:p>
            <a:endParaRPr lang="en-TH"/>
          </a:p>
        </p:txBody>
      </p:sp>
      <p:sp>
        <p:nvSpPr>
          <p:cNvPr id="16" name="Text 14"/>
          <p:cNvSpPr txBox="1"/>
          <p:nvPr/>
        </p:nvSpPr>
        <p:spPr>
          <a:xfrm>
            <a:off x="2103120" y="1783080"/>
            <a:ext cx="1243584"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Tahoma" pitchFamily="34" charset="0"/>
                <a:ea typeface="Tahoma" pitchFamily="34" charset="-122"/>
                <a:cs typeface="Tahoma" pitchFamily="34" charset="-120"/>
              </a:rPr>
              <a:t>Scalability</a:t>
            </a:r>
            <a:endParaRPr lang="en-US" sz="1000" dirty="0"/>
          </a:p>
        </p:txBody>
      </p:sp>
      <p:sp>
        <p:nvSpPr>
          <p:cNvPr id="17" name="Text 15"/>
          <p:cNvSpPr txBox="1"/>
          <p:nvPr/>
        </p:nvSpPr>
        <p:spPr>
          <a:xfrm>
            <a:off x="3346704" y="1783080"/>
            <a:ext cx="1243584"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Tahoma" pitchFamily="34" charset="0"/>
                <a:ea typeface="Tahoma" pitchFamily="34" charset="-122"/>
                <a:cs typeface="Tahoma" pitchFamily="34" charset="-120"/>
              </a:rPr>
              <a:t>Security</a:t>
            </a:r>
            <a:endParaRPr lang="en-US" sz="1000" dirty="0"/>
          </a:p>
        </p:txBody>
      </p:sp>
      <p:sp>
        <p:nvSpPr>
          <p:cNvPr id="18" name="Text 16"/>
          <p:cNvSpPr txBox="1"/>
          <p:nvPr/>
        </p:nvSpPr>
        <p:spPr>
          <a:xfrm>
            <a:off x="4590288" y="1783080"/>
            <a:ext cx="1243584"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Tahoma" pitchFamily="34" charset="0"/>
                <a:ea typeface="Tahoma" pitchFamily="34" charset="-122"/>
                <a:cs typeface="Tahoma" pitchFamily="34" charset="-120"/>
              </a:rPr>
              <a:t>ความง่าย</a:t>
            </a:r>
            <a:endParaRPr lang="en-US" sz="1000" dirty="0"/>
          </a:p>
          <a:p>
            <a:pPr marL="0" indent="0" algn="ctr">
              <a:buNone/>
            </a:pPr>
            <a:r>
              <a:rPr lang="en-US" sz="1000" b="1" dirty="0">
                <a:solidFill>
                  <a:srgbClr val="FFFFFF"/>
                </a:solidFill>
                <a:latin typeface="Tahoma" pitchFamily="34" charset="0"/>
                <a:ea typeface="Tahoma" pitchFamily="34" charset="-122"/>
                <a:cs typeface="Tahoma" pitchFamily="34" charset="-120"/>
              </a:rPr>
              <a:t>(Complexity ต่ำ)</a:t>
            </a:r>
            <a:endParaRPr lang="en-US" sz="1000" dirty="0"/>
          </a:p>
        </p:txBody>
      </p:sp>
      <p:sp>
        <p:nvSpPr>
          <p:cNvPr id="19" name="Text 17"/>
          <p:cNvSpPr txBox="1"/>
          <p:nvPr/>
        </p:nvSpPr>
        <p:spPr>
          <a:xfrm>
            <a:off x="5833872" y="1783080"/>
            <a:ext cx="1243584"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Tahoma" pitchFamily="34" charset="0"/>
                <a:ea typeface="Tahoma" pitchFamily="34" charset="-122"/>
                <a:cs typeface="Tahoma" pitchFamily="34" charset="-120"/>
              </a:rPr>
              <a:t>Vendor Support</a:t>
            </a:r>
            <a:endParaRPr lang="en-US" sz="1000" dirty="0"/>
          </a:p>
          <a:p>
            <a:pPr marL="0" indent="0" algn="ctr">
              <a:buNone/>
            </a:pPr>
            <a:r>
              <a:rPr lang="en-US" sz="1000" b="1" dirty="0">
                <a:solidFill>
                  <a:srgbClr val="FFFFFF"/>
                </a:solidFill>
                <a:latin typeface="Tahoma" pitchFamily="34" charset="0"/>
                <a:ea typeface="Tahoma" pitchFamily="34" charset="-122"/>
                <a:cs typeface="Tahoma" pitchFamily="34" charset="-120"/>
              </a:rPr>
              <a:t>(อุปกรณ์เครือข่าย)</a:t>
            </a:r>
            <a:endParaRPr lang="en-US" sz="1000" dirty="0"/>
          </a:p>
        </p:txBody>
      </p:sp>
      <p:sp>
        <p:nvSpPr>
          <p:cNvPr id="20" name="Text 18"/>
          <p:cNvSpPr txBox="1"/>
          <p:nvPr/>
        </p:nvSpPr>
        <p:spPr>
          <a:xfrm>
            <a:off x="7077456" y="1783080"/>
            <a:ext cx="1243584"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Tahoma" pitchFamily="34" charset="0"/>
                <a:ea typeface="Tahoma" pitchFamily="34" charset="-122"/>
                <a:cs typeface="Tahoma" pitchFamily="34" charset="-120"/>
              </a:rPr>
              <a:t>ต้นทุนต่ำ</a:t>
            </a:r>
            <a:endParaRPr lang="en-US" sz="1000" dirty="0"/>
          </a:p>
          <a:p>
            <a:pPr marL="0" indent="0" algn="ctr">
              <a:buNone/>
            </a:pPr>
            <a:r>
              <a:rPr lang="en-US" sz="1000" b="1" dirty="0">
                <a:solidFill>
                  <a:srgbClr val="FFFFFF"/>
                </a:solidFill>
                <a:latin typeface="Tahoma" pitchFamily="34" charset="0"/>
                <a:ea typeface="Tahoma" pitchFamily="34" charset="-122"/>
                <a:cs typeface="Tahoma" pitchFamily="34" charset="-120"/>
              </a:rPr>
              <a:t>(Cost)</a:t>
            </a:r>
            <a:endParaRPr lang="en-US" sz="1000" dirty="0"/>
          </a:p>
        </p:txBody>
      </p:sp>
      <p:sp>
        <p:nvSpPr>
          <p:cNvPr id="21" name="Text 19"/>
          <p:cNvSpPr txBox="1"/>
          <p:nvPr/>
        </p:nvSpPr>
        <p:spPr>
          <a:xfrm>
            <a:off x="685800" y="1783080"/>
            <a:ext cx="1371600" cy="658368"/>
          </a:xfrm>
          <a:prstGeom prst="rect">
            <a:avLst/>
          </a:prstGeom>
          <a:noFill/>
          <a:ln/>
        </p:spPr>
        <p:txBody>
          <a:bodyPr wrap="square" lIns="0" tIns="0" rIns="0" bIns="0" rtlCol="0" anchor="ctr"/>
          <a:lstStyle/>
          <a:p>
            <a:pPr marL="0" indent="0">
              <a:buNone/>
            </a:pPr>
            <a:r>
              <a:rPr lang="en-US" sz="1100" b="1" dirty="0">
                <a:solidFill>
                  <a:srgbClr val="FFFFFF"/>
                </a:solidFill>
                <a:latin typeface="Tahoma" pitchFamily="34" charset="0"/>
                <a:ea typeface="Tahoma" pitchFamily="34" charset="-122"/>
                <a:cs typeface="Tahoma" pitchFamily="34" charset="-120"/>
              </a:rPr>
              <a:t>เครื่องมือ</a:t>
            </a:r>
            <a:endParaRPr lang="en-US" sz="1100" dirty="0"/>
          </a:p>
        </p:txBody>
      </p:sp>
      <p:sp>
        <p:nvSpPr>
          <p:cNvPr id="22" name="Shape 20"/>
          <p:cNvSpPr/>
          <p:nvPr/>
        </p:nvSpPr>
        <p:spPr>
          <a:xfrm>
            <a:off x="548640" y="2441448"/>
            <a:ext cx="7772400" cy="566928"/>
          </a:xfrm>
          <a:prstGeom prst="rect">
            <a:avLst/>
          </a:prstGeom>
          <a:solidFill>
            <a:srgbClr val="FFFFFF"/>
          </a:solidFill>
          <a:ln w="6350">
            <a:solidFill>
              <a:srgbClr val="D6DCE4"/>
            </a:solidFill>
            <a:prstDash val="solid"/>
          </a:ln>
        </p:spPr>
        <p:txBody>
          <a:bodyPr/>
          <a:lstStyle/>
          <a:p>
            <a:endParaRPr lang="en-TH"/>
          </a:p>
        </p:txBody>
      </p:sp>
      <p:sp>
        <p:nvSpPr>
          <p:cNvPr id="23" name="Text 21"/>
          <p:cNvSpPr txBox="1"/>
          <p:nvPr/>
        </p:nvSpPr>
        <p:spPr>
          <a:xfrm>
            <a:off x="685800" y="2441448"/>
            <a:ext cx="1371600" cy="56692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EEM</a:t>
            </a:r>
            <a:endParaRPr lang="en-US" sz="1250" dirty="0"/>
          </a:p>
        </p:txBody>
      </p:sp>
      <p:sp>
        <p:nvSpPr>
          <p:cNvPr id="24" name="Shape 22"/>
          <p:cNvSpPr/>
          <p:nvPr/>
        </p:nvSpPr>
        <p:spPr>
          <a:xfrm>
            <a:off x="2281428" y="2656332"/>
            <a:ext cx="137160" cy="137160"/>
          </a:xfrm>
          <a:prstGeom prst="ellipse">
            <a:avLst/>
          </a:prstGeom>
          <a:solidFill>
            <a:srgbClr val="8FA6C1"/>
          </a:solidFill>
          <a:ln w="12700">
            <a:solidFill>
              <a:srgbClr val="8FA6C1"/>
            </a:solidFill>
            <a:prstDash val="solid"/>
          </a:ln>
        </p:spPr>
        <p:txBody>
          <a:bodyPr/>
          <a:lstStyle/>
          <a:p>
            <a:endParaRPr lang="en-TH"/>
          </a:p>
        </p:txBody>
      </p:sp>
      <p:sp>
        <p:nvSpPr>
          <p:cNvPr id="25" name="Shape 23"/>
          <p:cNvSpPr/>
          <p:nvPr/>
        </p:nvSpPr>
        <p:spPr>
          <a:xfrm>
            <a:off x="2468880"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26" name="Shape 24"/>
          <p:cNvSpPr/>
          <p:nvPr/>
        </p:nvSpPr>
        <p:spPr>
          <a:xfrm>
            <a:off x="2656332"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27" name="Shape 25"/>
          <p:cNvSpPr/>
          <p:nvPr/>
        </p:nvSpPr>
        <p:spPr>
          <a:xfrm>
            <a:off x="2843784"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28" name="Shape 26"/>
          <p:cNvSpPr/>
          <p:nvPr/>
        </p:nvSpPr>
        <p:spPr>
          <a:xfrm>
            <a:off x="3031236"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29" name="Shape 27"/>
          <p:cNvSpPr/>
          <p:nvPr/>
        </p:nvSpPr>
        <p:spPr>
          <a:xfrm>
            <a:off x="3525012"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0" name="Shape 28"/>
          <p:cNvSpPr/>
          <p:nvPr/>
        </p:nvSpPr>
        <p:spPr>
          <a:xfrm>
            <a:off x="3712464"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1" name="Shape 29"/>
          <p:cNvSpPr/>
          <p:nvPr/>
        </p:nvSpPr>
        <p:spPr>
          <a:xfrm>
            <a:off x="3899916"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2" name="Shape 30"/>
          <p:cNvSpPr/>
          <p:nvPr/>
        </p:nvSpPr>
        <p:spPr>
          <a:xfrm>
            <a:off x="4087368"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3" name="Shape 31"/>
          <p:cNvSpPr/>
          <p:nvPr/>
        </p:nvSpPr>
        <p:spPr>
          <a:xfrm>
            <a:off x="4274820"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34" name="Shape 32"/>
          <p:cNvSpPr/>
          <p:nvPr/>
        </p:nvSpPr>
        <p:spPr>
          <a:xfrm>
            <a:off x="4768596"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5" name="Shape 33"/>
          <p:cNvSpPr/>
          <p:nvPr/>
        </p:nvSpPr>
        <p:spPr>
          <a:xfrm>
            <a:off x="4956048"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6" name="Shape 34"/>
          <p:cNvSpPr/>
          <p:nvPr/>
        </p:nvSpPr>
        <p:spPr>
          <a:xfrm>
            <a:off x="5143500"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7" name="Shape 35"/>
          <p:cNvSpPr/>
          <p:nvPr/>
        </p:nvSpPr>
        <p:spPr>
          <a:xfrm>
            <a:off x="5330952"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38" name="Shape 36"/>
          <p:cNvSpPr/>
          <p:nvPr/>
        </p:nvSpPr>
        <p:spPr>
          <a:xfrm>
            <a:off x="5518404"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39" name="Shape 37"/>
          <p:cNvSpPr/>
          <p:nvPr/>
        </p:nvSpPr>
        <p:spPr>
          <a:xfrm>
            <a:off x="6012180" y="2656332"/>
            <a:ext cx="137160" cy="137160"/>
          </a:xfrm>
          <a:prstGeom prst="ellipse">
            <a:avLst/>
          </a:prstGeom>
          <a:solidFill>
            <a:srgbClr val="8FA6C1"/>
          </a:solidFill>
          <a:ln w="12700">
            <a:solidFill>
              <a:srgbClr val="8FA6C1"/>
            </a:solidFill>
            <a:prstDash val="solid"/>
          </a:ln>
        </p:spPr>
        <p:txBody>
          <a:bodyPr/>
          <a:lstStyle/>
          <a:p>
            <a:endParaRPr lang="en-TH"/>
          </a:p>
        </p:txBody>
      </p:sp>
      <p:sp>
        <p:nvSpPr>
          <p:cNvPr id="40" name="Shape 38"/>
          <p:cNvSpPr/>
          <p:nvPr/>
        </p:nvSpPr>
        <p:spPr>
          <a:xfrm>
            <a:off x="6199632"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41" name="Shape 39"/>
          <p:cNvSpPr/>
          <p:nvPr/>
        </p:nvSpPr>
        <p:spPr>
          <a:xfrm>
            <a:off x="6387084"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42" name="Shape 40"/>
          <p:cNvSpPr/>
          <p:nvPr/>
        </p:nvSpPr>
        <p:spPr>
          <a:xfrm>
            <a:off x="6574536"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43" name="Shape 41"/>
          <p:cNvSpPr/>
          <p:nvPr/>
        </p:nvSpPr>
        <p:spPr>
          <a:xfrm>
            <a:off x="6761988" y="2656332"/>
            <a:ext cx="137160" cy="137160"/>
          </a:xfrm>
          <a:prstGeom prst="ellipse">
            <a:avLst/>
          </a:prstGeom>
          <a:solidFill>
            <a:srgbClr val="FFFFFF"/>
          </a:solidFill>
          <a:ln w="12700">
            <a:solidFill>
              <a:srgbClr val="8FA6C1"/>
            </a:solidFill>
            <a:prstDash val="solid"/>
          </a:ln>
        </p:spPr>
        <p:txBody>
          <a:bodyPr/>
          <a:lstStyle/>
          <a:p>
            <a:endParaRPr lang="en-TH"/>
          </a:p>
        </p:txBody>
      </p:sp>
      <p:sp>
        <p:nvSpPr>
          <p:cNvPr id="44" name="Shape 42"/>
          <p:cNvSpPr/>
          <p:nvPr/>
        </p:nvSpPr>
        <p:spPr>
          <a:xfrm>
            <a:off x="7255764"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45" name="Shape 43"/>
          <p:cNvSpPr/>
          <p:nvPr/>
        </p:nvSpPr>
        <p:spPr>
          <a:xfrm>
            <a:off x="7443216"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46" name="Shape 44"/>
          <p:cNvSpPr/>
          <p:nvPr/>
        </p:nvSpPr>
        <p:spPr>
          <a:xfrm>
            <a:off x="7630668"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47" name="Shape 45"/>
          <p:cNvSpPr/>
          <p:nvPr/>
        </p:nvSpPr>
        <p:spPr>
          <a:xfrm>
            <a:off x="7818120"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48" name="Shape 46"/>
          <p:cNvSpPr/>
          <p:nvPr/>
        </p:nvSpPr>
        <p:spPr>
          <a:xfrm>
            <a:off x="8005572" y="2656332"/>
            <a:ext cx="137160" cy="137160"/>
          </a:xfrm>
          <a:prstGeom prst="ellipse">
            <a:avLst/>
          </a:prstGeom>
          <a:solidFill>
            <a:srgbClr val="13233F"/>
          </a:solidFill>
          <a:ln w="12700">
            <a:solidFill>
              <a:srgbClr val="13233F"/>
            </a:solidFill>
            <a:prstDash val="solid"/>
          </a:ln>
        </p:spPr>
        <p:txBody>
          <a:bodyPr/>
          <a:lstStyle/>
          <a:p>
            <a:endParaRPr lang="en-TH"/>
          </a:p>
        </p:txBody>
      </p:sp>
      <p:sp>
        <p:nvSpPr>
          <p:cNvPr id="49" name="Shape 47"/>
          <p:cNvSpPr/>
          <p:nvPr/>
        </p:nvSpPr>
        <p:spPr>
          <a:xfrm>
            <a:off x="548640" y="3008376"/>
            <a:ext cx="7772400" cy="566928"/>
          </a:xfrm>
          <a:prstGeom prst="rect">
            <a:avLst/>
          </a:prstGeom>
          <a:solidFill>
            <a:srgbClr val="F3F5F8"/>
          </a:solidFill>
          <a:ln w="6350">
            <a:solidFill>
              <a:srgbClr val="D6DCE4"/>
            </a:solidFill>
            <a:prstDash val="solid"/>
          </a:ln>
        </p:spPr>
        <p:txBody>
          <a:bodyPr/>
          <a:lstStyle/>
          <a:p>
            <a:endParaRPr lang="en-TH"/>
          </a:p>
        </p:txBody>
      </p:sp>
      <p:sp>
        <p:nvSpPr>
          <p:cNvPr id="50" name="Text 48"/>
          <p:cNvSpPr txBox="1"/>
          <p:nvPr/>
        </p:nvSpPr>
        <p:spPr>
          <a:xfrm>
            <a:off x="685800" y="3008376"/>
            <a:ext cx="1371600" cy="56692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Ansible</a:t>
            </a:r>
            <a:endParaRPr lang="en-US" sz="1250" dirty="0"/>
          </a:p>
        </p:txBody>
      </p:sp>
      <p:sp>
        <p:nvSpPr>
          <p:cNvPr id="51" name="Shape 49"/>
          <p:cNvSpPr/>
          <p:nvPr/>
        </p:nvSpPr>
        <p:spPr>
          <a:xfrm>
            <a:off x="2281428"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2" name="Shape 50"/>
          <p:cNvSpPr/>
          <p:nvPr/>
        </p:nvSpPr>
        <p:spPr>
          <a:xfrm>
            <a:off x="2468880"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3" name="Shape 51"/>
          <p:cNvSpPr/>
          <p:nvPr/>
        </p:nvSpPr>
        <p:spPr>
          <a:xfrm>
            <a:off x="2656332"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4" name="Shape 52"/>
          <p:cNvSpPr/>
          <p:nvPr/>
        </p:nvSpPr>
        <p:spPr>
          <a:xfrm>
            <a:off x="2843784"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5" name="Shape 53"/>
          <p:cNvSpPr/>
          <p:nvPr/>
        </p:nvSpPr>
        <p:spPr>
          <a:xfrm>
            <a:off x="3031236" y="3223260"/>
            <a:ext cx="137160" cy="137160"/>
          </a:xfrm>
          <a:prstGeom prst="ellipse">
            <a:avLst/>
          </a:prstGeom>
          <a:solidFill>
            <a:srgbClr val="FFFFFF"/>
          </a:solidFill>
          <a:ln w="12700">
            <a:solidFill>
              <a:srgbClr val="8FA6C1"/>
            </a:solidFill>
            <a:prstDash val="solid"/>
          </a:ln>
        </p:spPr>
        <p:txBody>
          <a:bodyPr/>
          <a:lstStyle/>
          <a:p>
            <a:endParaRPr lang="en-TH"/>
          </a:p>
        </p:txBody>
      </p:sp>
      <p:sp>
        <p:nvSpPr>
          <p:cNvPr id="56" name="Shape 54"/>
          <p:cNvSpPr/>
          <p:nvPr/>
        </p:nvSpPr>
        <p:spPr>
          <a:xfrm>
            <a:off x="3525012"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7" name="Shape 55"/>
          <p:cNvSpPr/>
          <p:nvPr/>
        </p:nvSpPr>
        <p:spPr>
          <a:xfrm>
            <a:off x="3712464"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8" name="Shape 56"/>
          <p:cNvSpPr/>
          <p:nvPr/>
        </p:nvSpPr>
        <p:spPr>
          <a:xfrm>
            <a:off x="3899916"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59" name="Shape 57"/>
          <p:cNvSpPr/>
          <p:nvPr/>
        </p:nvSpPr>
        <p:spPr>
          <a:xfrm>
            <a:off x="4087368"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0" name="Shape 58"/>
          <p:cNvSpPr/>
          <p:nvPr/>
        </p:nvSpPr>
        <p:spPr>
          <a:xfrm>
            <a:off x="4274820" y="3223260"/>
            <a:ext cx="137160" cy="137160"/>
          </a:xfrm>
          <a:prstGeom prst="ellipse">
            <a:avLst/>
          </a:prstGeom>
          <a:solidFill>
            <a:srgbClr val="FFFFFF"/>
          </a:solidFill>
          <a:ln w="12700">
            <a:solidFill>
              <a:srgbClr val="8FA6C1"/>
            </a:solidFill>
            <a:prstDash val="solid"/>
          </a:ln>
        </p:spPr>
        <p:txBody>
          <a:bodyPr/>
          <a:lstStyle/>
          <a:p>
            <a:endParaRPr lang="en-TH"/>
          </a:p>
        </p:txBody>
      </p:sp>
      <p:sp>
        <p:nvSpPr>
          <p:cNvPr id="61" name="Shape 59"/>
          <p:cNvSpPr/>
          <p:nvPr/>
        </p:nvSpPr>
        <p:spPr>
          <a:xfrm>
            <a:off x="4768596"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2" name="Shape 60"/>
          <p:cNvSpPr/>
          <p:nvPr/>
        </p:nvSpPr>
        <p:spPr>
          <a:xfrm>
            <a:off x="4956048"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3" name="Shape 61"/>
          <p:cNvSpPr/>
          <p:nvPr/>
        </p:nvSpPr>
        <p:spPr>
          <a:xfrm>
            <a:off x="5143500"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4" name="Shape 62"/>
          <p:cNvSpPr/>
          <p:nvPr/>
        </p:nvSpPr>
        <p:spPr>
          <a:xfrm>
            <a:off x="5330952"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5" name="Shape 63"/>
          <p:cNvSpPr/>
          <p:nvPr/>
        </p:nvSpPr>
        <p:spPr>
          <a:xfrm>
            <a:off x="5518404"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6" name="Shape 64"/>
          <p:cNvSpPr/>
          <p:nvPr/>
        </p:nvSpPr>
        <p:spPr>
          <a:xfrm>
            <a:off x="6012180"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7" name="Shape 65"/>
          <p:cNvSpPr/>
          <p:nvPr/>
        </p:nvSpPr>
        <p:spPr>
          <a:xfrm>
            <a:off x="6199632"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8" name="Shape 66"/>
          <p:cNvSpPr/>
          <p:nvPr/>
        </p:nvSpPr>
        <p:spPr>
          <a:xfrm>
            <a:off x="6387084"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69" name="Shape 67"/>
          <p:cNvSpPr/>
          <p:nvPr/>
        </p:nvSpPr>
        <p:spPr>
          <a:xfrm>
            <a:off x="6574536"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70" name="Shape 68"/>
          <p:cNvSpPr/>
          <p:nvPr/>
        </p:nvSpPr>
        <p:spPr>
          <a:xfrm>
            <a:off x="6761988"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71" name="Shape 69"/>
          <p:cNvSpPr/>
          <p:nvPr/>
        </p:nvSpPr>
        <p:spPr>
          <a:xfrm>
            <a:off x="7255764"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72" name="Shape 70"/>
          <p:cNvSpPr/>
          <p:nvPr/>
        </p:nvSpPr>
        <p:spPr>
          <a:xfrm>
            <a:off x="7443216"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73" name="Shape 71"/>
          <p:cNvSpPr/>
          <p:nvPr/>
        </p:nvSpPr>
        <p:spPr>
          <a:xfrm>
            <a:off x="7630668"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74" name="Shape 72"/>
          <p:cNvSpPr/>
          <p:nvPr/>
        </p:nvSpPr>
        <p:spPr>
          <a:xfrm>
            <a:off x="7818120" y="3223260"/>
            <a:ext cx="137160" cy="137160"/>
          </a:xfrm>
          <a:prstGeom prst="ellipse">
            <a:avLst/>
          </a:prstGeom>
          <a:solidFill>
            <a:srgbClr val="13233F"/>
          </a:solidFill>
          <a:ln w="12700">
            <a:solidFill>
              <a:srgbClr val="13233F"/>
            </a:solidFill>
            <a:prstDash val="solid"/>
          </a:ln>
        </p:spPr>
        <p:txBody>
          <a:bodyPr/>
          <a:lstStyle/>
          <a:p>
            <a:endParaRPr lang="en-TH"/>
          </a:p>
        </p:txBody>
      </p:sp>
      <p:sp>
        <p:nvSpPr>
          <p:cNvPr id="75" name="Shape 73"/>
          <p:cNvSpPr/>
          <p:nvPr/>
        </p:nvSpPr>
        <p:spPr>
          <a:xfrm>
            <a:off x="8005572" y="3223260"/>
            <a:ext cx="137160" cy="137160"/>
          </a:xfrm>
          <a:prstGeom prst="ellipse">
            <a:avLst/>
          </a:prstGeom>
          <a:solidFill>
            <a:srgbClr val="FFFFFF"/>
          </a:solidFill>
          <a:ln w="12700">
            <a:solidFill>
              <a:srgbClr val="8FA6C1"/>
            </a:solidFill>
            <a:prstDash val="solid"/>
          </a:ln>
        </p:spPr>
        <p:txBody>
          <a:bodyPr/>
          <a:lstStyle/>
          <a:p>
            <a:endParaRPr lang="en-TH"/>
          </a:p>
        </p:txBody>
      </p:sp>
      <p:sp>
        <p:nvSpPr>
          <p:cNvPr id="76" name="Shape 74"/>
          <p:cNvSpPr/>
          <p:nvPr/>
        </p:nvSpPr>
        <p:spPr>
          <a:xfrm>
            <a:off x="548640" y="3575304"/>
            <a:ext cx="7772400" cy="566928"/>
          </a:xfrm>
          <a:prstGeom prst="rect">
            <a:avLst/>
          </a:prstGeom>
          <a:solidFill>
            <a:srgbClr val="FFFFFF"/>
          </a:solidFill>
          <a:ln w="6350">
            <a:solidFill>
              <a:srgbClr val="D6DCE4"/>
            </a:solidFill>
            <a:prstDash val="solid"/>
          </a:ln>
        </p:spPr>
        <p:txBody>
          <a:bodyPr/>
          <a:lstStyle/>
          <a:p>
            <a:endParaRPr lang="en-TH"/>
          </a:p>
        </p:txBody>
      </p:sp>
      <p:sp>
        <p:nvSpPr>
          <p:cNvPr id="77" name="Text 75"/>
          <p:cNvSpPr txBox="1"/>
          <p:nvPr/>
        </p:nvSpPr>
        <p:spPr>
          <a:xfrm>
            <a:off x="685800" y="3575304"/>
            <a:ext cx="1371600" cy="56692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Puppet</a:t>
            </a:r>
            <a:endParaRPr lang="en-US" sz="1250" dirty="0"/>
          </a:p>
        </p:txBody>
      </p:sp>
      <p:sp>
        <p:nvSpPr>
          <p:cNvPr id="78" name="Shape 76"/>
          <p:cNvSpPr/>
          <p:nvPr/>
        </p:nvSpPr>
        <p:spPr>
          <a:xfrm>
            <a:off x="2281428"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79" name="Shape 77"/>
          <p:cNvSpPr/>
          <p:nvPr/>
        </p:nvSpPr>
        <p:spPr>
          <a:xfrm>
            <a:off x="2468880"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0" name="Shape 78"/>
          <p:cNvSpPr/>
          <p:nvPr/>
        </p:nvSpPr>
        <p:spPr>
          <a:xfrm>
            <a:off x="2656332"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1" name="Shape 79"/>
          <p:cNvSpPr/>
          <p:nvPr/>
        </p:nvSpPr>
        <p:spPr>
          <a:xfrm>
            <a:off x="2843784"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2" name="Shape 80"/>
          <p:cNvSpPr/>
          <p:nvPr/>
        </p:nvSpPr>
        <p:spPr>
          <a:xfrm>
            <a:off x="3031236"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3" name="Shape 81"/>
          <p:cNvSpPr/>
          <p:nvPr/>
        </p:nvSpPr>
        <p:spPr>
          <a:xfrm>
            <a:off x="3525012"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4" name="Shape 82"/>
          <p:cNvSpPr/>
          <p:nvPr/>
        </p:nvSpPr>
        <p:spPr>
          <a:xfrm>
            <a:off x="3712464"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5" name="Shape 83"/>
          <p:cNvSpPr/>
          <p:nvPr/>
        </p:nvSpPr>
        <p:spPr>
          <a:xfrm>
            <a:off x="3899916"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6" name="Shape 84"/>
          <p:cNvSpPr/>
          <p:nvPr/>
        </p:nvSpPr>
        <p:spPr>
          <a:xfrm>
            <a:off x="4087368" y="3790188"/>
            <a:ext cx="137160" cy="137160"/>
          </a:xfrm>
          <a:prstGeom prst="ellipse">
            <a:avLst/>
          </a:prstGeom>
          <a:solidFill>
            <a:srgbClr val="13233F"/>
          </a:solidFill>
          <a:ln w="12700">
            <a:solidFill>
              <a:srgbClr val="13233F"/>
            </a:solidFill>
            <a:prstDash val="solid"/>
          </a:ln>
        </p:spPr>
        <p:txBody>
          <a:bodyPr/>
          <a:lstStyle/>
          <a:p>
            <a:endParaRPr lang="en-TH"/>
          </a:p>
        </p:txBody>
      </p:sp>
      <p:sp>
        <p:nvSpPr>
          <p:cNvPr id="87" name="Shape 85"/>
          <p:cNvSpPr/>
          <p:nvPr/>
        </p:nvSpPr>
        <p:spPr>
          <a:xfrm>
            <a:off x="4274820"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88" name="Shape 86"/>
          <p:cNvSpPr/>
          <p:nvPr/>
        </p:nvSpPr>
        <p:spPr>
          <a:xfrm>
            <a:off x="4768596" y="3790188"/>
            <a:ext cx="137160" cy="137160"/>
          </a:xfrm>
          <a:prstGeom prst="ellipse">
            <a:avLst/>
          </a:prstGeom>
          <a:solidFill>
            <a:srgbClr val="8FA6C1"/>
          </a:solidFill>
          <a:ln w="12700">
            <a:solidFill>
              <a:srgbClr val="8FA6C1"/>
            </a:solidFill>
            <a:prstDash val="solid"/>
          </a:ln>
        </p:spPr>
        <p:txBody>
          <a:bodyPr/>
          <a:lstStyle/>
          <a:p>
            <a:endParaRPr lang="en-TH"/>
          </a:p>
        </p:txBody>
      </p:sp>
      <p:sp>
        <p:nvSpPr>
          <p:cNvPr id="89" name="Shape 87"/>
          <p:cNvSpPr/>
          <p:nvPr/>
        </p:nvSpPr>
        <p:spPr>
          <a:xfrm>
            <a:off x="4956048" y="3790188"/>
            <a:ext cx="137160" cy="137160"/>
          </a:xfrm>
          <a:prstGeom prst="ellipse">
            <a:avLst/>
          </a:prstGeom>
          <a:solidFill>
            <a:srgbClr val="8FA6C1"/>
          </a:solidFill>
          <a:ln w="12700">
            <a:solidFill>
              <a:srgbClr val="8FA6C1"/>
            </a:solidFill>
            <a:prstDash val="solid"/>
          </a:ln>
        </p:spPr>
        <p:txBody>
          <a:bodyPr/>
          <a:lstStyle/>
          <a:p>
            <a:endParaRPr lang="en-TH"/>
          </a:p>
        </p:txBody>
      </p:sp>
      <p:sp>
        <p:nvSpPr>
          <p:cNvPr id="90" name="Shape 88"/>
          <p:cNvSpPr/>
          <p:nvPr/>
        </p:nvSpPr>
        <p:spPr>
          <a:xfrm>
            <a:off x="5143500"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91" name="Shape 89"/>
          <p:cNvSpPr/>
          <p:nvPr/>
        </p:nvSpPr>
        <p:spPr>
          <a:xfrm>
            <a:off x="5330952"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92" name="Shape 90"/>
          <p:cNvSpPr/>
          <p:nvPr/>
        </p:nvSpPr>
        <p:spPr>
          <a:xfrm>
            <a:off x="5518404"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93" name="Shape 91"/>
          <p:cNvSpPr/>
          <p:nvPr/>
        </p:nvSpPr>
        <p:spPr>
          <a:xfrm>
            <a:off x="6012180" y="3790188"/>
            <a:ext cx="137160" cy="137160"/>
          </a:xfrm>
          <a:prstGeom prst="ellipse">
            <a:avLst/>
          </a:prstGeom>
          <a:solidFill>
            <a:srgbClr val="8FA6C1"/>
          </a:solidFill>
          <a:ln w="12700">
            <a:solidFill>
              <a:srgbClr val="8FA6C1"/>
            </a:solidFill>
            <a:prstDash val="solid"/>
          </a:ln>
        </p:spPr>
        <p:txBody>
          <a:bodyPr/>
          <a:lstStyle/>
          <a:p>
            <a:endParaRPr lang="en-TH"/>
          </a:p>
        </p:txBody>
      </p:sp>
      <p:sp>
        <p:nvSpPr>
          <p:cNvPr id="94" name="Shape 92"/>
          <p:cNvSpPr/>
          <p:nvPr/>
        </p:nvSpPr>
        <p:spPr>
          <a:xfrm>
            <a:off x="6199632" y="3790188"/>
            <a:ext cx="137160" cy="137160"/>
          </a:xfrm>
          <a:prstGeom prst="ellipse">
            <a:avLst/>
          </a:prstGeom>
          <a:solidFill>
            <a:srgbClr val="8FA6C1"/>
          </a:solidFill>
          <a:ln w="12700">
            <a:solidFill>
              <a:srgbClr val="8FA6C1"/>
            </a:solidFill>
            <a:prstDash val="solid"/>
          </a:ln>
        </p:spPr>
        <p:txBody>
          <a:bodyPr/>
          <a:lstStyle/>
          <a:p>
            <a:endParaRPr lang="en-TH"/>
          </a:p>
        </p:txBody>
      </p:sp>
      <p:sp>
        <p:nvSpPr>
          <p:cNvPr id="95" name="Shape 93"/>
          <p:cNvSpPr/>
          <p:nvPr/>
        </p:nvSpPr>
        <p:spPr>
          <a:xfrm>
            <a:off x="6387084"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96" name="Shape 94"/>
          <p:cNvSpPr/>
          <p:nvPr/>
        </p:nvSpPr>
        <p:spPr>
          <a:xfrm>
            <a:off x="6574536"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97" name="Shape 95"/>
          <p:cNvSpPr/>
          <p:nvPr/>
        </p:nvSpPr>
        <p:spPr>
          <a:xfrm>
            <a:off x="6761988"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98" name="Shape 96"/>
          <p:cNvSpPr/>
          <p:nvPr/>
        </p:nvSpPr>
        <p:spPr>
          <a:xfrm>
            <a:off x="7255764" y="3790188"/>
            <a:ext cx="137160" cy="137160"/>
          </a:xfrm>
          <a:prstGeom prst="ellipse">
            <a:avLst/>
          </a:prstGeom>
          <a:solidFill>
            <a:srgbClr val="4A6A8F"/>
          </a:solidFill>
          <a:ln w="12700">
            <a:solidFill>
              <a:srgbClr val="4A6A8F"/>
            </a:solidFill>
            <a:prstDash val="solid"/>
          </a:ln>
        </p:spPr>
        <p:txBody>
          <a:bodyPr/>
          <a:lstStyle/>
          <a:p>
            <a:endParaRPr lang="en-TH"/>
          </a:p>
        </p:txBody>
      </p:sp>
      <p:sp>
        <p:nvSpPr>
          <p:cNvPr id="99" name="Shape 97"/>
          <p:cNvSpPr/>
          <p:nvPr/>
        </p:nvSpPr>
        <p:spPr>
          <a:xfrm>
            <a:off x="7443216" y="3790188"/>
            <a:ext cx="137160" cy="137160"/>
          </a:xfrm>
          <a:prstGeom prst="ellipse">
            <a:avLst/>
          </a:prstGeom>
          <a:solidFill>
            <a:srgbClr val="4A6A8F"/>
          </a:solidFill>
          <a:ln w="12700">
            <a:solidFill>
              <a:srgbClr val="4A6A8F"/>
            </a:solidFill>
            <a:prstDash val="solid"/>
          </a:ln>
        </p:spPr>
        <p:txBody>
          <a:bodyPr/>
          <a:lstStyle/>
          <a:p>
            <a:endParaRPr lang="en-TH"/>
          </a:p>
        </p:txBody>
      </p:sp>
      <p:sp>
        <p:nvSpPr>
          <p:cNvPr id="100" name="Shape 98"/>
          <p:cNvSpPr/>
          <p:nvPr/>
        </p:nvSpPr>
        <p:spPr>
          <a:xfrm>
            <a:off x="7630668" y="3790188"/>
            <a:ext cx="137160" cy="137160"/>
          </a:xfrm>
          <a:prstGeom prst="ellipse">
            <a:avLst/>
          </a:prstGeom>
          <a:solidFill>
            <a:srgbClr val="4A6A8F"/>
          </a:solidFill>
          <a:ln w="12700">
            <a:solidFill>
              <a:srgbClr val="4A6A8F"/>
            </a:solidFill>
            <a:prstDash val="solid"/>
          </a:ln>
        </p:spPr>
        <p:txBody>
          <a:bodyPr/>
          <a:lstStyle/>
          <a:p>
            <a:endParaRPr lang="en-TH"/>
          </a:p>
        </p:txBody>
      </p:sp>
      <p:sp>
        <p:nvSpPr>
          <p:cNvPr id="101" name="Shape 99"/>
          <p:cNvSpPr/>
          <p:nvPr/>
        </p:nvSpPr>
        <p:spPr>
          <a:xfrm>
            <a:off x="7818120"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102" name="Shape 100"/>
          <p:cNvSpPr/>
          <p:nvPr/>
        </p:nvSpPr>
        <p:spPr>
          <a:xfrm>
            <a:off x="8005572" y="3790188"/>
            <a:ext cx="137160" cy="137160"/>
          </a:xfrm>
          <a:prstGeom prst="ellipse">
            <a:avLst/>
          </a:prstGeom>
          <a:solidFill>
            <a:srgbClr val="FFFFFF"/>
          </a:solidFill>
          <a:ln w="12700">
            <a:solidFill>
              <a:srgbClr val="8FA6C1"/>
            </a:solidFill>
            <a:prstDash val="solid"/>
          </a:ln>
        </p:spPr>
        <p:txBody>
          <a:bodyPr/>
          <a:lstStyle/>
          <a:p>
            <a:endParaRPr lang="en-TH"/>
          </a:p>
        </p:txBody>
      </p:sp>
      <p:sp>
        <p:nvSpPr>
          <p:cNvPr id="103" name="Shape 101"/>
          <p:cNvSpPr/>
          <p:nvPr/>
        </p:nvSpPr>
        <p:spPr>
          <a:xfrm>
            <a:off x="548640" y="4142232"/>
            <a:ext cx="7772400" cy="566928"/>
          </a:xfrm>
          <a:prstGeom prst="rect">
            <a:avLst/>
          </a:prstGeom>
          <a:solidFill>
            <a:srgbClr val="F3F5F8"/>
          </a:solidFill>
          <a:ln w="6350">
            <a:solidFill>
              <a:srgbClr val="D6DCE4"/>
            </a:solidFill>
            <a:prstDash val="solid"/>
          </a:ln>
        </p:spPr>
        <p:txBody>
          <a:bodyPr/>
          <a:lstStyle/>
          <a:p>
            <a:endParaRPr lang="en-TH"/>
          </a:p>
        </p:txBody>
      </p:sp>
      <p:sp>
        <p:nvSpPr>
          <p:cNvPr id="104" name="Text 102"/>
          <p:cNvSpPr txBox="1"/>
          <p:nvPr/>
        </p:nvSpPr>
        <p:spPr>
          <a:xfrm>
            <a:off x="685800" y="4142232"/>
            <a:ext cx="1371600" cy="56692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Chef</a:t>
            </a:r>
            <a:endParaRPr lang="en-US" sz="1250" dirty="0"/>
          </a:p>
        </p:txBody>
      </p:sp>
      <p:sp>
        <p:nvSpPr>
          <p:cNvPr id="105" name="Shape 103"/>
          <p:cNvSpPr/>
          <p:nvPr/>
        </p:nvSpPr>
        <p:spPr>
          <a:xfrm>
            <a:off x="2281428"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06" name="Shape 104"/>
          <p:cNvSpPr/>
          <p:nvPr/>
        </p:nvSpPr>
        <p:spPr>
          <a:xfrm>
            <a:off x="2468880"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07" name="Shape 105"/>
          <p:cNvSpPr/>
          <p:nvPr/>
        </p:nvSpPr>
        <p:spPr>
          <a:xfrm>
            <a:off x="2656332"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08" name="Shape 106"/>
          <p:cNvSpPr/>
          <p:nvPr/>
        </p:nvSpPr>
        <p:spPr>
          <a:xfrm>
            <a:off x="2843784"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09" name="Shape 107"/>
          <p:cNvSpPr/>
          <p:nvPr/>
        </p:nvSpPr>
        <p:spPr>
          <a:xfrm>
            <a:off x="3031236"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10" name="Shape 108"/>
          <p:cNvSpPr/>
          <p:nvPr/>
        </p:nvSpPr>
        <p:spPr>
          <a:xfrm>
            <a:off x="3525012"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11" name="Shape 109"/>
          <p:cNvSpPr/>
          <p:nvPr/>
        </p:nvSpPr>
        <p:spPr>
          <a:xfrm>
            <a:off x="3712464"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12" name="Shape 110"/>
          <p:cNvSpPr/>
          <p:nvPr/>
        </p:nvSpPr>
        <p:spPr>
          <a:xfrm>
            <a:off x="3899916"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13" name="Shape 111"/>
          <p:cNvSpPr/>
          <p:nvPr/>
        </p:nvSpPr>
        <p:spPr>
          <a:xfrm>
            <a:off x="4087368" y="4357116"/>
            <a:ext cx="137160" cy="137160"/>
          </a:xfrm>
          <a:prstGeom prst="ellipse">
            <a:avLst/>
          </a:prstGeom>
          <a:solidFill>
            <a:srgbClr val="13233F"/>
          </a:solidFill>
          <a:ln w="12700">
            <a:solidFill>
              <a:srgbClr val="13233F"/>
            </a:solidFill>
            <a:prstDash val="solid"/>
          </a:ln>
        </p:spPr>
        <p:txBody>
          <a:bodyPr/>
          <a:lstStyle/>
          <a:p>
            <a:endParaRPr lang="en-TH"/>
          </a:p>
        </p:txBody>
      </p:sp>
      <p:sp>
        <p:nvSpPr>
          <p:cNvPr id="114" name="Shape 112"/>
          <p:cNvSpPr/>
          <p:nvPr/>
        </p:nvSpPr>
        <p:spPr>
          <a:xfrm>
            <a:off x="4274820"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15" name="Shape 113"/>
          <p:cNvSpPr/>
          <p:nvPr/>
        </p:nvSpPr>
        <p:spPr>
          <a:xfrm>
            <a:off x="4768596" y="4357116"/>
            <a:ext cx="137160" cy="137160"/>
          </a:xfrm>
          <a:prstGeom prst="ellipse">
            <a:avLst/>
          </a:prstGeom>
          <a:solidFill>
            <a:srgbClr val="8FA6C1"/>
          </a:solidFill>
          <a:ln w="12700">
            <a:solidFill>
              <a:srgbClr val="8FA6C1"/>
            </a:solidFill>
            <a:prstDash val="solid"/>
          </a:ln>
        </p:spPr>
        <p:txBody>
          <a:bodyPr/>
          <a:lstStyle/>
          <a:p>
            <a:endParaRPr lang="en-TH"/>
          </a:p>
        </p:txBody>
      </p:sp>
      <p:sp>
        <p:nvSpPr>
          <p:cNvPr id="116" name="Shape 114"/>
          <p:cNvSpPr/>
          <p:nvPr/>
        </p:nvSpPr>
        <p:spPr>
          <a:xfrm>
            <a:off x="4956048" y="4357116"/>
            <a:ext cx="137160" cy="137160"/>
          </a:xfrm>
          <a:prstGeom prst="ellipse">
            <a:avLst/>
          </a:prstGeom>
          <a:solidFill>
            <a:srgbClr val="8FA6C1"/>
          </a:solidFill>
          <a:ln w="12700">
            <a:solidFill>
              <a:srgbClr val="8FA6C1"/>
            </a:solidFill>
            <a:prstDash val="solid"/>
          </a:ln>
        </p:spPr>
        <p:txBody>
          <a:bodyPr/>
          <a:lstStyle/>
          <a:p>
            <a:endParaRPr lang="en-TH"/>
          </a:p>
        </p:txBody>
      </p:sp>
      <p:sp>
        <p:nvSpPr>
          <p:cNvPr id="117" name="Shape 115"/>
          <p:cNvSpPr/>
          <p:nvPr/>
        </p:nvSpPr>
        <p:spPr>
          <a:xfrm>
            <a:off x="5143500"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18" name="Shape 116"/>
          <p:cNvSpPr/>
          <p:nvPr/>
        </p:nvSpPr>
        <p:spPr>
          <a:xfrm>
            <a:off x="5330952"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19" name="Shape 117"/>
          <p:cNvSpPr/>
          <p:nvPr/>
        </p:nvSpPr>
        <p:spPr>
          <a:xfrm>
            <a:off x="5518404"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20" name="Shape 118"/>
          <p:cNvSpPr/>
          <p:nvPr/>
        </p:nvSpPr>
        <p:spPr>
          <a:xfrm>
            <a:off x="6012180" y="4357116"/>
            <a:ext cx="137160" cy="137160"/>
          </a:xfrm>
          <a:prstGeom prst="ellipse">
            <a:avLst/>
          </a:prstGeom>
          <a:solidFill>
            <a:srgbClr val="8FA6C1"/>
          </a:solidFill>
          <a:ln w="12700">
            <a:solidFill>
              <a:srgbClr val="8FA6C1"/>
            </a:solidFill>
            <a:prstDash val="solid"/>
          </a:ln>
        </p:spPr>
        <p:txBody>
          <a:bodyPr/>
          <a:lstStyle/>
          <a:p>
            <a:endParaRPr lang="en-TH"/>
          </a:p>
        </p:txBody>
      </p:sp>
      <p:sp>
        <p:nvSpPr>
          <p:cNvPr id="121" name="Shape 119"/>
          <p:cNvSpPr/>
          <p:nvPr/>
        </p:nvSpPr>
        <p:spPr>
          <a:xfrm>
            <a:off x="6199632" y="4357116"/>
            <a:ext cx="137160" cy="137160"/>
          </a:xfrm>
          <a:prstGeom prst="ellipse">
            <a:avLst/>
          </a:prstGeom>
          <a:solidFill>
            <a:srgbClr val="8FA6C1"/>
          </a:solidFill>
          <a:ln w="12700">
            <a:solidFill>
              <a:srgbClr val="8FA6C1"/>
            </a:solidFill>
            <a:prstDash val="solid"/>
          </a:ln>
        </p:spPr>
        <p:txBody>
          <a:bodyPr/>
          <a:lstStyle/>
          <a:p>
            <a:endParaRPr lang="en-TH"/>
          </a:p>
        </p:txBody>
      </p:sp>
      <p:sp>
        <p:nvSpPr>
          <p:cNvPr id="122" name="Shape 120"/>
          <p:cNvSpPr/>
          <p:nvPr/>
        </p:nvSpPr>
        <p:spPr>
          <a:xfrm>
            <a:off x="6387084"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23" name="Shape 121"/>
          <p:cNvSpPr/>
          <p:nvPr/>
        </p:nvSpPr>
        <p:spPr>
          <a:xfrm>
            <a:off x="6574536"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24" name="Shape 122"/>
          <p:cNvSpPr/>
          <p:nvPr/>
        </p:nvSpPr>
        <p:spPr>
          <a:xfrm>
            <a:off x="6761988"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25" name="Shape 123"/>
          <p:cNvSpPr/>
          <p:nvPr/>
        </p:nvSpPr>
        <p:spPr>
          <a:xfrm>
            <a:off x="7255764" y="4357116"/>
            <a:ext cx="137160" cy="137160"/>
          </a:xfrm>
          <a:prstGeom prst="ellipse">
            <a:avLst/>
          </a:prstGeom>
          <a:solidFill>
            <a:srgbClr val="8FA6C1"/>
          </a:solidFill>
          <a:ln w="12700">
            <a:solidFill>
              <a:srgbClr val="8FA6C1"/>
            </a:solidFill>
            <a:prstDash val="solid"/>
          </a:ln>
        </p:spPr>
        <p:txBody>
          <a:bodyPr/>
          <a:lstStyle/>
          <a:p>
            <a:endParaRPr lang="en-TH"/>
          </a:p>
        </p:txBody>
      </p:sp>
      <p:sp>
        <p:nvSpPr>
          <p:cNvPr id="126" name="Shape 124"/>
          <p:cNvSpPr/>
          <p:nvPr/>
        </p:nvSpPr>
        <p:spPr>
          <a:xfrm>
            <a:off x="7443216" y="4357116"/>
            <a:ext cx="137160" cy="137160"/>
          </a:xfrm>
          <a:prstGeom prst="ellipse">
            <a:avLst/>
          </a:prstGeom>
          <a:solidFill>
            <a:srgbClr val="8FA6C1"/>
          </a:solidFill>
          <a:ln w="12700">
            <a:solidFill>
              <a:srgbClr val="8FA6C1"/>
            </a:solidFill>
            <a:prstDash val="solid"/>
          </a:ln>
        </p:spPr>
        <p:txBody>
          <a:bodyPr/>
          <a:lstStyle/>
          <a:p>
            <a:endParaRPr lang="en-TH"/>
          </a:p>
        </p:txBody>
      </p:sp>
      <p:sp>
        <p:nvSpPr>
          <p:cNvPr id="127" name="Shape 125"/>
          <p:cNvSpPr/>
          <p:nvPr/>
        </p:nvSpPr>
        <p:spPr>
          <a:xfrm>
            <a:off x="7630668"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28" name="Shape 126"/>
          <p:cNvSpPr/>
          <p:nvPr/>
        </p:nvSpPr>
        <p:spPr>
          <a:xfrm>
            <a:off x="7818120"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29" name="Shape 127"/>
          <p:cNvSpPr/>
          <p:nvPr/>
        </p:nvSpPr>
        <p:spPr>
          <a:xfrm>
            <a:off x="8005572" y="4357116"/>
            <a:ext cx="137160" cy="137160"/>
          </a:xfrm>
          <a:prstGeom prst="ellipse">
            <a:avLst/>
          </a:prstGeom>
          <a:solidFill>
            <a:srgbClr val="FFFFFF"/>
          </a:solidFill>
          <a:ln w="12700">
            <a:solidFill>
              <a:srgbClr val="8FA6C1"/>
            </a:solidFill>
            <a:prstDash val="solid"/>
          </a:ln>
        </p:spPr>
        <p:txBody>
          <a:bodyPr/>
          <a:lstStyle/>
          <a:p>
            <a:endParaRPr lang="en-TH"/>
          </a:p>
        </p:txBody>
      </p:sp>
      <p:sp>
        <p:nvSpPr>
          <p:cNvPr id="130" name="Shape 128"/>
          <p:cNvSpPr/>
          <p:nvPr/>
        </p:nvSpPr>
        <p:spPr>
          <a:xfrm>
            <a:off x="548640" y="4709160"/>
            <a:ext cx="7772400" cy="566928"/>
          </a:xfrm>
          <a:prstGeom prst="rect">
            <a:avLst/>
          </a:prstGeom>
          <a:solidFill>
            <a:srgbClr val="FFFFFF"/>
          </a:solidFill>
          <a:ln w="6350">
            <a:solidFill>
              <a:srgbClr val="D6DCE4"/>
            </a:solidFill>
            <a:prstDash val="solid"/>
          </a:ln>
        </p:spPr>
        <p:txBody>
          <a:bodyPr/>
          <a:lstStyle/>
          <a:p>
            <a:endParaRPr lang="en-TH"/>
          </a:p>
        </p:txBody>
      </p:sp>
      <p:sp>
        <p:nvSpPr>
          <p:cNvPr id="131" name="Text 129"/>
          <p:cNvSpPr txBox="1"/>
          <p:nvPr/>
        </p:nvSpPr>
        <p:spPr>
          <a:xfrm>
            <a:off x="685800" y="4709160"/>
            <a:ext cx="1371600" cy="56692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SaltStack</a:t>
            </a:r>
            <a:endParaRPr lang="en-US" sz="1250" dirty="0"/>
          </a:p>
        </p:txBody>
      </p:sp>
      <p:sp>
        <p:nvSpPr>
          <p:cNvPr id="132" name="Shape 130"/>
          <p:cNvSpPr/>
          <p:nvPr/>
        </p:nvSpPr>
        <p:spPr>
          <a:xfrm>
            <a:off x="2281428"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33" name="Shape 131"/>
          <p:cNvSpPr/>
          <p:nvPr/>
        </p:nvSpPr>
        <p:spPr>
          <a:xfrm>
            <a:off x="2468880"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34" name="Shape 132"/>
          <p:cNvSpPr/>
          <p:nvPr/>
        </p:nvSpPr>
        <p:spPr>
          <a:xfrm>
            <a:off x="2656332"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35" name="Shape 133"/>
          <p:cNvSpPr/>
          <p:nvPr/>
        </p:nvSpPr>
        <p:spPr>
          <a:xfrm>
            <a:off x="2843784"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36" name="Shape 134"/>
          <p:cNvSpPr/>
          <p:nvPr/>
        </p:nvSpPr>
        <p:spPr>
          <a:xfrm>
            <a:off x="3031236"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37" name="Shape 135"/>
          <p:cNvSpPr/>
          <p:nvPr/>
        </p:nvSpPr>
        <p:spPr>
          <a:xfrm>
            <a:off x="3525012"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38" name="Shape 136"/>
          <p:cNvSpPr/>
          <p:nvPr/>
        </p:nvSpPr>
        <p:spPr>
          <a:xfrm>
            <a:off x="3712464"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39" name="Shape 137"/>
          <p:cNvSpPr/>
          <p:nvPr/>
        </p:nvSpPr>
        <p:spPr>
          <a:xfrm>
            <a:off x="3899916"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40" name="Shape 138"/>
          <p:cNvSpPr/>
          <p:nvPr/>
        </p:nvSpPr>
        <p:spPr>
          <a:xfrm>
            <a:off x="4087368"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41" name="Shape 139"/>
          <p:cNvSpPr/>
          <p:nvPr/>
        </p:nvSpPr>
        <p:spPr>
          <a:xfrm>
            <a:off x="4274820"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42" name="Shape 140"/>
          <p:cNvSpPr/>
          <p:nvPr/>
        </p:nvSpPr>
        <p:spPr>
          <a:xfrm>
            <a:off x="4768596"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43" name="Shape 141"/>
          <p:cNvSpPr/>
          <p:nvPr/>
        </p:nvSpPr>
        <p:spPr>
          <a:xfrm>
            <a:off x="4956048"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44" name="Shape 142"/>
          <p:cNvSpPr/>
          <p:nvPr/>
        </p:nvSpPr>
        <p:spPr>
          <a:xfrm>
            <a:off x="5143500"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45" name="Shape 143"/>
          <p:cNvSpPr/>
          <p:nvPr/>
        </p:nvSpPr>
        <p:spPr>
          <a:xfrm>
            <a:off x="5330952"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46" name="Shape 144"/>
          <p:cNvSpPr/>
          <p:nvPr/>
        </p:nvSpPr>
        <p:spPr>
          <a:xfrm>
            <a:off x="5518404"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47" name="Shape 145"/>
          <p:cNvSpPr/>
          <p:nvPr/>
        </p:nvSpPr>
        <p:spPr>
          <a:xfrm>
            <a:off x="6012180"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48" name="Shape 146"/>
          <p:cNvSpPr/>
          <p:nvPr/>
        </p:nvSpPr>
        <p:spPr>
          <a:xfrm>
            <a:off x="6199632"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49" name="Shape 147"/>
          <p:cNvSpPr/>
          <p:nvPr/>
        </p:nvSpPr>
        <p:spPr>
          <a:xfrm>
            <a:off x="6387084" y="4924044"/>
            <a:ext cx="137160" cy="137160"/>
          </a:xfrm>
          <a:prstGeom prst="ellipse">
            <a:avLst/>
          </a:prstGeom>
          <a:solidFill>
            <a:srgbClr val="4A6A8F"/>
          </a:solidFill>
          <a:ln w="12700">
            <a:solidFill>
              <a:srgbClr val="4A6A8F"/>
            </a:solidFill>
            <a:prstDash val="solid"/>
          </a:ln>
        </p:spPr>
        <p:txBody>
          <a:bodyPr/>
          <a:lstStyle/>
          <a:p>
            <a:endParaRPr lang="en-TH"/>
          </a:p>
        </p:txBody>
      </p:sp>
      <p:sp>
        <p:nvSpPr>
          <p:cNvPr id="150" name="Shape 148"/>
          <p:cNvSpPr/>
          <p:nvPr/>
        </p:nvSpPr>
        <p:spPr>
          <a:xfrm>
            <a:off x="6574536"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51" name="Shape 149"/>
          <p:cNvSpPr/>
          <p:nvPr/>
        </p:nvSpPr>
        <p:spPr>
          <a:xfrm>
            <a:off x="6761988"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52" name="Shape 150"/>
          <p:cNvSpPr/>
          <p:nvPr/>
        </p:nvSpPr>
        <p:spPr>
          <a:xfrm>
            <a:off x="7255764"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53" name="Shape 151"/>
          <p:cNvSpPr/>
          <p:nvPr/>
        </p:nvSpPr>
        <p:spPr>
          <a:xfrm>
            <a:off x="7443216"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54" name="Shape 152"/>
          <p:cNvSpPr/>
          <p:nvPr/>
        </p:nvSpPr>
        <p:spPr>
          <a:xfrm>
            <a:off x="7630668"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55" name="Shape 153"/>
          <p:cNvSpPr/>
          <p:nvPr/>
        </p:nvSpPr>
        <p:spPr>
          <a:xfrm>
            <a:off x="7818120" y="4924044"/>
            <a:ext cx="137160" cy="137160"/>
          </a:xfrm>
          <a:prstGeom prst="ellipse">
            <a:avLst/>
          </a:prstGeom>
          <a:solidFill>
            <a:srgbClr val="13233F"/>
          </a:solidFill>
          <a:ln w="12700">
            <a:solidFill>
              <a:srgbClr val="13233F"/>
            </a:solidFill>
            <a:prstDash val="solid"/>
          </a:ln>
        </p:spPr>
        <p:txBody>
          <a:bodyPr/>
          <a:lstStyle/>
          <a:p>
            <a:endParaRPr lang="en-TH"/>
          </a:p>
        </p:txBody>
      </p:sp>
      <p:sp>
        <p:nvSpPr>
          <p:cNvPr id="156" name="Shape 154"/>
          <p:cNvSpPr/>
          <p:nvPr/>
        </p:nvSpPr>
        <p:spPr>
          <a:xfrm>
            <a:off x="8005572" y="4924044"/>
            <a:ext cx="137160" cy="137160"/>
          </a:xfrm>
          <a:prstGeom prst="ellipse">
            <a:avLst/>
          </a:prstGeom>
          <a:solidFill>
            <a:srgbClr val="FFFFFF"/>
          </a:solidFill>
          <a:ln w="12700">
            <a:solidFill>
              <a:srgbClr val="8FA6C1"/>
            </a:solidFill>
            <a:prstDash val="solid"/>
          </a:ln>
        </p:spPr>
        <p:txBody>
          <a:bodyPr/>
          <a:lstStyle/>
          <a:p>
            <a:endParaRPr lang="en-TH"/>
          </a:p>
        </p:txBody>
      </p:sp>
      <p:sp>
        <p:nvSpPr>
          <p:cNvPr id="157" name="Shape 155"/>
          <p:cNvSpPr/>
          <p:nvPr/>
        </p:nvSpPr>
        <p:spPr>
          <a:xfrm>
            <a:off x="548640" y="5276088"/>
            <a:ext cx="7772400" cy="566928"/>
          </a:xfrm>
          <a:prstGeom prst="rect">
            <a:avLst/>
          </a:prstGeom>
          <a:solidFill>
            <a:srgbClr val="F3F5F8"/>
          </a:solidFill>
          <a:ln w="6350">
            <a:solidFill>
              <a:srgbClr val="D6DCE4"/>
            </a:solidFill>
            <a:prstDash val="solid"/>
          </a:ln>
        </p:spPr>
        <p:txBody>
          <a:bodyPr/>
          <a:lstStyle/>
          <a:p>
            <a:endParaRPr lang="en-TH"/>
          </a:p>
        </p:txBody>
      </p:sp>
      <p:sp>
        <p:nvSpPr>
          <p:cNvPr id="158" name="Text 156"/>
          <p:cNvSpPr txBox="1"/>
          <p:nvPr/>
        </p:nvSpPr>
        <p:spPr>
          <a:xfrm>
            <a:off x="685800" y="5276088"/>
            <a:ext cx="1371600" cy="566928"/>
          </a:xfrm>
          <a:prstGeom prst="rect">
            <a:avLst/>
          </a:prstGeom>
          <a:noFill/>
          <a:ln/>
        </p:spPr>
        <p:txBody>
          <a:bodyPr wrap="square" lIns="0" tIns="0" rIns="0" bIns="0" rtlCol="0" anchor="ctr"/>
          <a:lstStyle/>
          <a:p>
            <a:pPr marL="0" indent="0">
              <a:buNone/>
            </a:pPr>
            <a:r>
              <a:rPr lang="en-US" sz="1250" b="1" dirty="0">
                <a:solidFill>
                  <a:srgbClr val="13233F"/>
                </a:solidFill>
                <a:latin typeface="Tahoma" pitchFamily="34" charset="0"/>
                <a:ea typeface="Tahoma" pitchFamily="34" charset="-122"/>
                <a:cs typeface="Tahoma" pitchFamily="34" charset="-120"/>
              </a:rPr>
              <a:t>Python (Nornir)</a:t>
            </a:r>
            <a:endParaRPr lang="en-US" sz="1250" dirty="0"/>
          </a:p>
        </p:txBody>
      </p:sp>
      <p:sp>
        <p:nvSpPr>
          <p:cNvPr id="159" name="Shape 157"/>
          <p:cNvSpPr/>
          <p:nvPr/>
        </p:nvSpPr>
        <p:spPr>
          <a:xfrm>
            <a:off x="2281428" y="5490972"/>
            <a:ext cx="137160" cy="137160"/>
          </a:xfrm>
          <a:prstGeom prst="ellipse">
            <a:avLst/>
          </a:prstGeom>
          <a:solidFill>
            <a:srgbClr val="4A6A8F"/>
          </a:solidFill>
          <a:ln w="12700">
            <a:solidFill>
              <a:srgbClr val="4A6A8F"/>
            </a:solidFill>
            <a:prstDash val="solid"/>
          </a:ln>
        </p:spPr>
        <p:txBody>
          <a:bodyPr/>
          <a:lstStyle/>
          <a:p>
            <a:endParaRPr lang="en-TH"/>
          </a:p>
        </p:txBody>
      </p:sp>
      <p:sp>
        <p:nvSpPr>
          <p:cNvPr id="160" name="Shape 158"/>
          <p:cNvSpPr/>
          <p:nvPr/>
        </p:nvSpPr>
        <p:spPr>
          <a:xfrm>
            <a:off x="2468880" y="5490972"/>
            <a:ext cx="137160" cy="137160"/>
          </a:xfrm>
          <a:prstGeom prst="ellipse">
            <a:avLst/>
          </a:prstGeom>
          <a:solidFill>
            <a:srgbClr val="4A6A8F"/>
          </a:solidFill>
          <a:ln w="12700">
            <a:solidFill>
              <a:srgbClr val="4A6A8F"/>
            </a:solidFill>
            <a:prstDash val="solid"/>
          </a:ln>
        </p:spPr>
        <p:txBody>
          <a:bodyPr/>
          <a:lstStyle/>
          <a:p>
            <a:endParaRPr lang="en-TH"/>
          </a:p>
        </p:txBody>
      </p:sp>
      <p:sp>
        <p:nvSpPr>
          <p:cNvPr id="161" name="Shape 159"/>
          <p:cNvSpPr/>
          <p:nvPr/>
        </p:nvSpPr>
        <p:spPr>
          <a:xfrm>
            <a:off x="2656332" y="5490972"/>
            <a:ext cx="137160" cy="137160"/>
          </a:xfrm>
          <a:prstGeom prst="ellipse">
            <a:avLst/>
          </a:prstGeom>
          <a:solidFill>
            <a:srgbClr val="4A6A8F"/>
          </a:solidFill>
          <a:ln w="12700">
            <a:solidFill>
              <a:srgbClr val="4A6A8F"/>
            </a:solidFill>
            <a:prstDash val="solid"/>
          </a:ln>
        </p:spPr>
        <p:txBody>
          <a:bodyPr/>
          <a:lstStyle/>
          <a:p>
            <a:endParaRPr lang="en-TH"/>
          </a:p>
        </p:txBody>
      </p:sp>
      <p:sp>
        <p:nvSpPr>
          <p:cNvPr id="162" name="Shape 160"/>
          <p:cNvSpPr/>
          <p:nvPr/>
        </p:nvSpPr>
        <p:spPr>
          <a:xfrm>
            <a:off x="2843784"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63" name="Shape 161"/>
          <p:cNvSpPr/>
          <p:nvPr/>
        </p:nvSpPr>
        <p:spPr>
          <a:xfrm>
            <a:off x="3031236"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64" name="Shape 162"/>
          <p:cNvSpPr/>
          <p:nvPr/>
        </p:nvSpPr>
        <p:spPr>
          <a:xfrm>
            <a:off x="3525012" y="5490972"/>
            <a:ext cx="137160" cy="137160"/>
          </a:xfrm>
          <a:prstGeom prst="ellipse">
            <a:avLst/>
          </a:prstGeom>
          <a:solidFill>
            <a:srgbClr val="4A6A8F"/>
          </a:solidFill>
          <a:ln w="12700">
            <a:solidFill>
              <a:srgbClr val="4A6A8F"/>
            </a:solidFill>
            <a:prstDash val="solid"/>
          </a:ln>
        </p:spPr>
        <p:txBody>
          <a:bodyPr/>
          <a:lstStyle/>
          <a:p>
            <a:endParaRPr lang="en-TH"/>
          </a:p>
        </p:txBody>
      </p:sp>
      <p:sp>
        <p:nvSpPr>
          <p:cNvPr id="165" name="Shape 163"/>
          <p:cNvSpPr/>
          <p:nvPr/>
        </p:nvSpPr>
        <p:spPr>
          <a:xfrm>
            <a:off x="3712464" y="5490972"/>
            <a:ext cx="137160" cy="137160"/>
          </a:xfrm>
          <a:prstGeom prst="ellipse">
            <a:avLst/>
          </a:prstGeom>
          <a:solidFill>
            <a:srgbClr val="4A6A8F"/>
          </a:solidFill>
          <a:ln w="12700">
            <a:solidFill>
              <a:srgbClr val="4A6A8F"/>
            </a:solidFill>
            <a:prstDash val="solid"/>
          </a:ln>
        </p:spPr>
        <p:txBody>
          <a:bodyPr/>
          <a:lstStyle/>
          <a:p>
            <a:endParaRPr lang="en-TH"/>
          </a:p>
        </p:txBody>
      </p:sp>
      <p:sp>
        <p:nvSpPr>
          <p:cNvPr id="166" name="Shape 164"/>
          <p:cNvSpPr/>
          <p:nvPr/>
        </p:nvSpPr>
        <p:spPr>
          <a:xfrm>
            <a:off x="3899916" y="5490972"/>
            <a:ext cx="137160" cy="137160"/>
          </a:xfrm>
          <a:prstGeom prst="ellipse">
            <a:avLst/>
          </a:prstGeom>
          <a:solidFill>
            <a:srgbClr val="4A6A8F"/>
          </a:solidFill>
          <a:ln w="12700">
            <a:solidFill>
              <a:srgbClr val="4A6A8F"/>
            </a:solidFill>
            <a:prstDash val="solid"/>
          </a:ln>
        </p:spPr>
        <p:txBody>
          <a:bodyPr/>
          <a:lstStyle/>
          <a:p>
            <a:endParaRPr lang="en-TH"/>
          </a:p>
        </p:txBody>
      </p:sp>
      <p:sp>
        <p:nvSpPr>
          <p:cNvPr id="167" name="Shape 165"/>
          <p:cNvSpPr/>
          <p:nvPr/>
        </p:nvSpPr>
        <p:spPr>
          <a:xfrm>
            <a:off x="4087368"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68" name="Shape 166"/>
          <p:cNvSpPr/>
          <p:nvPr/>
        </p:nvSpPr>
        <p:spPr>
          <a:xfrm>
            <a:off x="4274820"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69" name="Shape 167"/>
          <p:cNvSpPr/>
          <p:nvPr/>
        </p:nvSpPr>
        <p:spPr>
          <a:xfrm>
            <a:off x="4768596" y="5490972"/>
            <a:ext cx="137160" cy="137160"/>
          </a:xfrm>
          <a:prstGeom prst="ellipse">
            <a:avLst/>
          </a:prstGeom>
          <a:solidFill>
            <a:srgbClr val="8FA6C1"/>
          </a:solidFill>
          <a:ln w="12700">
            <a:solidFill>
              <a:srgbClr val="8FA6C1"/>
            </a:solidFill>
            <a:prstDash val="solid"/>
          </a:ln>
        </p:spPr>
        <p:txBody>
          <a:bodyPr/>
          <a:lstStyle/>
          <a:p>
            <a:endParaRPr lang="en-TH"/>
          </a:p>
        </p:txBody>
      </p:sp>
      <p:sp>
        <p:nvSpPr>
          <p:cNvPr id="170" name="Shape 168"/>
          <p:cNvSpPr/>
          <p:nvPr/>
        </p:nvSpPr>
        <p:spPr>
          <a:xfrm>
            <a:off x="4956048" y="5490972"/>
            <a:ext cx="137160" cy="137160"/>
          </a:xfrm>
          <a:prstGeom prst="ellipse">
            <a:avLst/>
          </a:prstGeom>
          <a:solidFill>
            <a:srgbClr val="8FA6C1"/>
          </a:solidFill>
          <a:ln w="12700">
            <a:solidFill>
              <a:srgbClr val="8FA6C1"/>
            </a:solidFill>
            <a:prstDash val="solid"/>
          </a:ln>
        </p:spPr>
        <p:txBody>
          <a:bodyPr/>
          <a:lstStyle/>
          <a:p>
            <a:endParaRPr lang="en-TH"/>
          </a:p>
        </p:txBody>
      </p:sp>
      <p:sp>
        <p:nvSpPr>
          <p:cNvPr id="171" name="Shape 169"/>
          <p:cNvSpPr/>
          <p:nvPr/>
        </p:nvSpPr>
        <p:spPr>
          <a:xfrm>
            <a:off x="5143500"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72" name="Shape 170"/>
          <p:cNvSpPr/>
          <p:nvPr/>
        </p:nvSpPr>
        <p:spPr>
          <a:xfrm>
            <a:off x="5330952"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73" name="Shape 171"/>
          <p:cNvSpPr/>
          <p:nvPr/>
        </p:nvSpPr>
        <p:spPr>
          <a:xfrm>
            <a:off x="5518404"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74" name="Shape 172"/>
          <p:cNvSpPr/>
          <p:nvPr/>
        </p:nvSpPr>
        <p:spPr>
          <a:xfrm>
            <a:off x="6012180"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75" name="Shape 173"/>
          <p:cNvSpPr/>
          <p:nvPr/>
        </p:nvSpPr>
        <p:spPr>
          <a:xfrm>
            <a:off x="6199632"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76" name="Shape 174"/>
          <p:cNvSpPr/>
          <p:nvPr/>
        </p:nvSpPr>
        <p:spPr>
          <a:xfrm>
            <a:off x="6387084"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77" name="Shape 175"/>
          <p:cNvSpPr/>
          <p:nvPr/>
        </p:nvSpPr>
        <p:spPr>
          <a:xfrm>
            <a:off x="6574536"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78" name="Shape 176"/>
          <p:cNvSpPr/>
          <p:nvPr/>
        </p:nvSpPr>
        <p:spPr>
          <a:xfrm>
            <a:off x="6761988" y="5490972"/>
            <a:ext cx="137160" cy="137160"/>
          </a:xfrm>
          <a:prstGeom prst="ellipse">
            <a:avLst/>
          </a:prstGeom>
          <a:solidFill>
            <a:srgbClr val="FFFFFF"/>
          </a:solidFill>
          <a:ln w="12700">
            <a:solidFill>
              <a:srgbClr val="8FA6C1"/>
            </a:solidFill>
            <a:prstDash val="solid"/>
          </a:ln>
        </p:spPr>
        <p:txBody>
          <a:bodyPr/>
          <a:lstStyle/>
          <a:p>
            <a:endParaRPr lang="en-TH"/>
          </a:p>
        </p:txBody>
      </p:sp>
      <p:sp>
        <p:nvSpPr>
          <p:cNvPr id="179" name="Shape 177"/>
          <p:cNvSpPr/>
          <p:nvPr/>
        </p:nvSpPr>
        <p:spPr>
          <a:xfrm>
            <a:off x="7255764"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80" name="Shape 178"/>
          <p:cNvSpPr/>
          <p:nvPr/>
        </p:nvSpPr>
        <p:spPr>
          <a:xfrm>
            <a:off x="7443216"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81" name="Shape 179"/>
          <p:cNvSpPr/>
          <p:nvPr/>
        </p:nvSpPr>
        <p:spPr>
          <a:xfrm>
            <a:off x="7630668"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82" name="Shape 180"/>
          <p:cNvSpPr/>
          <p:nvPr/>
        </p:nvSpPr>
        <p:spPr>
          <a:xfrm>
            <a:off x="7818120"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83" name="Shape 181"/>
          <p:cNvSpPr/>
          <p:nvPr/>
        </p:nvSpPr>
        <p:spPr>
          <a:xfrm>
            <a:off x="8005572" y="5490972"/>
            <a:ext cx="137160" cy="137160"/>
          </a:xfrm>
          <a:prstGeom prst="ellipse">
            <a:avLst/>
          </a:prstGeom>
          <a:solidFill>
            <a:srgbClr val="13233F"/>
          </a:solidFill>
          <a:ln w="12700">
            <a:solidFill>
              <a:srgbClr val="13233F"/>
            </a:solidFill>
            <a:prstDash val="solid"/>
          </a:ln>
        </p:spPr>
        <p:txBody>
          <a:bodyPr/>
          <a:lstStyle/>
          <a:p>
            <a:endParaRPr lang="en-TH"/>
          </a:p>
        </p:txBody>
      </p:sp>
      <p:sp>
        <p:nvSpPr>
          <p:cNvPr id="184" name="Text 182"/>
          <p:cNvSpPr txBox="1"/>
          <p:nvPr/>
        </p:nvSpPr>
        <p:spPr>
          <a:xfrm>
            <a:off x="548640" y="5934456"/>
            <a:ext cx="6400800" cy="237744"/>
          </a:xfrm>
          <a:prstGeom prst="rect">
            <a:avLst/>
          </a:prstGeom>
          <a:noFill/>
          <a:ln/>
        </p:spPr>
        <p:txBody>
          <a:bodyPr wrap="square" lIns="0" tIns="0" rIns="0" bIns="0" rtlCol="0" anchor="t"/>
          <a:lstStyle/>
          <a:p>
            <a:pPr marL="0" indent="0">
              <a:buNone/>
            </a:pPr>
            <a:r>
              <a:rPr lang="en-US" sz="1000" dirty="0">
                <a:solidFill>
                  <a:srgbClr val="5F6B7A"/>
                </a:solidFill>
                <a:latin typeface="Tahoma" pitchFamily="34" charset="0"/>
                <a:ea typeface="Tahoma" pitchFamily="34" charset="-122"/>
                <a:cs typeface="Tahoma" pitchFamily="34" charset="-120"/>
              </a:rPr>
              <a:t>จุด 1 จุด = 1 คะแนน  ·  สีเข้ม = จุดแข็งของเครื่องมือนั้น</a:t>
            </a:r>
            <a:endParaRPr lang="en-US" sz="1000" dirty="0"/>
          </a:p>
        </p:txBody>
      </p:sp>
      <p:sp>
        <p:nvSpPr>
          <p:cNvPr id="185" name="Text 183"/>
          <p:cNvSpPr txBox="1"/>
          <p:nvPr/>
        </p:nvSpPr>
        <p:spPr>
          <a:xfrm>
            <a:off x="8641080" y="1755648"/>
            <a:ext cx="300197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เหตุผลประกอบ</a:t>
            </a:r>
            <a:endParaRPr lang="en-US" sz="1400" dirty="0"/>
          </a:p>
        </p:txBody>
      </p:sp>
      <p:sp>
        <p:nvSpPr>
          <p:cNvPr id="186" name="Text 184"/>
          <p:cNvSpPr txBox="1"/>
          <p:nvPr/>
        </p:nvSpPr>
        <p:spPr>
          <a:xfrm>
            <a:off x="8641080" y="2103120"/>
            <a:ext cx="3001975" cy="2651760"/>
          </a:xfrm>
          <a:prstGeom prst="rect">
            <a:avLst/>
          </a:prstGeom>
          <a:noFill/>
          <a:ln/>
        </p:spPr>
        <p:txBody>
          <a:bodyPr wrap="square" lIns="0" tIns="0" rIns="0" bIns="0" rtlCol="0" anchor="t"/>
          <a:lstStyle/>
          <a:p>
            <a:pPr marL="0" indent="0">
              <a:spcAft>
                <a:spcPts val="500"/>
              </a:spcAft>
              <a:buNone/>
            </a:pPr>
            <a:r>
              <a:rPr lang="en-US" sz="1100" b="1" dirty="0">
                <a:solidFill>
                  <a:srgbClr val="13233F"/>
                </a:solidFill>
                <a:latin typeface="Tahoma" pitchFamily="34" charset="0"/>
                <a:ea typeface="Tahoma" pitchFamily="34" charset="-122"/>
                <a:cs typeface="Tahoma" pitchFamily="34" charset="-120"/>
              </a:rPr>
              <a:t>Scalability: </a:t>
            </a:r>
            <a:r>
              <a:rPr lang="en-US" sz="1100" dirty="0">
                <a:solidFill>
                  <a:srgbClr val="1E2733"/>
                </a:solidFill>
                <a:latin typeface="Tahoma" pitchFamily="34" charset="0"/>
                <a:ea typeface="Tahoma" pitchFamily="34" charset="-122"/>
                <a:cs typeface="Tahoma" pitchFamily="34" charset="-120"/>
              </a:rPr>
              <a:t>Puppet/Chef/Salt ออกแบบเพื่อ node หลายหมื่นตัว EEM จำกัดที่ละเครื่อง</a:t>
            </a:r>
            <a:endParaRPr lang="en-US" sz="1100" dirty="0"/>
          </a:p>
          <a:p>
            <a:pPr marL="0" indent="0">
              <a:spcAft>
                <a:spcPts val="500"/>
              </a:spcAft>
              <a:buNone/>
            </a:pPr>
            <a:r>
              <a:rPr lang="en-US" sz="1100" b="1" dirty="0">
                <a:solidFill>
                  <a:srgbClr val="13233F"/>
                </a:solidFill>
                <a:latin typeface="Tahoma" pitchFamily="34" charset="0"/>
                <a:ea typeface="Tahoma" pitchFamily="34" charset="-122"/>
                <a:cs typeface="Tahoma" pitchFamily="34" charset="-120"/>
              </a:rPr>
              <a:t>Security: </a:t>
            </a:r>
            <a:r>
              <a:rPr lang="en-US" sz="1100" dirty="0">
                <a:solidFill>
                  <a:srgbClr val="1E2733"/>
                </a:solidFill>
                <a:latin typeface="Tahoma" pitchFamily="34" charset="0"/>
                <a:ea typeface="Tahoma" pitchFamily="34" charset="-122"/>
                <a:cs typeface="Tahoma" pitchFamily="34" charset="-120"/>
              </a:rPr>
              <a:t>agentless ไม่เปิด port เพิ่ม; Salt master เคยมีช่องโหว่ร้ายแรง (CVE-2020-11651)</a:t>
            </a:r>
            <a:endParaRPr lang="en-US" sz="1100" dirty="0"/>
          </a:p>
          <a:p>
            <a:pPr marL="0" indent="0">
              <a:spcAft>
                <a:spcPts val="500"/>
              </a:spcAft>
              <a:buNone/>
            </a:pPr>
            <a:r>
              <a:rPr lang="en-US" sz="1100" b="1" dirty="0">
                <a:solidFill>
                  <a:srgbClr val="13233F"/>
                </a:solidFill>
                <a:latin typeface="Tahoma" pitchFamily="34" charset="0"/>
                <a:ea typeface="Tahoma" pitchFamily="34" charset="-122"/>
                <a:cs typeface="Tahoma" pitchFamily="34" charset="-120"/>
              </a:rPr>
              <a:t>ความง่าย: </a:t>
            </a:r>
            <a:r>
              <a:rPr lang="en-US" sz="1100" dirty="0">
                <a:solidFill>
                  <a:srgbClr val="1E2733"/>
                </a:solidFill>
                <a:latin typeface="Tahoma" pitchFamily="34" charset="0"/>
                <a:ea typeface="Tahoma" pitchFamily="34" charset="-122"/>
                <a:cs typeface="Tahoma" pitchFamily="34" charset="-120"/>
              </a:rPr>
              <a:t>YAML อ่านง่ายกว่า DSL, Ruby หรือ Python</a:t>
            </a:r>
            <a:endParaRPr lang="en-US" sz="1100" dirty="0"/>
          </a:p>
          <a:p>
            <a:pPr marL="0" indent="0">
              <a:spcAft>
                <a:spcPts val="500"/>
              </a:spcAft>
              <a:buNone/>
            </a:pPr>
            <a:r>
              <a:rPr lang="en-US" sz="1100" b="1" dirty="0">
                <a:solidFill>
                  <a:srgbClr val="13233F"/>
                </a:solidFill>
                <a:latin typeface="Tahoma" pitchFamily="34" charset="0"/>
                <a:ea typeface="Tahoma" pitchFamily="34" charset="-122"/>
                <a:cs typeface="Tahoma" pitchFamily="34" charset="-120"/>
              </a:rPr>
              <a:t>Vendor: </a:t>
            </a:r>
            <a:r>
              <a:rPr lang="en-US" sz="1100" dirty="0">
                <a:solidFill>
                  <a:srgbClr val="1E2733"/>
                </a:solidFill>
                <a:latin typeface="Tahoma" pitchFamily="34" charset="0"/>
                <a:ea typeface="Tahoma" pitchFamily="34" charset="-122"/>
                <a:cs typeface="Tahoma" pitchFamily="34" charset="-120"/>
              </a:rPr>
              <a:t>Ansible มี collection ของ Cisco, Juniper, Arista ฯลฯ; EEM ใช้ได้เฉพาะ Cisco</a:t>
            </a:r>
            <a:endParaRPr lang="en-US" sz="1100" dirty="0"/>
          </a:p>
          <a:p>
            <a:pPr marL="0" indent="0">
              <a:spcAft>
                <a:spcPts val="500"/>
              </a:spcAft>
              <a:buNone/>
            </a:pPr>
            <a:r>
              <a:rPr lang="en-US" sz="1100" b="1" dirty="0">
                <a:solidFill>
                  <a:srgbClr val="13233F"/>
                </a:solidFill>
                <a:latin typeface="Tahoma" pitchFamily="34" charset="0"/>
                <a:ea typeface="Tahoma" pitchFamily="34" charset="-122"/>
                <a:cs typeface="Tahoma" pitchFamily="34" charset="-120"/>
              </a:rPr>
              <a:t>ต้นทุน: </a:t>
            </a:r>
            <a:r>
              <a:rPr lang="en-US" sz="1100" dirty="0">
                <a:solidFill>
                  <a:srgbClr val="1E2733"/>
                </a:solidFill>
                <a:latin typeface="Tahoma" pitchFamily="34" charset="0"/>
                <a:ea typeface="Tahoma" pitchFamily="34" charset="-122"/>
                <a:cs typeface="Tahoma" pitchFamily="34" charset="-120"/>
              </a:rPr>
              <a:t>EEM มากับ IOS; Puppet Core / Chef มี license เชิงพาณิชย์</a:t>
            </a:r>
            <a:endParaRPr lang="en-US" sz="1100" dirty="0"/>
          </a:p>
        </p:txBody>
      </p:sp>
      <p:sp>
        <p:nvSpPr>
          <p:cNvPr id="187" name="Shape 185"/>
          <p:cNvSpPr/>
          <p:nvPr/>
        </p:nvSpPr>
        <p:spPr>
          <a:xfrm>
            <a:off x="8641080" y="4617720"/>
            <a:ext cx="3001975" cy="1600200"/>
          </a:xfrm>
          <a:prstGeom prst="roundRect">
            <a:avLst>
              <a:gd name="adj" fmla="val 4571"/>
            </a:avLst>
          </a:prstGeom>
          <a:solidFill>
            <a:srgbClr val="13233F"/>
          </a:solidFill>
          <a:ln w="12700">
            <a:solidFill>
              <a:srgbClr val="13233F"/>
            </a:solidFill>
            <a:prstDash val="solid"/>
          </a:ln>
        </p:spPr>
        <p:txBody>
          <a:bodyPr/>
          <a:lstStyle/>
          <a:p>
            <a:endParaRPr lang="en-TH"/>
          </a:p>
        </p:txBody>
      </p:sp>
      <p:sp>
        <p:nvSpPr>
          <p:cNvPr id="188" name="Text 186"/>
          <p:cNvSpPr txBox="1"/>
          <p:nvPr/>
        </p:nvSpPr>
        <p:spPr>
          <a:xfrm>
            <a:off x="8823960" y="4690872"/>
            <a:ext cx="2636215" cy="274320"/>
          </a:xfrm>
          <a:prstGeom prst="rect">
            <a:avLst/>
          </a:prstGeom>
          <a:noFill/>
          <a:ln/>
        </p:spPr>
        <p:txBody>
          <a:bodyPr wrap="square" lIns="0" tIns="0" rIns="0" bIns="0" rtlCol="0" anchor="t"/>
          <a:lstStyle/>
          <a:p>
            <a:pPr marL="0" indent="0">
              <a:buNone/>
            </a:pPr>
            <a:r>
              <a:rPr lang="en-US" sz="1250" b="1" dirty="0">
                <a:solidFill>
                  <a:srgbClr val="D9BE82"/>
                </a:solidFill>
                <a:latin typeface="Tahoma" pitchFamily="34" charset="0"/>
                <a:ea typeface="Tahoma" pitchFamily="34" charset="-122"/>
                <a:cs typeface="Tahoma" pitchFamily="34" charset="-120"/>
              </a:rPr>
              <a:t>เลือกใช้เมื่อไร</a:t>
            </a:r>
            <a:endParaRPr lang="en-US" sz="1250" dirty="0"/>
          </a:p>
        </p:txBody>
      </p:sp>
      <p:sp>
        <p:nvSpPr>
          <p:cNvPr id="189" name="Text 187"/>
          <p:cNvSpPr txBox="1"/>
          <p:nvPr/>
        </p:nvSpPr>
        <p:spPr>
          <a:xfrm>
            <a:off x="8823960" y="4983480"/>
            <a:ext cx="2681935" cy="1188720"/>
          </a:xfrm>
          <a:prstGeom prst="rect">
            <a:avLst/>
          </a:prstGeom>
          <a:noFill/>
          <a:ln/>
        </p:spPr>
        <p:txBody>
          <a:bodyPr wrap="square" lIns="0" tIns="0" rIns="0" bIns="0" rtlCol="0" anchor="t"/>
          <a:lstStyle/>
          <a:p>
            <a:pPr marL="0" indent="0">
              <a:spcAft>
                <a:spcPts val="300"/>
              </a:spcAft>
              <a:buNone/>
            </a:pPr>
            <a:r>
              <a:rPr lang="en-US" sz="1100" b="1" dirty="0">
                <a:solidFill>
                  <a:srgbClr val="FFFFFF"/>
                </a:solidFill>
                <a:latin typeface="Tahoma" pitchFamily="34" charset="0"/>
                <a:ea typeface="Tahoma" pitchFamily="34" charset="-122"/>
                <a:cs typeface="Tahoma" pitchFamily="34" charset="-120"/>
              </a:rPr>
              <a:t>EEM </a:t>
            </a:r>
            <a:r>
              <a:rPr lang="en-US" sz="1100" dirty="0">
                <a:solidFill>
                  <a:srgbClr val="C9D3E0"/>
                </a:solidFill>
                <a:latin typeface="Tahoma" pitchFamily="34" charset="0"/>
                <a:ea typeface="Tahoma" pitchFamily="34" charset="-122"/>
                <a:cs typeface="Tahoma" pitchFamily="34" charset="-120"/>
              </a:rPr>
              <a:t>แก้ไข / เก็บหลักฐานทันทีบนเครื่อง</a:t>
            </a:r>
            <a:endParaRPr lang="en-US" sz="1100" dirty="0"/>
          </a:p>
          <a:p>
            <a:pPr marL="0" indent="0">
              <a:spcAft>
                <a:spcPts val="300"/>
              </a:spcAft>
              <a:buNone/>
            </a:pPr>
            <a:r>
              <a:rPr lang="en-US" sz="1100" b="1" dirty="0">
                <a:solidFill>
                  <a:srgbClr val="FFFFFF"/>
                </a:solidFill>
                <a:latin typeface="Tahoma" pitchFamily="34" charset="0"/>
                <a:ea typeface="Tahoma" pitchFamily="34" charset="-122"/>
                <a:cs typeface="Tahoma" pitchFamily="34" charset="-120"/>
              </a:rPr>
              <a:t>Ansible </a:t>
            </a:r>
            <a:r>
              <a:rPr lang="en-US" sz="1100" dirty="0">
                <a:solidFill>
                  <a:srgbClr val="C9D3E0"/>
                </a:solidFill>
                <a:latin typeface="Tahoma" pitchFamily="34" charset="0"/>
                <a:ea typeface="Tahoma" pitchFamily="34" charset="-122"/>
                <a:cs typeface="Tahoma" pitchFamily="34" charset="-120"/>
              </a:rPr>
              <a:t>desired state ทั้งเครือข่าย</a:t>
            </a:r>
            <a:endParaRPr lang="en-US" sz="1100" dirty="0"/>
          </a:p>
          <a:p>
            <a:pPr marL="0" indent="0">
              <a:spcAft>
                <a:spcPts val="300"/>
              </a:spcAft>
              <a:buNone/>
            </a:pPr>
            <a:r>
              <a:rPr lang="en-US" sz="1100" b="1" dirty="0">
                <a:solidFill>
                  <a:srgbClr val="FFFFFF"/>
                </a:solidFill>
                <a:latin typeface="Tahoma" pitchFamily="34" charset="0"/>
                <a:ea typeface="Tahoma" pitchFamily="34" charset="-122"/>
                <a:cs typeface="Tahoma" pitchFamily="34" charset="-120"/>
              </a:rPr>
              <a:t>Puppet / Chef / Salt </a:t>
            </a:r>
            <a:r>
              <a:rPr lang="en-US" sz="1100" dirty="0">
                <a:solidFill>
                  <a:srgbClr val="C9D3E0"/>
                </a:solidFill>
                <a:latin typeface="Tahoma" pitchFamily="34" charset="0"/>
                <a:ea typeface="Tahoma" pitchFamily="34" charset="-122"/>
                <a:cs typeface="Tahoma" pitchFamily="34" charset="-120"/>
              </a:rPr>
              <a:t>fleet ของ server</a:t>
            </a:r>
            <a:endParaRPr lang="en-US" sz="1100" dirty="0"/>
          </a:p>
          <a:p>
            <a:pPr marL="0" indent="0">
              <a:spcAft>
                <a:spcPts val="300"/>
              </a:spcAft>
              <a:buNone/>
            </a:pPr>
            <a:r>
              <a:rPr lang="en-US" sz="1100" b="1" dirty="0">
                <a:solidFill>
                  <a:srgbClr val="FFFFFF"/>
                </a:solidFill>
                <a:latin typeface="Tahoma" pitchFamily="34" charset="0"/>
                <a:ea typeface="Tahoma" pitchFamily="34" charset="-122"/>
                <a:cs typeface="Tahoma" pitchFamily="34" charset="-120"/>
              </a:rPr>
              <a:t>Python (Nornir) </a:t>
            </a:r>
            <a:r>
              <a:rPr lang="en-US" sz="1100" dirty="0">
                <a:solidFill>
                  <a:srgbClr val="C9D3E0"/>
                </a:solidFill>
                <a:latin typeface="Tahoma" pitchFamily="34" charset="0"/>
                <a:ea typeface="Tahoma" pitchFamily="34" charset="-122"/>
                <a:cs typeface="Tahoma" pitchFamily="34" charset="-120"/>
              </a:rPr>
              <a:t>logic เฉพาะทางที่ซับซ้อน</a:t>
            </a:r>
            <a:endParaRPr lang="en-US" sz="1100" dirty="0"/>
          </a:p>
        </p:txBody>
      </p:sp>
      <p:sp>
        <p:nvSpPr>
          <p:cNvPr id="190" name="Text 188"/>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191" name="Text 189"/>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5  ·  ทิศทางในอนาคต</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Next-Gen Evolution (3–5 ปีข้างหน้า)</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จาก “สั่งงานตามคำสั่ง” ไปสู่ “ระบบที่สังเกต ตัดสินใจ ลงมือ และตรวจสอบเองแบบวงปิด”</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2194560" y="3108960"/>
            <a:ext cx="1737360" cy="1737360"/>
          </a:xfrm>
          <a:prstGeom prst="ellipse">
            <a:avLst/>
          </a:prstGeom>
          <a:solidFill>
            <a:srgbClr val="E8EDF4"/>
          </a:solidFill>
          <a:ln w="12700">
            <a:solidFill>
              <a:srgbClr val="E8EDF4"/>
            </a:solidFill>
            <a:prstDash val="solid"/>
          </a:ln>
        </p:spPr>
        <p:txBody>
          <a:bodyPr/>
          <a:lstStyle/>
          <a:p>
            <a:endParaRPr lang="en-TH"/>
          </a:p>
        </p:txBody>
      </p:sp>
      <p:sp>
        <p:nvSpPr>
          <p:cNvPr id="16" name="Text 14"/>
          <p:cNvSpPr txBox="1"/>
          <p:nvPr/>
        </p:nvSpPr>
        <p:spPr>
          <a:xfrm>
            <a:off x="2194560" y="3108960"/>
            <a:ext cx="1737360" cy="1737360"/>
          </a:xfrm>
          <a:prstGeom prst="rect">
            <a:avLst/>
          </a:prstGeom>
          <a:noFill/>
          <a:ln/>
        </p:spPr>
        <p:txBody>
          <a:bodyPr wrap="square" lIns="0" tIns="0" rIns="0" bIns="0" rtlCol="0" anchor="ctr"/>
          <a:lstStyle/>
          <a:p>
            <a:pPr marL="0" indent="0" algn="ctr">
              <a:buNone/>
            </a:pPr>
            <a:r>
              <a:rPr lang="en-US" sz="1300" b="1" dirty="0">
                <a:solidFill>
                  <a:srgbClr val="13233F"/>
                </a:solidFill>
                <a:latin typeface="Tahoma" pitchFamily="34" charset="0"/>
                <a:ea typeface="Tahoma" pitchFamily="34" charset="-122"/>
                <a:cs typeface="Tahoma" pitchFamily="34" charset="-120"/>
              </a:rPr>
              <a:t>Closed-loop</a:t>
            </a:r>
            <a:endParaRPr lang="en-US" sz="1300" dirty="0"/>
          </a:p>
          <a:p>
            <a:pPr marL="0" indent="0" algn="ctr">
              <a:buNone/>
            </a:pPr>
            <a:r>
              <a:rPr lang="en-US" sz="1300" b="1" dirty="0">
                <a:solidFill>
                  <a:srgbClr val="13233F"/>
                </a:solidFill>
                <a:latin typeface="Tahoma" pitchFamily="34" charset="0"/>
                <a:ea typeface="Tahoma" pitchFamily="34" charset="-122"/>
                <a:cs typeface="Tahoma" pitchFamily="34" charset="-120"/>
              </a:rPr>
              <a:t>Automation</a:t>
            </a:r>
            <a:endParaRPr lang="en-US" sz="1300" dirty="0"/>
          </a:p>
        </p:txBody>
      </p:sp>
      <p:sp>
        <p:nvSpPr>
          <p:cNvPr id="17" name="Shape 15"/>
          <p:cNvSpPr/>
          <p:nvPr/>
        </p:nvSpPr>
        <p:spPr>
          <a:xfrm>
            <a:off x="2103120" y="1984248"/>
            <a:ext cx="1920240" cy="841248"/>
          </a:xfrm>
          <a:prstGeom prst="roundRect">
            <a:avLst>
              <a:gd name="adj" fmla="val 8696"/>
            </a:avLst>
          </a:prstGeom>
          <a:solidFill>
            <a:srgbClr val="FFFFFF"/>
          </a:solidFill>
          <a:ln w="12700">
            <a:solidFill>
              <a:srgbClr val="4A6A8F"/>
            </a:solidFill>
            <a:prstDash val="solid"/>
          </a:ln>
        </p:spPr>
        <p:txBody>
          <a:bodyPr/>
          <a:lstStyle/>
          <a:p>
            <a:endParaRPr lang="en-TH"/>
          </a:p>
        </p:txBody>
      </p:sp>
      <p:sp>
        <p:nvSpPr>
          <p:cNvPr id="18" name="Text 16"/>
          <p:cNvSpPr txBox="1"/>
          <p:nvPr/>
        </p:nvSpPr>
        <p:spPr>
          <a:xfrm>
            <a:off x="2103120" y="2057400"/>
            <a:ext cx="1920240" cy="347472"/>
          </a:xfrm>
          <a:prstGeom prst="rect">
            <a:avLst/>
          </a:prstGeom>
          <a:noFill/>
          <a:ln/>
        </p:spPr>
        <p:txBody>
          <a:bodyPr wrap="square" lIns="0" tIns="0" rIns="0" bIns="0" rtlCol="0" anchor="t"/>
          <a:lstStyle/>
          <a:p>
            <a:pPr marL="0" indent="0" algn="ctr">
              <a:buNone/>
            </a:pPr>
            <a:r>
              <a:rPr lang="en-US" sz="1500" b="1" dirty="0">
                <a:solidFill>
                  <a:srgbClr val="13233F"/>
                </a:solidFill>
                <a:latin typeface="Tahoma" pitchFamily="34" charset="0"/>
                <a:ea typeface="Tahoma" pitchFamily="34" charset="-122"/>
                <a:cs typeface="Tahoma" pitchFamily="34" charset="-120"/>
              </a:rPr>
              <a:t>Observe</a:t>
            </a:r>
            <a:endParaRPr lang="en-US" sz="1500" dirty="0"/>
          </a:p>
        </p:txBody>
      </p:sp>
      <p:sp>
        <p:nvSpPr>
          <p:cNvPr id="19" name="Text 17"/>
          <p:cNvSpPr txBox="1"/>
          <p:nvPr/>
        </p:nvSpPr>
        <p:spPr>
          <a:xfrm>
            <a:off x="2103120" y="2404872"/>
            <a:ext cx="1920240" cy="310896"/>
          </a:xfrm>
          <a:prstGeom prst="rect">
            <a:avLst/>
          </a:prstGeom>
          <a:noFill/>
          <a:ln/>
        </p:spPr>
        <p:txBody>
          <a:bodyPr wrap="square" lIns="0" tIns="0" rIns="0" bIns="0" rtlCol="0" anchor="t"/>
          <a:lstStyle/>
          <a:p>
            <a:pPr marL="0" indent="0" algn="ctr">
              <a:buNone/>
            </a:pPr>
            <a:r>
              <a:rPr lang="en-US" sz="1050" dirty="0">
                <a:solidFill>
                  <a:srgbClr val="5F6B7A"/>
                </a:solidFill>
                <a:latin typeface="Tahoma" pitchFamily="34" charset="0"/>
                <a:ea typeface="Tahoma" pitchFamily="34" charset="-122"/>
                <a:cs typeface="Tahoma" pitchFamily="34" charset="-120"/>
              </a:rPr>
              <a:t>gNMI telemetry · syslog</a:t>
            </a:r>
            <a:endParaRPr lang="en-US" sz="1050" dirty="0"/>
          </a:p>
        </p:txBody>
      </p:sp>
      <p:sp>
        <p:nvSpPr>
          <p:cNvPr id="20" name="Shape 18"/>
          <p:cNvSpPr/>
          <p:nvPr/>
        </p:nvSpPr>
        <p:spPr>
          <a:xfrm>
            <a:off x="3886200" y="3557016"/>
            <a:ext cx="1920240" cy="841248"/>
          </a:xfrm>
          <a:prstGeom prst="roundRect">
            <a:avLst>
              <a:gd name="adj" fmla="val 8696"/>
            </a:avLst>
          </a:prstGeom>
          <a:solidFill>
            <a:srgbClr val="FFFFFF"/>
          </a:solidFill>
          <a:ln w="12700">
            <a:solidFill>
              <a:srgbClr val="4A6A8F"/>
            </a:solidFill>
            <a:prstDash val="solid"/>
          </a:ln>
        </p:spPr>
        <p:txBody>
          <a:bodyPr/>
          <a:lstStyle/>
          <a:p>
            <a:endParaRPr lang="en-TH"/>
          </a:p>
        </p:txBody>
      </p:sp>
      <p:sp>
        <p:nvSpPr>
          <p:cNvPr id="21" name="Text 19"/>
          <p:cNvSpPr txBox="1"/>
          <p:nvPr/>
        </p:nvSpPr>
        <p:spPr>
          <a:xfrm>
            <a:off x="3886200" y="3630168"/>
            <a:ext cx="1920240" cy="347472"/>
          </a:xfrm>
          <a:prstGeom prst="rect">
            <a:avLst/>
          </a:prstGeom>
          <a:noFill/>
          <a:ln/>
        </p:spPr>
        <p:txBody>
          <a:bodyPr wrap="square" lIns="0" tIns="0" rIns="0" bIns="0" rtlCol="0" anchor="t"/>
          <a:lstStyle/>
          <a:p>
            <a:pPr marL="0" indent="0" algn="ctr">
              <a:buNone/>
            </a:pPr>
            <a:r>
              <a:rPr lang="en-US" sz="1500" b="1" dirty="0">
                <a:solidFill>
                  <a:srgbClr val="13233F"/>
                </a:solidFill>
                <a:latin typeface="Tahoma" pitchFamily="34" charset="0"/>
                <a:ea typeface="Tahoma" pitchFamily="34" charset="-122"/>
                <a:cs typeface="Tahoma" pitchFamily="34" charset="-120"/>
              </a:rPr>
              <a:t>Decide</a:t>
            </a:r>
            <a:endParaRPr lang="en-US" sz="1500" dirty="0"/>
          </a:p>
        </p:txBody>
      </p:sp>
      <p:sp>
        <p:nvSpPr>
          <p:cNvPr id="22" name="Text 20"/>
          <p:cNvSpPr txBox="1"/>
          <p:nvPr/>
        </p:nvSpPr>
        <p:spPr>
          <a:xfrm>
            <a:off x="3886200" y="3977640"/>
            <a:ext cx="1920240" cy="310896"/>
          </a:xfrm>
          <a:prstGeom prst="rect">
            <a:avLst/>
          </a:prstGeom>
          <a:noFill/>
          <a:ln/>
        </p:spPr>
        <p:txBody>
          <a:bodyPr wrap="square" lIns="0" tIns="0" rIns="0" bIns="0" rtlCol="0" anchor="t"/>
          <a:lstStyle/>
          <a:p>
            <a:pPr marL="0" indent="0" algn="ctr">
              <a:buNone/>
            </a:pPr>
            <a:r>
              <a:rPr lang="en-US" sz="1050" dirty="0">
                <a:solidFill>
                  <a:srgbClr val="5F6B7A"/>
                </a:solidFill>
                <a:latin typeface="Tahoma" pitchFamily="34" charset="0"/>
                <a:ea typeface="Tahoma" pitchFamily="34" charset="-122"/>
                <a:cs typeface="Tahoma" pitchFamily="34" charset="-120"/>
              </a:rPr>
              <a:t>rulebook · AI / AIOps</a:t>
            </a:r>
            <a:endParaRPr lang="en-US" sz="1050" dirty="0"/>
          </a:p>
        </p:txBody>
      </p:sp>
      <p:sp>
        <p:nvSpPr>
          <p:cNvPr id="23" name="Shape 21"/>
          <p:cNvSpPr/>
          <p:nvPr/>
        </p:nvSpPr>
        <p:spPr>
          <a:xfrm>
            <a:off x="2103120" y="5129784"/>
            <a:ext cx="1920240" cy="841248"/>
          </a:xfrm>
          <a:prstGeom prst="roundRect">
            <a:avLst>
              <a:gd name="adj" fmla="val 8696"/>
            </a:avLst>
          </a:prstGeom>
          <a:solidFill>
            <a:srgbClr val="13233F"/>
          </a:solidFill>
          <a:ln w="12700">
            <a:solidFill>
              <a:srgbClr val="13233F"/>
            </a:solidFill>
            <a:prstDash val="solid"/>
          </a:ln>
        </p:spPr>
        <p:txBody>
          <a:bodyPr/>
          <a:lstStyle/>
          <a:p>
            <a:endParaRPr lang="en-TH"/>
          </a:p>
        </p:txBody>
      </p:sp>
      <p:sp>
        <p:nvSpPr>
          <p:cNvPr id="24" name="Text 22"/>
          <p:cNvSpPr txBox="1"/>
          <p:nvPr/>
        </p:nvSpPr>
        <p:spPr>
          <a:xfrm>
            <a:off x="2103120" y="5202936"/>
            <a:ext cx="1920240" cy="347472"/>
          </a:xfrm>
          <a:prstGeom prst="rect">
            <a:avLst/>
          </a:prstGeom>
          <a:noFill/>
          <a:ln/>
        </p:spPr>
        <p:txBody>
          <a:bodyPr wrap="square" lIns="0" tIns="0" rIns="0" bIns="0" rtlCol="0" anchor="t"/>
          <a:lstStyle/>
          <a:p>
            <a:pPr marL="0" indent="0" algn="ctr">
              <a:buNone/>
            </a:pPr>
            <a:r>
              <a:rPr lang="en-US" sz="1500" b="1" dirty="0">
                <a:solidFill>
                  <a:srgbClr val="D9BE82"/>
                </a:solidFill>
                <a:latin typeface="Tahoma" pitchFamily="34" charset="0"/>
                <a:ea typeface="Tahoma" pitchFamily="34" charset="-122"/>
                <a:cs typeface="Tahoma" pitchFamily="34" charset="-120"/>
              </a:rPr>
              <a:t>Act</a:t>
            </a:r>
            <a:endParaRPr lang="en-US" sz="1500" dirty="0"/>
          </a:p>
        </p:txBody>
      </p:sp>
      <p:sp>
        <p:nvSpPr>
          <p:cNvPr id="25" name="Text 23"/>
          <p:cNvSpPr txBox="1"/>
          <p:nvPr/>
        </p:nvSpPr>
        <p:spPr>
          <a:xfrm>
            <a:off x="2103120" y="5550408"/>
            <a:ext cx="1920240" cy="310896"/>
          </a:xfrm>
          <a:prstGeom prst="rect">
            <a:avLst/>
          </a:prstGeom>
          <a:noFill/>
          <a:ln/>
        </p:spPr>
        <p:txBody>
          <a:bodyPr wrap="square" lIns="0" tIns="0" rIns="0" bIns="0" rtlCol="0" anchor="t"/>
          <a:lstStyle/>
          <a:p>
            <a:pPr marL="0" indent="0" algn="ctr">
              <a:buNone/>
            </a:pPr>
            <a:r>
              <a:rPr lang="en-US" sz="1050" dirty="0">
                <a:solidFill>
                  <a:srgbClr val="FFFFFF"/>
                </a:solidFill>
                <a:latin typeface="Tahoma" pitchFamily="34" charset="0"/>
                <a:ea typeface="Tahoma" pitchFamily="34" charset="-122"/>
                <a:cs typeface="Tahoma" pitchFamily="34" charset="-120"/>
              </a:rPr>
              <a:t>Ansible · EEM · API</a:t>
            </a:r>
            <a:endParaRPr lang="en-US" sz="1050" dirty="0"/>
          </a:p>
        </p:txBody>
      </p:sp>
      <p:sp>
        <p:nvSpPr>
          <p:cNvPr id="26" name="Shape 24"/>
          <p:cNvSpPr/>
          <p:nvPr/>
        </p:nvSpPr>
        <p:spPr>
          <a:xfrm>
            <a:off x="320040" y="3557016"/>
            <a:ext cx="1920240" cy="841248"/>
          </a:xfrm>
          <a:prstGeom prst="roundRect">
            <a:avLst>
              <a:gd name="adj" fmla="val 8696"/>
            </a:avLst>
          </a:prstGeom>
          <a:solidFill>
            <a:srgbClr val="FFFFFF"/>
          </a:solidFill>
          <a:ln w="12700">
            <a:solidFill>
              <a:srgbClr val="4A6A8F"/>
            </a:solidFill>
            <a:prstDash val="solid"/>
          </a:ln>
        </p:spPr>
        <p:txBody>
          <a:bodyPr/>
          <a:lstStyle/>
          <a:p>
            <a:endParaRPr lang="en-TH"/>
          </a:p>
        </p:txBody>
      </p:sp>
      <p:sp>
        <p:nvSpPr>
          <p:cNvPr id="27" name="Text 25"/>
          <p:cNvSpPr txBox="1"/>
          <p:nvPr/>
        </p:nvSpPr>
        <p:spPr>
          <a:xfrm>
            <a:off x="320040" y="3630168"/>
            <a:ext cx="1920240" cy="347472"/>
          </a:xfrm>
          <a:prstGeom prst="rect">
            <a:avLst/>
          </a:prstGeom>
          <a:noFill/>
          <a:ln/>
        </p:spPr>
        <p:txBody>
          <a:bodyPr wrap="square" lIns="0" tIns="0" rIns="0" bIns="0" rtlCol="0" anchor="t"/>
          <a:lstStyle/>
          <a:p>
            <a:pPr marL="0" indent="0" algn="ctr">
              <a:buNone/>
            </a:pPr>
            <a:r>
              <a:rPr lang="en-US" sz="1500" b="1" dirty="0">
                <a:solidFill>
                  <a:srgbClr val="13233F"/>
                </a:solidFill>
                <a:latin typeface="Tahoma" pitchFamily="34" charset="0"/>
                <a:ea typeface="Tahoma" pitchFamily="34" charset="-122"/>
                <a:cs typeface="Tahoma" pitchFamily="34" charset="-120"/>
              </a:rPr>
              <a:t>Verify</a:t>
            </a:r>
            <a:endParaRPr lang="en-US" sz="1500" dirty="0"/>
          </a:p>
        </p:txBody>
      </p:sp>
      <p:sp>
        <p:nvSpPr>
          <p:cNvPr id="28" name="Text 26"/>
          <p:cNvSpPr txBox="1"/>
          <p:nvPr/>
        </p:nvSpPr>
        <p:spPr>
          <a:xfrm>
            <a:off x="320040" y="3977640"/>
            <a:ext cx="1920240" cy="310896"/>
          </a:xfrm>
          <a:prstGeom prst="rect">
            <a:avLst/>
          </a:prstGeom>
          <a:noFill/>
          <a:ln/>
        </p:spPr>
        <p:txBody>
          <a:bodyPr wrap="square" lIns="0" tIns="0" rIns="0" bIns="0" rtlCol="0" anchor="t"/>
          <a:lstStyle/>
          <a:p>
            <a:pPr marL="0" indent="0" algn="ctr">
              <a:buNone/>
            </a:pPr>
            <a:r>
              <a:rPr lang="en-US" sz="1050" dirty="0">
                <a:solidFill>
                  <a:srgbClr val="5F6B7A"/>
                </a:solidFill>
                <a:latin typeface="Tahoma" pitchFamily="34" charset="0"/>
                <a:ea typeface="Tahoma" pitchFamily="34" charset="-122"/>
                <a:cs typeface="Tahoma" pitchFamily="34" charset="-120"/>
              </a:rPr>
              <a:t>pyATS · Batfish · tests</a:t>
            </a:r>
            <a:endParaRPr lang="en-US" sz="1050" dirty="0"/>
          </a:p>
        </p:txBody>
      </p:sp>
      <p:sp>
        <p:nvSpPr>
          <p:cNvPr id="29" name="Shape 27"/>
          <p:cNvSpPr/>
          <p:nvPr/>
        </p:nvSpPr>
        <p:spPr>
          <a:xfrm>
            <a:off x="4096512" y="2404872"/>
            <a:ext cx="749808" cy="1078992"/>
          </a:xfrm>
          <a:prstGeom prst="line">
            <a:avLst/>
          </a:prstGeom>
          <a:noFill/>
          <a:ln w="25400">
            <a:solidFill>
              <a:srgbClr val="A9812F"/>
            </a:solidFill>
            <a:prstDash val="solid"/>
            <a:tailEnd type="triangle"/>
          </a:ln>
        </p:spPr>
        <p:txBody>
          <a:bodyPr/>
          <a:lstStyle/>
          <a:p>
            <a:endParaRPr lang="en-TH"/>
          </a:p>
        </p:txBody>
      </p:sp>
      <p:sp>
        <p:nvSpPr>
          <p:cNvPr id="30" name="Shape 28"/>
          <p:cNvSpPr/>
          <p:nvPr/>
        </p:nvSpPr>
        <p:spPr>
          <a:xfrm flipH="1">
            <a:off x="4096512" y="4471416"/>
            <a:ext cx="749808" cy="1078992"/>
          </a:xfrm>
          <a:prstGeom prst="line">
            <a:avLst/>
          </a:prstGeom>
          <a:noFill/>
          <a:ln w="25400">
            <a:solidFill>
              <a:srgbClr val="A9812F"/>
            </a:solidFill>
            <a:prstDash val="solid"/>
            <a:tailEnd type="triangle"/>
          </a:ln>
        </p:spPr>
        <p:txBody>
          <a:bodyPr/>
          <a:lstStyle/>
          <a:p>
            <a:endParaRPr lang="en-TH"/>
          </a:p>
        </p:txBody>
      </p:sp>
      <p:sp>
        <p:nvSpPr>
          <p:cNvPr id="31" name="Shape 29"/>
          <p:cNvSpPr/>
          <p:nvPr/>
        </p:nvSpPr>
        <p:spPr>
          <a:xfrm flipH="1" flipV="1">
            <a:off x="1280160" y="4471416"/>
            <a:ext cx="749808" cy="1078992"/>
          </a:xfrm>
          <a:prstGeom prst="line">
            <a:avLst/>
          </a:prstGeom>
          <a:noFill/>
          <a:ln w="25400">
            <a:solidFill>
              <a:srgbClr val="A9812F"/>
            </a:solidFill>
            <a:prstDash val="solid"/>
            <a:tailEnd type="triangle"/>
          </a:ln>
        </p:spPr>
        <p:txBody>
          <a:bodyPr/>
          <a:lstStyle/>
          <a:p>
            <a:endParaRPr lang="en-TH"/>
          </a:p>
        </p:txBody>
      </p:sp>
      <p:sp>
        <p:nvSpPr>
          <p:cNvPr id="32" name="Shape 30"/>
          <p:cNvSpPr/>
          <p:nvPr/>
        </p:nvSpPr>
        <p:spPr>
          <a:xfrm flipV="1">
            <a:off x="1280160" y="2404872"/>
            <a:ext cx="749808" cy="1078992"/>
          </a:xfrm>
          <a:prstGeom prst="line">
            <a:avLst/>
          </a:prstGeom>
          <a:noFill/>
          <a:ln w="25400">
            <a:solidFill>
              <a:srgbClr val="A9812F"/>
            </a:solidFill>
            <a:prstDash val="solid"/>
            <a:tailEnd type="triangle"/>
          </a:ln>
        </p:spPr>
        <p:txBody>
          <a:bodyPr/>
          <a:lstStyle/>
          <a:p>
            <a:endParaRPr lang="en-TH"/>
          </a:p>
        </p:txBody>
      </p:sp>
      <p:sp>
        <p:nvSpPr>
          <p:cNvPr id="33" name="Shape 31"/>
          <p:cNvSpPr/>
          <p:nvPr/>
        </p:nvSpPr>
        <p:spPr>
          <a:xfrm>
            <a:off x="5989320" y="1810512"/>
            <a:ext cx="512064" cy="512064"/>
          </a:xfrm>
          <a:prstGeom prst="ellipse">
            <a:avLst/>
          </a:prstGeom>
          <a:solidFill>
            <a:srgbClr val="13233F"/>
          </a:solidFill>
          <a:ln w="12700">
            <a:solidFill>
              <a:srgbClr val="13233F"/>
            </a:solidFill>
            <a:prstDash val="solid"/>
          </a:ln>
        </p:spPr>
        <p:txBody>
          <a:bodyPr/>
          <a:lstStyle/>
          <a:p>
            <a:endParaRPr lang="en-TH"/>
          </a:p>
        </p:txBody>
      </p:sp>
      <p:pic>
        <p:nvPicPr>
          <p:cNvPr id="34" name="Image 0" descr="preencoded.png"/>
          <p:cNvPicPr>
            <a:picLocks noChangeAspect="1"/>
          </p:cNvPicPr>
          <p:nvPr/>
        </p:nvPicPr>
        <p:blipFill>
          <a:blip r:embed="rId3"/>
          <a:stretch>
            <a:fillRect/>
          </a:stretch>
        </p:blipFill>
        <p:spPr>
          <a:xfrm>
            <a:off x="6107095" y="1928287"/>
            <a:ext cx="276515" cy="276515"/>
          </a:xfrm>
          <a:prstGeom prst="rect">
            <a:avLst/>
          </a:prstGeom>
        </p:spPr>
      </p:pic>
      <p:sp>
        <p:nvSpPr>
          <p:cNvPr id="35" name="Text 32"/>
          <p:cNvSpPr txBox="1"/>
          <p:nvPr/>
        </p:nvSpPr>
        <p:spPr>
          <a:xfrm>
            <a:off x="6675120" y="1783080"/>
            <a:ext cx="496793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Event-driven &amp; closed-loop</a:t>
            </a:r>
            <a:endParaRPr lang="en-US" sz="1400" dirty="0"/>
          </a:p>
        </p:txBody>
      </p:sp>
      <p:sp>
        <p:nvSpPr>
          <p:cNvPr id="36" name="Text 33"/>
          <p:cNvSpPr txBox="1"/>
          <p:nvPr/>
        </p:nvSpPr>
        <p:spPr>
          <a:xfrm>
            <a:off x="6675120" y="2075688"/>
            <a:ext cx="4967935" cy="54864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Event-Driven Ansible / Salt reactor ต่อยอดแนวคิด EEM ไปทั้งเครือข่าย: event → rulebook → แก้ไขอัตโนมัติ</a:t>
            </a:r>
            <a:endParaRPr lang="en-US" sz="1100" dirty="0"/>
          </a:p>
        </p:txBody>
      </p:sp>
      <p:sp>
        <p:nvSpPr>
          <p:cNvPr id="37" name="Shape 34"/>
          <p:cNvSpPr/>
          <p:nvPr/>
        </p:nvSpPr>
        <p:spPr>
          <a:xfrm>
            <a:off x="5989320" y="2697480"/>
            <a:ext cx="512064" cy="512064"/>
          </a:xfrm>
          <a:prstGeom prst="ellipse">
            <a:avLst/>
          </a:prstGeom>
          <a:solidFill>
            <a:srgbClr val="13233F"/>
          </a:solidFill>
          <a:ln w="12700">
            <a:solidFill>
              <a:srgbClr val="13233F"/>
            </a:solidFill>
            <a:prstDash val="solid"/>
          </a:ln>
        </p:spPr>
        <p:txBody>
          <a:bodyPr/>
          <a:lstStyle/>
          <a:p>
            <a:endParaRPr lang="en-TH"/>
          </a:p>
        </p:txBody>
      </p:sp>
      <p:pic>
        <p:nvPicPr>
          <p:cNvPr id="38" name="Image 1" descr="preencoded.png"/>
          <p:cNvPicPr>
            <a:picLocks noChangeAspect="1"/>
          </p:cNvPicPr>
          <p:nvPr/>
        </p:nvPicPr>
        <p:blipFill>
          <a:blip r:embed="rId4"/>
          <a:stretch>
            <a:fillRect/>
          </a:stretch>
        </p:blipFill>
        <p:spPr>
          <a:xfrm>
            <a:off x="6107095" y="2815255"/>
            <a:ext cx="276515" cy="276515"/>
          </a:xfrm>
          <a:prstGeom prst="rect">
            <a:avLst/>
          </a:prstGeom>
        </p:spPr>
      </p:pic>
      <p:sp>
        <p:nvSpPr>
          <p:cNvPr id="39" name="Text 35"/>
          <p:cNvSpPr txBox="1"/>
          <p:nvPr/>
        </p:nvSpPr>
        <p:spPr>
          <a:xfrm>
            <a:off x="6675120" y="2670048"/>
            <a:ext cx="496793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Model-driven programmability</a:t>
            </a:r>
            <a:endParaRPr lang="en-US" sz="1400" dirty="0"/>
          </a:p>
        </p:txBody>
      </p:sp>
      <p:sp>
        <p:nvSpPr>
          <p:cNvPr id="40" name="Text 36"/>
          <p:cNvSpPr txBox="1"/>
          <p:nvPr/>
        </p:nvSpPr>
        <p:spPr>
          <a:xfrm>
            <a:off x="6675120" y="2962656"/>
            <a:ext cx="4967935" cy="54864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NETCONF / RESTCONF / gNMI + YANG และ streaming telemetry แทนการ parse ข้อความ CLI</a:t>
            </a:r>
            <a:endParaRPr lang="en-US" sz="1100" dirty="0"/>
          </a:p>
        </p:txBody>
      </p:sp>
      <p:sp>
        <p:nvSpPr>
          <p:cNvPr id="41" name="Shape 37"/>
          <p:cNvSpPr/>
          <p:nvPr/>
        </p:nvSpPr>
        <p:spPr>
          <a:xfrm>
            <a:off x="5989320" y="3584448"/>
            <a:ext cx="512064" cy="512064"/>
          </a:xfrm>
          <a:prstGeom prst="ellipse">
            <a:avLst/>
          </a:prstGeom>
          <a:solidFill>
            <a:srgbClr val="13233F"/>
          </a:solidFill>
          <a:ln w="12700">
            <a:solidFill>
              <a:srgbClr val="13233F"/>
            </a:solidFill>
            <a:prstDash val="solid"/>
          </a:ln>
        </p:spPr>
        <p:txBody>
          <a:bodyPr/>
          <a:lstStyle/>
          <a:p>
            <a:endParaRPr lang="en-TH"/>
          </a:p>
        </p:txBody>
      </p:sp>
      <p:pic>
        <p:nvPicPr>
          <p:cNvPr id="42" name="Image 2" descr="preencoded.png"/>
          <p:cNvPicPr>
            <a:picLocks noChangeAspect="1"/>
          </p:cNvPicPr>
          <p:nvPr/>
        </p:nvPicPr>
        <p:blipFill>
          <a:blip r:embed="rId5"/>
          <a:stretch>
            <a:fillRect/>
          </a:stretch>
        </p:blipFill>
        <p:spPr>
          <a:xfrm>
            <a:off x="6107095" y="3702223"/>
            <a:ext cx="276515" cy="276515"/>
          </a:xfrm>
          <a:prstGeom prst="rect">
            <a:avLst/>
          </a:prstGeom>
        </p:spPr>
      </p:pic>
      <p:sp>
        <p:nvSpPr>
          <p:cNvPr id="43" name="Text 38"/>
          <p:cNvSpPr txBox="1"/>
          <p:nvPr/>
        </p:nvSpPr>
        <p:spPr>
          <a:xfrm>
            <a:off x="6675120" y="3557016"/>
            <a:ext cx="496793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AI-assisted operations</a:t>
            </a:r>
            <a:endParaRPr lang="en-US" sz="1400" dirty="0"/>
          </a:p>
        </p:txBody>
      </p:sp>
      <p:sp>
        <p:nvSpPr>
          <p:cNvPr id="44" name="Text 39"/>
          <p:cNvSpPr txBox="1"/>
          <p:nvPr/>
        </p:nvSpPr>
        <p:spPr>
          <a:xfrm>
            <a:off x="6675120" y="3849624"/>
            <a:ext cx="4967935" cy="54864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สร้าง playbook ด้วย GenAI (เช่น Ansible Lightspeed), AIOps วิเคราะห์ log, AI agent ที่มีคนอนุมัติก่อนลงมือ</a:t>
            </a:r>
            <a:endParaRPr lang="en-US" sz="1100" dirty="0"/>
          </a:p>
        </p:txBody>
      </p:sp>
      <p:sp>
        <p:nvSpPr>
          <p:cNvPr id="45" name="Shape 40"/>
          <p:cNvSpPr/>
          <p:nvPr/>
        </p:nvSpPr>
        <p:spPr>
          <a:xfrm>
            <a:off x="5989320" y="4471416"/>
            <a:ext cx="512064" cy="512064"/>
          </a:xfrm>
          <a:prstGeom prst="ellipse">
            <a:avLst/>
          </a:prstGeom>
          <a:solidFill>
            <a:srgbClr val="13233F"/>
          </a:solidFill>
          <a:ln w="12700">
            <a:solidFill>
              <a:srgbClr val="13233F"/>
            </a:solidFill>
            <a:prstDash val="solid"/>
          </a:ln>
        </p:spPr>
        <p:txBody>
          <a:bodyPr/>
          <a:lstStyle/>
          <a:p>
            <a:endParaRPr lang="en-TH"/>
          </a:p>
        </p:txBody>
      </p:sp>
      <p:pic>
        <p:nvPicPr>
          <p:cNvPr id="46" name="Image 3" descr="preencoded.png"/>
          <p:cNvPicPr>
            <a:picLocks noChangeAspect="1"/>
          </p:cNvPicPr>
          <p:nvPr/>
        </p:nvPicPr>
        <p:blipFill>
          <a:blip r:embed="rId6"/>
          <a:stretch>
            <a:fillRect/>
          </a:stretch>
        </p:blipFill>
        <p:spPr>
          <a:xfrm>
            <a:off x="6107095" y="4589191"/>
            <a:ext cx="276515" cy="276515"/>
          </a:xfrm>
          <a:prstGeom prst="rect">
            <a:avLst/>
          </a:prstGeom>
        </p:spPr>
      </p:pic>
      <p:sp>
        <p:nvSpPr>
          <p:cNvPr id="47" name="Text 41"/>
          <p:cNvSpPr txBox="1"/>
          <p:nvPr/>
        </p:nvSpPr>
        <p:spPr>
          <a:xfrm>
            <a:off x="6675120" y="4443984"/>
            <a:ext cx="496793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NetDevOps / GitOps</a:t>
            </a:r>
            <a:endParaRPr lang="en-US" sz="1400" dirty="0"/>
          </a:p>
        </p:txBody>
      </p:sp>
      <p:sp>
        <p:nvSpPr>
          <p:cNvPr id="48" name="Text 42"/>
          <p:cNvSpPr txBox="1"/>
          <p:nvPr/>
        </p:nvSpPr>
        <p:spPr>
          <a:xfrm>
            <a:off x="6675120" y="4736592"/>
            <a:ext cx="4967935" cy="54864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Source of Truth (NetBox) + Git + CI/CD ทดสอบก่อนใช้งานจริงบน digital twin</a:t>
            </a:r>
            <a:endParaRPr lang="en-US" sz="1100" dirty="0"/>
          </a:p>
        </p:txBody>
      </p:sp>
      <p:sp>
        <p:nvSpPr>
          <p:cNvPr id="49" name="Shape 43"/>
          <p:cNvSpPr/>
          <p:nvPr/>
        </p:nvSpPr>
        <p:spPr>
          <a:xfrm>
            <a:off x="5989320" y="5358384"/>
            <a:ext cx="512064" cy="512064"/>
          </a:xfrm>
          <a:prstGeom prst="ellipse">
            <a:avLst/>
          </a:prstGeom>
          <a:solidFill>
            <a:srgbClr val="13233F"/>
          </a:solidFill>
          <a:ln w="12700">
            <a:solidFill>
              <a:srgbClr val="13233F"/>
            </a:solidFill>
            <a:prstDash val="solid"/>
          </a:ln>
        </p:spPr>
        <p:txBody>
          <a:bodyPr/>
          <a:lstStyle/>
          <a:p>
            <a:endParaRPr lang="en-TH"/>
          </a:p>
        </p:txBody>
      </p:sp>
      <p:pic>
        <p:nvPicPr>
          <p:cNvPr id="50" name="Image 4" descr="preencoded.png"/>
          <p:cNvPicPr>
            <a:picLocks noChangeAspect="1"/>
          </p:cNvPicPr>
          <p:nvPr/>
        </p:nvPicPr>
        <p:blipFill>
          <a:blip r:embed="rId7"/>
          <a:stretch>
            <a:fillRect/>
          </a:stretch>
        </p:blipFill>
        <p:spPr>
          <a:xfrm>
            <a:off x="6107095" y="5476159"/>
            <a:ext cx="276515" cy="276515"/>
          </a:xfrm>
          <a:prstGeom prst="rect">
            <a:avLst/>
          </a:prstGeom>
        </p:spPr>
      </p:pic>
      <p:sp>
        <p:nvSpPr>
          <p:cNvPr id="51" name="Text 44"/>
          <p:cNvSpPr txBox="1"/>
          <p:nvPr/>
        </p:nvSpPr>
        <p:spPr>
          <a:xfrm>
            <a:off x="6675120" y="5330952"/>
            <a:ext cx="4967935" cy="292608"/>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Zero Trust &amp; Cloud</a:t>
            </a:r>
            <a:endParaRPr lang="en-US" sz="1400" dirty="0"/>
          </a:p>
        </p:txBody>
      </p:sp>
      <p:sp>
        <p:nvSpPr>
          <p:cNvPr id="52" name="Text 45"/>
          <p:cNvSpPr txBox="1"/>
          <p:nvPr/>
        </p:nvSpPr>
        <p:spPr>
          <a:xfrm>
            <a:off x="6675120" y="5623560"/>
            <a:ext cx="4967935" cy="548640"/>
          </a:xfrm>
          <a:prstGeom prst="rect">
            <a:avLst/>
          </a:prstGeom>
          <a:noFill/>
          <a:ln/>
        </p:spPr>
        <p:txBody>
          <a:bodyPr wrap="square" lIns="0" tIns="0" rIns="0" bIns="0" rtlCol="0" anchor="t"/>
          <a:lstStyle/>
          <a:p>
            <a:pPr marL="0" indent="0">
              <a:buNone/>
            </a:pPr>
            <a:r>
              <a:rPr lang="en-US" sz="1100" dirty="0">
                <a:solidFill>
                  <a:srgbClr val="1E2733"/>
                </a:solidFill>
                <a:latin typeface="Tahoma" pitchFamily="34" charset="0"/>
                <a:ea typeface="Tahoma" pitchFamily="34" charset="-122"/>
                <a:cs typeface="Tahoma" pitchFamily="34" charset="-120"/>
              </a:rPr>
              <a:t>บังคับ policy และ least privilege อัตโนมัติ, เก็บ secret ใน vault, จัดการ cloud network ด้วย Terraform / API</a:t>
            </a:r>
            <a:endParaRPr lang="en-US" sz="1100" dirty="0"/>
          </a:p>
        </p:txBody>
      </p:sp>
      <p:sp>
        <p:nvSpPr>
          <p:cNvPr id="53" name="Text 46"/>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54" name="Text 47"/>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ส่วนที่ 5  ·  ทิศทางในอนาคต</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Industry Takeaway</a:t>
            </a:r>
            <a:endParaRPr lang="en-US" sz="3000" dirty="0"/>
          </a:p>
        </p:txBody>
      </p:sp>
      <p:sp>
        <p:nvSpPr>
          <p:cNvPr id="4" name="Text 2"/>
          <p:cNvSpPr txBox="1"/>
          <p:nvPr/>
        </p:nvSpPr>
        <p:spPr>
          <a:xfrm>
            <a:off x="548640" y="1225296"/>
            <a:ext cx="11094415" cy="329184"/>
          </a:xfrm>
          <a:prstGeom prst="rect">
            <a:avLst/>
          </a:prstGeom>
          <a:noFill/>
          <a:ln/>
        </p:spPr>
        <p:txBody>
          <a:bodyPr wrap="square" lIns="0" tIns="0" rIns="0" bIns="0" rtlCol="0" anchor="ctr"/>
          <a:lstStyle/>
          <a:p>
            <a:pPr marL="0" indent="0">
              <a:buNone/>
            </a:pPr>
            <a:r>
              <a:rPr lang="en-US" sz="1400" dirty="0">
                <a:solidFill>
                  <a:srgbClr val="5F6B7A"/>
                </a:solidFill>
                <a:latin typeface="Tahoma" pitchFamily="34" charset="0"/>
                <a:ea typeface="Tahoma" pitchFamily="34" charset="-122"/>
                <a:cs typeface="Tahoma" pitchFamily="34" charset="-120"/>
              </a:rPr>
              <a:t>ทำไมวิศวกรเครือข่ายยุคใหม่ยังต้องเข้าใจทั้ง automation และพื้นฐานของ protocol</a:t>
            </a:r>
            <a:endParaRPr lang="en-US" sz="1400" dirty="0"/>
          </a:p>
        </p:txBody>
      </p:sp>
      <p:sp>
        <p:nvSpPr>
          <p:cNvPr id="5" name="Shape 3"/>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6" name="Text 4"/>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7" name="Shape 5"/>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8" name="Text 6"/>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9" name="Shape 7"/>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0" name="Text 8"/>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1" name="Shape 9"/>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2" name="Text 10"/>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3" name="Shape 11"/>
          <p:cNvSpPr/>
          <p:nvPr/>
        </p:nvSpPr>
        <p:spPr>
          <a:xfrm>
            <a:off x="11332159" y="384048"/>
            <a:ext cx="310896" cy="310896"/>
          </a:xfrm>
          <a:prstGeom prst="ellipse">
            <a:avLst/>
          </a:prstGeom>
          <a:solidFill>
            <a:srgbClr val="13233F"/>
          </a:solidFill>
          <a:ln w="12700">
            <a:solidFill>
              <a:srgbClr val="13233F"/>
            </a:solidFill>
            <a:prstDash val="solid"/>
          </a:ln>
        </p:spPr>
        <p:txBody>
          <a:bodyPr/>
          <a:lstStyle/>
          <a:p>
            <a:endParaRPr lang="en-TH"/>
          </a:p>
        </p:txBody>
      </p:sp>
      <p:sp>
        <p:nvSpPr>
          <p:cNvPr id="14" name="Text 12"/>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5</a:t>
            </a:r>
            <a:endParaRPr lang="en-US" sz="1100" dirty="0"/>
          </a:p>
        </p:txBody>
      </p:sp>
      <p:sp>
        <p:nvSpPr>
          <p:cNvPr id="15" name="Shape 13"/>
          <p:cNvSpPr/>
          <p:nvPr/>
        </p:nvSpPr>
        <p:spPr>
          <a:xfrm>
            <a:off x="548640" y="1783080"/>
            <a:ext cx="4526280" cy="4434840"/>
          </a:xfrm>
          <a:prstGeom prst="roundRect">
            <a:avLst>
              <a:gd name="adj" fmla="val 2062"/>
            </a:avLst>
          </a:prstGeom>
          <a:solidFill>
            <a:srgbClr val="13233F"/>
          </a:solidFill>
          <a:ln w="12700">
            <a:solidFill>
              <a:srgbClr val="13233F"/>
            </a:solidFill>
            <a:prstDash val="solid"/>
          </a:ln>
        </p:spPr>
        <p:txBody>
          <a:bodyPr/>
          <a:lstStyle/>
          <a:p>
            <a:endParaRPr lang="en-TH"/>
          </a:p>
        </p:txBody>
      </p:sp>
      <p:pic>
        <p:nvPicPr>
          <p:cNvPr id="16" name="Image 0" descr="preencoded.png"/>
          <p:cNvPicPr>
            <a:picLocks noChangeAspect="1"/>
          </p:cNvPicPr>
          <p:nvPr/>
        </p:nvPicPr>
        <p:blipFill>
          <a:blip r:embed="rId3"/>
          <a:stretch>
            <a:fillRect/>
          </a:stretch>
        </p:blipFill>
        <p:spPr>
          <a:xfrm>
            <a:off x="868680" y="2057400"/>
            <a:ext cx="457200" cy="457200"/>
          </a:xfrm>
          <a:prstGeom prst="rect">
            <a:avLst/>
          </a:prstGeom>
        </p:spPr>
      </p:pic>
      <p:sp>
        <p:nvSpPr>
          <p:cNvPr id="17" name="Text 14"/>
          <p:cNvSpPr txBox="1"/>
          <p:nvPr/>
        </p:nvSpPr>
        <p:spPr>
          <a:xfrm>
            <a:off x="868680" y="2651760"/>
            <a:ext cx="3931920" cy="1188720"/>
          </a:xfrm>
          <a:prstGeom prst="rect">
            <a:avLst/>
          </a:prstGeom>
          <a:noFill/>
          <a:ln/>
        </p:spPr>
        <p:txBody>
          <a:bodyPr wrap="square" lIns="0" tIns="0" rIns="0" bIns="0" rtlCol="0" anchor="t"/>
          <a:lstStyle/>
          <a:p>
            <a:pPr marL="0" indent="0">
              <a:buNone/>
            </a:pPr>
            <a:r>
              <a:rPr lang="en-US" sz="2400" b="1" dirty="0">
                <a:solidFill>
                  <a:srgbClr val="FFFFFF"/>
                </a:solidFill>
                <a:latin typeface="Tahoma" pitchFamily="34" charset="0"/>
                <a:ea typeface="Tahoma" pitchFamily="34" charset="-122"/>
                <a:cs typeface="Tahoma" pitchFamily="34" charset="-120"/>
              </a:rPr>
              <a:t>Automation ขยายผลได้ทั้งสิ่งที่ถูกและสิ่งที่ผิด</a:t>
            </a:r>
            <a:endParaRPr lang="en-US" sz="2400" dirty="0"/>
          </a:p>
        </p:txBody>
      </p:sp>
      <p:sp>
        <p:nvSpPr>
          <p:cNvPr id="18" name="Text 15"/>
          <p:cNvSpPr txBox="1"/>
          <p:nvPr/>
        </p:nvSpPr>
        <p:spPr>
          <a:xfrm>
            <a:off x="868680" y="3703320"/>
            <a:ext cx="3931920" cy="1097280"/>
          </a:xfrm>
          <a:prstGeom prst="rect">
            <a:avLst/>
          </a:prstGeom>
          <a:noFill/>
          <a:ln/>
        </p:spPr>
        <p:txBody>
          <a:bodyPr wrap="square" lIns="0" tIns="0" rIns="0" bIns="0" rtlCol="0" anchor="t"/>
          <a:lstStyle/>
          <a:p>
            <a:pPr marL="0" indent="0">
              <a:buNone/>
            </a:pPr>
            <a:r>
              <a:rPr lang="en-US" sz="1300" dirty="0">
                <a:solidFill>
                  <a:srgbClr val="C9D3E0"/>
                </a:solidFill>
                <a:latin typeface="Tahoma" pitchFamily="34" charset="0"/>
                <a:ea typeface="Tahoma" pitchFamily="34" charset="-122"/>
                <a:cs typeface="Tahoma" pitchFamily="34" charset="-120"/>
              </a:rPr>
              <a:t>config ผิดเพียงบรรทัดเดียวถูกส่งไปหลายร้อยเครื่องได้ในไม่กี่วินาที ผู้เขียน automation จึงต้องเข้าใจ protocol และ CLI ที่อยู่เบื้องหลังจริง</a:t>
            </a:r>
            <a:endParaRPr lang="en-US" sz="1300" dirty="0"/>
          </a:p>
        </p:txBody>
      </p:sp>
      <p:sp>
        <p:nvSpPr>
          <p:cNvPr id="19" name="Shape 16"/>
          <p:cNvSpPr/>
          <p:nvPr/>
        </p:nvSpPr>
        <p:spPr>
          <a:xfrm>
            <a:off x="868680" y="5138928"/>
            <a:ext cx="3886200" cy="9144"/>
          </a:xfrm>
          <a:prstGeom prst="rect">
            <a:avLst/>
          </a:prstGeom>
          <a:solidFill>
            <a:srgbClr val="1F3A5F"/>
          </a:solidFill>
          <a:ln w="12700">
            <a:solidFill>
              <a:srgbClr val="1F3A5F"/>
            </a:solidFill>
            <a:prstDash val="solid"/>
          </a:ln>
        </p:spPr>
        <p:txBody>
          <a:bodyPr/>
          <a:lstStyle/>
          <a:p>
            <a:endParaRPr lang="en-TH"/>
          </a:p>
        </p:txBody>
      </p:sp>
      <p:sp>
        <p:nvSpPr>
          <p:cNvPr id="20" name="Text 17"/>
          <p:cNvSpPr txBox="1"/>
          <p:nvPr/>
        </p:nvSpPr>
        <p:spPr>
          <a:xfrm>
            <a:off x="868680" y="5230368"/>
            <a:ext cx="3931920" cy="822960"/>
          </a:xfrm>
          <a:prstGeom prst="rect">
            <a:avLst/>
          </a:prstGeom>
          <a:noFill/>
          <a:ln/>
        </p:spPr>
        <p:txBody>
          <a:bodyPr wrap="square" lIns="0" tIns="0" rIns="0" bIns="0" rtlCol="0" anchor="t"/>
          <a:lstStyle/>
          <a:p>
            <a:pPr marL="0" indent="0">
              <a:buNone/>
            </a:pPr>
            <a:r>
              <a:rPr lang="en-US" sz="1200" b="1" dirty="0">
                <a:solidFill>
                  <a:srgbClr val="D9BE82"/>
                </a:solidFill>
                <a:latin typeface="Tahoma" pitchFamily="34" charset="0"/>
                <a:ea typeface="Tahoma" pitchFamily="34" charset="-122"/>
                <a:cs typeface="Tahoma" pitchFamily="34" charset="-120"/>
              </a:rPr>
              <a:t>สัญญาณจากอุตสาหกรรม: </a:t>
            </a:r>
            <a:r>
              <a:rPr lang="en-US" sz="1200" dirty="0">
                <a:solidFill>
                  <a:srgbClr val="FFFFFF"/>
                </a:solidFill>
                <a:latin typeface="Tahoma" pitchFamily="34" charset="0"/>
                <a:ea typeface="Tahoma" pitchFamily="34" charset="-122"/>
                <a:cs typeface="Tahoma" pitchFamily="34" charset="-120"/>
              </a:rPr>
              <a:t>Cisco เปลี่ยน DevNet เป็น CCNA / CCNP / CCIE Automation (3 ก.พ. 2026)</a:t>
            </a:r>
            <a:endParaRPr lang="en-US" sz="1200" dirty="0"/>
          </a:p>
        </p:txBody>
      </p:sp>
      <p:sp>
        <p:nvSpPr>
          <p:cNvPr id="21" name="Shape 18"/>
          <p:cNvSpPr/>
          <p:nvPr/>
        </p:nvSpPr>
        <p:spPr>
          <a:xfrm>
            <a:off x="5349240" y="1783080"/>
            <a:ext cx="3032608" cy="2103120"/>
          </a:xfrm>
          <a:prstGeom prst="roundRect">
            <a:avLst>
              <a:gd name="adj" fmla="val 3478"/>
            </a:avLst>
          </a:prstGeom>
          <a:solidFill>
            <a:srgbClr val="F3F5F8"/>
          </a:solidFill>
          <a:ln w="9525">
            <a:solidFill>
              <a:srgbClr val="D6DCE4"/>
            </a:solidFill>
            <a:prstDash val="solid"/>
          </a:ln>
        </p:spPr>
        <p:txBody>
          <a:bodyPr/>
          <a:lstStyle/>
          <a:p>
            <a:endParaRPr lang="en-TH"/>
          </a:p>
        </p:txBody>
      </p:sp>
      <p:sp>
        <p:nvSpPr>
          <p:cNvPr id="22" name="Shape 19"/>
          <p:cNvSpPr/>
          <p:nvPr/>
        </p:nvSpPr>
        <p:spPr>
          <a:xfrm>
            <a:off x="5577840" y="2011680"/>
            <a:ext cx="548640" cy="548640"/>
          </a:xfrm>
          <a:prstGeom prst="ellipse">
            <a:avLst/>
          </a:prstGeom>
          <a:solidFill>
            <a:srgbClr val="13233F"/>
          </a:solidFill>
          <a:ln w="12700">
            <a:solidFill>
              <a:srgbClr val="13233F"/>
            </a:solidFill>
            <a:prstDash val="solid"/>
          </a:ln>
        </p:spPr>
        <p:txBody>
          <a:bodyPr/>
          <a:lstStyle/>
          <a:p>
            <a:endParaRPr lang="en-TH"/>
          </a:p>
        </p:txBody>
      </p:sp>
      <p:pic>
        <p:nvPicPr>
          <p:cNvPr id="23" name="Image 1" descr="preencoded.png"/>
          <p:cNvPicPr>
            <a:picLocks noChangeAspect="1"/>
          </p:cNvPicPr>
          <p:nvPr/>
        </p:nvPicPr>
        <p:blipFill>
          <a:blip r:embed="rId4"/>
          <a:stretch>
            <a:fillRect/>
          </a:stretch>
        </p:blipFill>
        <p:spPr>
          <a:xfrm>
            <a:off x="5704027" y="2137867"/>
            <a:ext cx="296266" cy="296266"/>
          </a:xfrm>
          <a:prstGeom prst="rect">
            <a:avLst/>
          </a:prstGeom>
        </p:spPr>
      </p:pic>
      <p:sp>
        <p:nvSpPr>
          <p:cNvPr id="24" name="Text 20"/>
          <p:cNvSpPr txBox="1"/>
          <p:nvPr/>
        </p:nvSpPr>
        <p:spPr>
          <a:xfrm>
            <a:off x="5577840" y="2679192"/>
            <a:ext cx="2621128" cy="457200"/>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Troubleshooting ยังใช้ CLI</a:t>
            </a:r>
            <a:endParaRPr lang="en-US" sz="1400" dirty="0"/>
          </a:p>
        </p:txBody>
      </p:sp>
      <p:sp>
        <p:nvSpPr>
          <p:cNvPr id="25" name="Text 21"/>
          <p:cNvSpPr txBox="1"/>
          <p:nvPr/>
        </p:nvSpPr>
        <p:spPr>
          <a:xfrm>
            <a:off x="5577840" y="3136392"/>
            <a:ext cx="2621128" cy="68580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TS #2 อธิบายได้เพราะเข้าใจ Dead timer, LSA และ SPF — เครื่องมือไม่ได้บอกเหตุผลให้</a:t>
            </a:r>
            <a:endParaRPr lang="en-US" sz="1150" dirty="0"/>
          </a:p>
        </p:txBody>
      </p:sp>
      <p:sp>
        <p:nvSpPr>
          <p:cNvPr id="26" name="Shape 22"/>
          <p:cNvSpPr/>
          <p:nvPr/>
        </p:nvSpPr>
        <p:spPr>
          <a:xfrm>
            <a:off x="8610448" y="1783080"/>
            <a:ext cx="3032608" cy="2103120"/>
          </a:xfrm>
          <a:prstGeom prst="roundRect">
            <a:avLst>
              <a:gd name="adj" fmla="val 3478"/>
            </a:avLst>
          </a:prstGeom>
          <a:solidFill>
            <a:srgbClr val="F3F5F8"/>
          </a:solidFill>
          <a:ln w="9525">
            <a:solidFill>
              <a:srgbClr val="D6DCE4"/>
            </a:solidFill>
            <a:prstDash val="solid"/>
          </a:ln>
        </p:spPr>
        <p:txBody>
          <a:bodyPr/>
          <a:lstStyle/>
          <a:p>
            <a:endParaRPr lang="en-TH"/>
          </a:p>
        </p:txBody>
      </p:sp>
      <p:sp>
        <p:nvSpPr>
          <p:cNvPr id="27" name="Shape 23"/>
          <p:cNvSpPr/>
          <p:nvPr/>
        </p:nvSpPr>
        <p:spPr>
          <a:xfrm>
            <a:off x="8839048" y="2011680"/>
            <a:ext cx="548640" cy="548640"/>
          </a:xfrm>
          <a:prstGeom prst="ellipse">
            <a:avLst/>
          </a:prstGeom>
          <a:solidFill>
            <a:srgbClr val="13233F"/>
          </a:solidFill>
          <a:ln w="12700">
            <a:solidFill>
              <a:srgbClr val="13233F"/>
            </a:solidFill>
            <a:prstDash val="solid"/>
          </a:ln>
        </p:spPr>
        <p:txBody>
          <a:bodyPr/>
          <a:lstStyle/>
          <a:p>
            <a:endParaRPr lang="en-TH"/>
          </a:p>
        </p:txBody>
      </p:sp>
      <p:pic>
        <p:nvPicPr>
          <p:cNvPr id="28" name="Image 2" descr="preencoded.png"/>
          <p:cNvPicPr>
            <a:picLocks noChangeAspect="1"/>
          </p:cNvPicPr>
          <p:nvPr/>
        </p:nvPicPr>
        <p:blipFill>
          <a:blip r:embed="rId5"/>
          <a:stretch>
            <a:fillRect/>
          </a:stretch>
        </p:blipFill>
        <p:spPr>
          <a:xfrm>
            <a:off x="8965235" y="2137867"/>
            <a:ext cx="296266" cy="296266"/>
          </a:xfrm>
          <a:prstGeom prst="rect">
            <a:avLst/>
          </a:prstGeom>
        </p:spPr>
      </p:pic>
      <p:sp>
        <p:nvSpPr>
          <p:cNvPr id="29" name="Text 24"/>
          <p:cNvSpPr txBox="1"/>
          <p:nvPr/>
        </p:nvSpPr>
        <p:spPr>
          <a:xfrm>
            <a:off x="8839048" y="2679192"/>
            <a:ext cx="2621128" cy="457200"/>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ต้องรู้ผลลัพธ์ที่ถูกต้อง</a:t>
            </a:r>
            <a:endParaRPr lang="en-US" sz="1400" dirty="0"/>
          </a:p>
        </p:txBody>
      </p:sp>
      <p:sp>
        <p:nvSpPr>
          <p:cNvPr id="30" name="Text 25"/>
          <p:cNvSpPr txBox="1"/>
          <p:nvPr/>
        </p:nvSpPr>
        <p:spPr>
          <a:xfrm>
            <a:off x="8839048" y="3136392"/>
            <a:ext cx="2621128" cy="68580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การเขียน wait_for หรือ test ต้องรู้ output ที่คาดหวัง เช่น FULL และ [110/2]</a:t>
            </a:r>
            <a:endParaRPr lang="en-US" sz="1150" dirty="0"/>
          </a:p>
        </p:txBody>
      </p:sp>
      <p:sp>
        <p:nvSpPr>
          <p:cNvPr id="31" name="Shape 26"/>
          <p:cNvSpPr/>
          <p:nvPr/>
        </p:nvSpPr>
        <p:spPr>
          <a:xfrm>
            <a:off x="5349240" y="4114800"/>
            <a:ext cx="3032608" cy="2103120"/>
          </a:xfrm>
          <a:prstGeom prst="roundRect">
            <a:avLst>
              <a:gd name="adj" fmla="val 3478"/>
            </a:avLst>
          </a:prstGeom>
          <a:solidFill>
            <a:srgbClr val="F3F5F8"/>
          </a:solidFill>
          <a:ln w="9525">
            <a:solidFill>
              <a:srgbClr val="D6DCE4"/>
            </a:solidFill>
            <a:prstDash val="solid"/>
          </a:ln>
        </p:spPr>
        <p:txBody>
          <a:bodyPr/>
          <a:lstStyle/>
          <a:p>
            <a:endParaRPr lang="en-TH"/>
          </a:p>
        </p:txBody>
      </p:sp>
      <p:sp>
        <p:nvSpPr>
          <p:cNvPr id="32" name="Shape 27"/>
          <p:cNvSpPr/>
          <p:nvPr/>
        </p:nvSpPr>
        <p:spPr>
          <a:xfrm>
            <a:off x="5577840" y="4343400"/>
            <a:ext cx="548640" cy="548640"/>
          </a:xfrm>
          <a:prstGeom prst="ellipse">
            <a:avLst/>
          </a:prstGeom>
          <a:solidFill>
            <a:srgbClr val="13233F"/>
          </a:solidFill>
          <a:ln w="12700">
            <a:solidFill>
              <a:srgbClr val="13233F"/>
            </a:solidFill>
            <a:prstDash val="solid"/>
          </a:ln>
        </p:spPr>
        <p:txBody>
          <a:bodyPr/>
          <a:lstStyle/>
          <a:p>
            <a:endParaRPr lang="en-TH"/>
          </a:p>
        </p:txBody>
      </p:sp>
      <p:pic>
        <p:nvPicPr>
          <p:cNvPr id="33" name="Image 3" descr="preencoded.png"/>
          <p:cNvPicPr>
            <a:picLocks noChangeAspect="1"/>
          </p:cNvPicPr>
          <p:nvPr/>
        </p:nvPicPr>
        <p:blipFill>
          <a:blip r:embed="rId6"/>
          <a:stretch>
            <a:fillRect/>
          </a:stretch>
        </p:blipFill>
        <p:spPr>
          <a:xfrm>
            <a:off x="5704027" y="4469587"/>
            <a:ext cx="296266" cy="296266"/>
          </a:xfrm>
          <a:prstGeom prst="rect">
            <a:avLst/>
          </a:prstGeom>
        </p:spPr>
      </p:pic>
      <p:sp>
        <p:nvSpPr>
          <p:cNvPr id="34" name="Text 28"/>
          <p:cNvSpPr txBox="1"/>
          <p:nvPr/>
        </p:nvSpPr>
        <p:spPr>
          <a:xfrm>
            <a:off x="5577840" y="5010912"/>
            <a:ext cx="2621128" cy="457200"/>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ทักษะใหม่ที่ต้องมี</a:t>
            </a:r>
            <a:endParaRPr lang="en-US" sz="1400" dirty="0"/>
          </a:p>
        </p:txBody>
      </p:sp>
      <p:sp>
        <p:nvSpPr>
          <p:cNvPr id="35" name="Text 29"/>
          <p:cNvSpPr txBox="1"/>
          <p:nvPr/>
        </p:nvSpPr>
        <p:spPr>
          <a:xfrm>
            <a:off x="5577840" y="5468112"/>
            <a:ext cx="2621128" cy="68580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YAML / Jinja2, Git, Python, REST API และ YANG data model</a:t>
            </a:r>
            <a:endParaRPr lang="en-US" sz="1150" dirty="0"/>
          </a:p>
        </p:txBody>
      </p:sp>
      <p:sp>
        <p:nvSpPr>
          <p:cNvPr id="36" name="Shape 30"/>
          <p:cNvSpPr/>
          <p:nvPr/>
        </p:nvSpPr>
        <p:spPr>
          <a:xfrm>
            <a:off x="8610448" y="4114800"/>
            <a:ext cx="3032608" cy="2103120"/>
          </a:xfrm>
          <a:prstGeom prst="roundRect">
            <a:avLst>
              <a:gd name="adj" fmla="val 3478"/>
            </a:avLst>
          </a:prstGeom>
          <a:solidFill>
            <a:srgbClr val="F3F5F8"/>
          </a:solidFill>
          <a:ln w="9525">
            <a:solidFill>
              <a:srgbClr val="D6DCE4"/>
            </a:solidFill>
            <a:prstDash val="solid"/>
          </a:ln>
        </p:spPr>
        <p:txBody>
          <a:bodyPr/>
          <a:lstStyle/>
          <a:p>
            <a:endParaRPr lang="en-TH"/>
          </a:p>
        </p:txBody>
      </p:sp>
      <p:sp>
        <p:nvSpPr>
          <p:cNvPr id="37" name="Shape 31"/>
          <p:cNvSpPr/>
          <p:nvPr/>
        </p:nvSpPr>
        <p:spPr>
          <a:xfrm>
            <a:off x="8839048" y="4343400"/>
            <a:ext cx="548640" cy="548640"/>
          </a:xfrm>
          <a:prstGeom prst="ellipse">
            <a:avLst/>
          </a:prstGeom>
          <a:solidFill>
            <a:srgbClr val="13233F"/>
          </a:solidFill>
          <a:ln w="12700">
            <a:solidFill>
              <a:srgbClr val="13233F"/>
            </a:solidFill>
            <a:prstDash val="solid"/>
          </a:ln>
        </p:spPr>
        <p:txBody>
          <a:bodyPr/>
          <a:lstStyle/>
          <a:p>
            <a:endParaRPr lang="en-TH"/>
          </a:p>
        </p:txBody>
      </p:sp>
      <p:pic>
        <p:nvPicPr>
          <p:cNvPr id="38" name="Image 4" descr="preencoded.png"/>
          <p:cNvPicPr>
            <a:picLocks noChangeAspect="1"/>
          </p:cNvPicPr>
          <p:nvPr/>
        </p:nvPicPr>
        <p:blipFill>
          <a:blip r:embed="rId7"/>
          <a:stretch>
            <a:fillRect/>
          </a:stretch>
        </p:blipFill>
        <p:spPr>
          <a:xfrm>
            <a:off x="8965235" y="4469587"/>
            <a:ext cx="296266" cy="296266"/>
          </a:xfrm>
          <a:prstGeom prst="rect">
            <a:avLst/>
          </a:prstGeom>
        </p:spPr>
      </p:pic>
      <p:sp>
        <p:nvSpPr>
          <p:cNvPr id="39" name="Text 32"/>
          <p:cNvSpPr txBox="1"/>
          <p:nvPr/>
        </p:nvSpPr>
        <p:spPr>
          <a:xfrm>
            <a:off x="8839048" y="5010912"/>
            <a:ext cx="2621128" cy="457200"/>
          </a:xfrm>
          <a:prstGeom prst="rect">
            <a:avLst/>
          </a:prstGeom>
          <a:noFill/>
          <a:ln/>
        </p:spPr>
        <p:txBody>
          <a:bodyPr wrap="square" lIns="0" tIns="0" rIns="0" bIns="0" rtlCol="0" anchor="t"/>
          <a:lstStyle/>
          <a:p>
            <a:pPr marL="0" indent="0">
              <a:buNone/>
            </a:pPr>
            <a:r>
              <a:rPr lang="en-US" sz="1400" b="1" dirty="0">
                <a:solidFill>
                  <a:srgbClr val="13233F"/>
                </a:solidFill>
                <a:latin typeface="Tahoma" pitchFamily="34" charset="0"/>
                <a:ea typeface="Tahoma" pitchFamily="34" charset="-122"/>
                <a:cs typeface="Tahoma" pitchFamily="34" charset="-120"/>
              </a:rPr>
              <a:t>เป็นทักษะหลักของสายงาน</a:t>
            </a:r>
            <a:endParaRPr lang="en-US" sz="1400" dirty="0"/>
          </a:p>
        </p:txBody>
      </p:sp>
      <p:sp>
        <p:nvSpPr>
          <p:cNvPr id="40" name="Text 33"/>
          <p:cNvSpPr txBox="1"/>
          <p:nvPr/>
        </p:nvSpPr>
        <p:spPr>
          <a:xfrm>
            <a:off x="8839048" y="5468112"/>
            <a:ext cx="2621128" cy="685800"/>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automation อยู่ใน CCNP Enterprise (ENCOR) และเป็นสาย CCNP Automation โดยตรง</a:t>
            </a:r>
            <a:endParaRPr lang="en-US" sz="1150" dirty="0"/>
          </a:p>
        </p:txBody>
      </p:sp>
      <p:sp>
        <p:nvSpPr>
          <p:cNvPr id="41" name="Text 34"/>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42" name="Text 35"/>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13233F"/>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3657600" cy="292608"/>
          </a:xfrm>
          <a:prstGeom prst="rect">
            <a:avLst/>
          </a:prstGeom>
          <a:noFill/>
          <a:ln/>
        </p:spPr>
        <p:txBody>
          <a:bodyPr wrap="square" lIns="0" tIns="0" rIns="0" bIns="0" rtlCol="0" anchor="t"/>
          <a:lstStyle/>
          <a:p>
            <a:pPr marL="0" indent="0">
              <a:buNone/>
            </a:pPr>
            <a:r>
              <a:rPr lang="en-US" sz="1300" b="1" kern="0" spc="100" dirty="0">
                <a:solidFill>
                  <a:srgbClr val="D9BE82"/>
                </a:solidFill>
                <a:latin typeface="Tahoma" pitchFamily="34" charset="0"/>
                <a:ea typeface="Tahoma" pitchFamily="34" charset="-122"/>
                <a:cs typeface="Tahoma" pitchFamily="34" charset="-120"/>
              </a:rPr>
              <a:t>สรุป</a:t>
            </a:r>
            <a:endParaRPr lang="en-US" sz="1300" dirty="0"/>
          </a:p>
        </p:txBody>
      </p:sp>
      <p:sp>
        <p:nvSpPr>
          <p:cNvPr id="3" name="Text 1"/>
          <p:cNvSpPr txBox="1"/>
          <p:nvPr/>
        </p:nvSpPr>
        <p:spPr>
          <a:xfrm>
            <a:off x="731520" y="1024128"/>
            <a:ext cx="6400800" cy="731520"/>
          </a:xfrm>
          <a:prstGeom prst="rect">
            <a:avLst/>
          </a:prstGeom>
          <a:noFill/>
          <a:ln/>
        </p:spPr>
        <p:txBody>
          <a:bodyPr wrap="square" lIns="0" tIns="0" rIns="0" bIns="0" rtlCol="0" anchor="ctr"/>
          <a:lstStyle/>
          <a:p>
            <a:pPr marL="0" indent="0">
              <a:buNone/>
            </a:pPr>
            <a:r>
              <a:rPr lang="en-US" sz="3800" b="1" dirty="0">
                <a:solidFill>
                  <a:srgbClr val="FFFFFF"/>
                </a:solidFill>
                <a:latin typeface="Tahoma" pitchFamily="34" charset="0"/>
                <a:ea typeface="Tahoma" pitchFamily="34" charset="-122"/>
                <a:cs typeface="Tahoma" pitchFamily="34" charset="-120"/>
              </a:rPr>
              <a:t>Key Takeaways</a:t>
            </a:r>
            <a:endParaRPr lang="en-US" sz="3800" dirty="0"/>
          </a:p>
        </p:txBody>
      </p:sp>
      <p:sp>
        <p:nvSpPr>
          <p:cNvPr id="4" name="Shape 2"/>
          <p:cNvSpPr/>
          <p:nvPr/>
        </p:nvSpPr>
        <p:spPr>
          <a:xfrm>
            <a:off x="731520" y="2103120"/>
            <a:ext cx="548640" cy="548640"/>
          </a:xfrm>
          <a:prstGeom prst="ellipse">
            <a:avLst/>
          </a:prstGeom>
          <a:solidFill>
            <a:srgbClr val="13233F"/>
          </a:solidFill>
          <a:ln w="12700">
            <a:solidFill>
              <a:srgbClr val="D9BE82"/>
            </a:solidFill>
            <a:prstDash val="solid"/>
          </a:ln>
        </p:spPr>
        <p:txBody>
          <a:bodyPr/>
          <a:lstStyle/>
          <a:p>
            <a:endParaRPr lang="en-TH"/>
          </a:p>
        </p:txBody>
      </p:sp>
      <p:sp>
        <p:nvSpPr>
          <p:cNvPr id="5" name="Text 3"/>
          <p:cNvSpPr txBox="1"/>
          <p:nvPr/>
        </p:nvSpPr>
        <p:spPr>
          <a:xfrm>
            <a:off x="731520" y="2103120"/>
            <a:ext cx="548640" cy="548640"/>
          </a:xfrm>
          <a:prstGeom prst="rect">
            <a:avLst/>
          </a:prstGeom>
          <a:noFill/>
          <a:ln/>
        </p:spPr>
        <p:txBody>
          <a:bodyPr wrap="square" lIns="0" tIns="0" rIns="0" bIns="0" rtlCol="0" anchor="ctr"/>
          <a:lstStyle/>
          <a:p>
            <a:pPr marL="0" indent="0" algn="ctr">
              <a:buNone/>
            </a:pPr>
            <a:r>
              <a:rPr lang="en-US" sz="1600" b="1" dirty="0">
                <a:solidFill>
                  <a:srgbClr val="D9BE82"/>
                </a:solidFill>
                <a:latin typeface="Tahoma" pitchFamily="34" charset="0"/>
                <a:ea typeface="Tahoma" pitchFamily="34" charset="-122"/>
                <a:cs typeface="Tahoma" pitchFamily="34" charset="-120"/>
              </a:rPr>
              <a:t>1</a:t>
            </a:r>
            <a:endParaRPr lang="en-US" sz="1600" dirty="0"/>
          </a:p>
        </p:txBody>
      </p:sp>
      <p:sp>
        <p:nvSpPr>
          <p:cNvPr id="6" name="Text 4"/>
          <p:cNvSpPr txBox="1"/>
          <p:nvPr/>
        </p:nvSpPr>
        <p:spPr>
          <a:xfrm>
            <a:off x="1508760" y="2066544"/>
            <a:ext cx="5760720" cy="365760"/>
          </a:xfrm>
          <a:prstGeom prst="rect">
            <a:avLst/>
          </a:prstGeom>
          <a:noFill/>
          <a:ln/>
        </p:spPr>
        <p:txBody>
          <a:bodyPr wrap="square" lIns="0" tIns="0" rIns="0" bIns="0" rtlCol="0" anchor="t"/>
          <a:lstStyle/>
          <a:p>
            <a:pPr marL="0" indent="0">
              <a:buNone/>
            </a:pPr>
            <a:r>
              <a:rPr lang="en-US" sz="1700" b="1" dirty="0">
                <a:solidFill>
                  <a:srgbClr val="FFFFFF"/>
                </a:solidFill>
                <a:latin typeface="Tahoma" pitchFamily="34" charset="0"/>
                <a:ea typeface="Tahoma" pitchFamily="34" charset="-122"/>
                <a:cs typeface="Tahoma" pitchFamily="34" charset="-120"/>
              </a:rPr>
              <a:t>EEM = automation บนอุปกรณ์</a:t>
            </a:r>
            <a:endParaRPr lang="en-US" sz="1700" dirty="0"/>
          </a:p>
        </p:txBody>
      </p:sp>
      <p:sp>
        <p:nvSpPr>
          <p:cNvPr id="7" name="Text 5"/>
          <p:cNvSpPr txBox="1"/>
          <p:nvPr/>
        </p:nvSpPr>
        <p:spPr>
          <a:xfrm>
            <a:off x="1508760" y="2450592"/>
            <a:ext cx="5760720" cy="640080"/>
          </a:xfrm>
          <a:prstGeom prst="rect">
            <a:avLst/>
          </a:prstGeom>
          <a:noFill/>
          <a:ln/>
        </p:spPr>
        <p:txBody>
          <a:bodyPr wrap="square" lIns="0" tIns="0" rIns="0" bIns="0" rtlCol="0" anchor="t"/>
          <a:lstStyle/>
          <a:p>
            <a:pPr marL="0" indent="0">
              <a:buNone/>
            </a:pPr>
            <a:r>
              <a:rPr lang="en-US" sz="1300" dirty="0">
                <a:solidFill>
                  <a:srgbClr val="C9D3E0"/>
                </a:solidFill>
                <a:latin typeface="Tahoma" pitchFamily="34" charset="0"/>
                <a:ea typeface="Tahoma" pitchFamily="34" charset="-122"/>
                <a:cs typeface="Tahoma" pitchFamily="34" charset="-120"/>
              </a:rPr>
              <a:t>event → action ทันที ไม่ต้องพึ่ง server — เหมาะกับ self-healing และเก็บหลักฐาน</a:t>
            </a:r>
            <a:endParaRPr lang="en-US" sz="1300" dirty="0"/>
          </a:p>
        </p:txBody>
      </p:sp>
      <p:sp>
        <p:nvSpPr>
          <p:cNvPr id="8" name="Shape 6"/>
          <p:cNvSpPr/>
          <p:nvPr/>
        </p:nvSpPr>
        <p:spPr>
          <a:xfrm>
            <a:off x="731520" y="3337560"/>
            <a:ext cx="548640" cy="548640"/>
          </a:xfrm>
          <a:prstGeom prst="ellipse">
            <a:avLst/>
          </a:prstGeom>
          <a:solidFill>
            <a:srgbClr val="13233F"/>
          </a:solidFill>
          <a:ln w="12700">
            <a:solidFill>
              <a:srgbClr val="D9BE82"/>
            </a:solidFill>
            <a:prstDash val="solid"/>
          </a:ln>
        </p:spPr>
        <p:txBody>
          <a:bodyPr/>
          <a:lstStyle/>
          <a:p>
            <a:endParaRPr lang="en-TH"/>
          </a:p>
        </p:txBody>
      </p:sp>
      <p:sp>
        <p:nvSpPr>
          <p:cNvPr id="9" name="Text 7"/>
          <p:cNvSpPr txBox="1"/>
          <p:nvPr/>
        </p:nvSpPr>
        <p:spPr>
          <a:xfrm>
            <a:off x="731520" y="3337560"/>
            <a:ext cx="548640" cy="548640"/>
          </a:xfrm>
          <a:prstGeom prst="rect">
            <a:avLst/>
          </a:prstGeom>
          <a:noFill/>
          <a:ln/>
        </p:spPr>
        <p:txBody>
          <a:bodyPr wrap="square" lIns="0" tIns="0" rIns="0" bIns="0" rtlCol="0" anchor="ctr"/>
          <a:lstStyle/>
          <a:p>
            <a:pPr marL="0" indent="0" algn="ctr">
              <a:buNone/>
            </a:pPr>
            <a:r>
              <a:rPr lang="en-US" sz="1600" b="1" dirty="0">
                <a:solidFill>
                  <a:srgbClr val="D9BE82"/>
                </a:solidFill>
                <a:latin typeface="Tahoma" pitchFamily="34" charset="0"/>
                <a:ea typeface="Tahoma" pitchFamily="34" charset="-122"/>
                <a:cs typeface="Tahoma" pitchFamily="34" charset="-120"/>
              </a:rPr>
              <a:t>2</a:t>
            </a:r>
            <a:endParaRPr lang="en-US" sz="1600" dirty="0"/>
          </a:p>
        </p:txBody>
      </p:sp>
      <p:sp>
        <p:nvSpPr>
          <p:cNvPr id="10" name="Text 8"/>
          <p:cNvSpPr txBox="1"/>
          <p:nvPr/>
        </p:nvSpPr>
        <p:spPr>
          <a:xfrm>
            <a:off x="1508760" y="3300984"/>
            <a:ext cx="5760720" cy="365760"/>
          </a:xfrm>
          <a:prstGeom prst="rect">
            <a:avLst/>
          </a:prstGeom>
          <a:noFill/>
          <a:ln/>
        </p:spPr>
        <p:txBody>
          <a:bodyPr wrap="square" lIns="0" tIns="0" rIns="0" bIns="0" rtlCol="0" anchor="t"/>
          <a:lstStyle/>
          <a:p>
            <a:pPr marL="0" indent="0">
              <a:buNone/>
            </a:pPr>
            <a:r>
              <a:rPr lang="en-US" sz="1700" b="1" dirty="0">
                <a:solidFill>
                  <a:srgbClr val="FFFFFF"/>
                </a:solidFill>
                <a:latin typeface="Tahoma" pitchFamily="34" charset="0"/>
                <a:ea typeface="Tahoma" pitchFamily="34" charset="-122"/>
                <a:cs typeface="Tahoma" pitchFamily="34" charset="-120"/>
              </a:rPr>
              <a:t>เลือก agent-based หรือ agentless ตามปลายทาง</a:t>
            </a:r>
            <a:endParaRPr lang="en-US" sz="1700" dirty="0"/>
          </a:p>
        </p:txBody>
      </p:sp>
      <p:sp>
        <p:nvSpPr>
          <p:cNvPr id="11" name="Text 9"/>
          <p:cNvSpPr txBox="1"/>
          <p:nvPr/>
        </p:nvSpPr>
        <p:spPr>
          <a:xfrm>
            <a:off x="1508760" y="3685032"/>
            <a:ext cx="5760720" cy="640080"/>
          </a:xfrm>
          <a:prstGeom prst="rect">
            <a:avLst/>
          </a:prstGeom>
          <a:noFill/>
          <a:ln/>
        </p:spPr>
        <p:txBody>
          <a:bodyPr wrap="square" lIns="0" tIns="0" rIns="0" bIns="0" rtlCol="0" anchor="t"/>
          <a:lstStyle/>
          <a:p>
            <a:pPr marL="0" indent="0">
              <a:buNone/>
            </a:pPr>
            <a:r>
              <a:rPr lang="en-US" sz="1300" dirty="0">
                <a:solidFill>
                  <a:srgbClr val="C9D3E0"/>
                </a:solidFill>
                <a:latin typeface="Tahoma" pitchFamily="34" charset="0"/>
                <a:ea typeface="Tahoma" pitchFamily="34" charset="-122"/>
                <a:cs typeface="Tahoma" pitchFamily="34" charset="-120"/>
              </a:rPr>
              <a:t>Puppet / Chef / Salt เหมาะกับ fleet ของ server; Ansible เหมาะกับ router / switch</a:t>
            </a:r>
            <a:endParaRPr lang="en-US" sz="1300" dirty="0"/>
          </a:p>
        </p:txBody>
      </p:sp>
      <p:sp>
        <p:nvSpPr>
          <p:cNvPr id="12" name="Shape 10"/>
          <p:cNvSpPr/>
          <p:nvPr/>
        </p:nvSpPr>
        <p:spPr>
          <a:xfrm>
            <a:off x="731520" y="4572000"/>
            <a:ext cx="548640" cy="548640"/>
          </a:xfrm>
          <a:prstGeom prst="ellipse">
            <a:avLst/>
          </a:prstGeom>
          <a:solidFill>
            <a:srgbClr val="13233F"/>
          </a:solidFill>
          <a:ln w="12700">
            <a:solidFill>
              <a:srgbClr val="D9BE82"/>
            </a:solidFill>
            <a:prstDash val="solid"/>
          </a:ln>
        </p:spPr>
        <p:txBody>
          <a:bodyPr/>
          <a:lstStyle/>
          <a:p>
            <a:endParaRPr lang="en-TH"/>
          </a:p>
        </p:txBody>
      </p:sp>
      <p:sp>
        <p:nvSpPr>
          <p:cNvPr id="13" name="Text 11"/>
          <p:cNvSpPr txBox="1"/>
          <p:nvPr/>
        </p:nvSpPr>
        <p:spPr>
          <a:xfrm>
            <a:off x="731520" y="4572000"/>
            <a:ext cx="548640" cy="548640"/>
          </a:xfrm>
          <a:prstGeom prst="rect">
            <a:avLst/>
          </a:prstGeom>
          <a:noFill/>
          <a:ln/>
        </p:spPr>
        <p:txBody>
          <a:bodyPr wrap="square" lIns="0" tIns="0" rIns="0" bIns="0" rtlCol="0" anchor="ctr"/>
          <a:lstStyle/>
          <a:p>
            <a:pPr marL="0" indent="0" algn="ctr">
              <a:buNone/>
            </a:pPr>
            <a:r>
              <a:rPr lang="en-US" sz="1600" b="1" dirty="0">
                <a:solidFill>
                  <a:srgbClr val="D9BE82"/>
                </a:solidFill>
                <a:latin typeface="Tahoma" pitchFamily="34" charset="0"/>
                <a:ea typeface="Tahoma" pitchFamily="34" charset="-122"/>
                <a:cs typeface="Tahoma" pitchFamily="34" charset="-120"/>
              </a:rPr>
              <a:t>3</a:t>
            </a:r>
            <a:endParaRPr lang="en-US" sz="1600" dirty="0"/>
          </a:p>
        </p:txBody>
      </p:sp>
      <p:sp>
        <p:nvSpPr>
          <p:cNvPr id="14" name="Text 12"/>
          <p:cNvSpPr txBox="1"/>
          <p:nvPr/>
        </p:nvSpPr>
        <p:spPr>
          <a:xfrm>
            <a:off x="1508760" y="4535424"/>
            <a:ext cx="5760720" cy="365760"/>
          </a:xfrm>
          <a:prstGeom prst="rect">
            <a:avLst/>
          </a:prstGeom>
          <a:noFill/>
          <a:ln/>
        </p:spPr>
        <p:txBody>
          <a:bodyPr wrap="square" lIns="0" tIns="0" rIns="0" bIns="0" rtlCol="0" anchor="t"/>
          <a:lstStyle/>
          <a:p>
            <a:pPr marL="0" indent="0">
              <a:buNone/>
            </a:pPr>
            <a:r>
              <a:rPr lang="en-US" sz="1700" b="1" dirty="0">
                <a:solidFill>
                  <a:srgbClr val="FFFFFF"/>
                </a:solidFill>
                <a:latin typeface="Tahoma" pitchFamily="34" charset="0"/>
                <a:ea typeface="Tahoma" pitchFamily="34" charset="-122"/>
                <a:cs typeface="Tahoma" pitchFamily="34" charset="-120"/>
              </a:rPr>
              <a:t>ใช้ร่วมกันได้ และยังต้องเข้าใจ control plane</a:t>
            </a:r>
            <a:endParaRPr lang="en-US" sz="1700" dirty="0"/>
          </a:p>
        </p:txBody>
      </p:sp>
      <p:sp>
        <p:nvSpPr>
          <p:cNvPr id="15" name="Text 13"/>
          <p:cNvSpPr txBox="1"/>
          <p:nvPr/>
        </p:nvSpPr>
        <p:spPr>
          <a:xfrm>
            <a:off x="1508760" y="4919472"/>
            <a:ext cx="5760720" cy="640080"/>
          </a:xfrm>
          <a:prstGeom prst="rect">
            <a:avLst/>
          </a:prstGeom>
          <a:noFill/>
          <a:ln/>
        </p:spPr>
        <p:txBody>
          <a:bodyPr wrap="square" lIns="0" tIns="0" rIns="0" bIns="0" rtlCol="0" anchor="t"/>
          <a:lstStyle/>
          <a:p>
            <a:pPr marL="0" indent="0">
              <a:buNone/>
            </a:pPr>
            <a:r>
              <a:rPr lang="en-US" sz="1300" dirty="0">
                <a:solidFill>
                  <a:srgbClr val="C9D3E0"/>
                </a:solidFill>
                <a:latin typeface="Tahoma" pitchFamily="34" charset="0"/>
                <a:ea typeface="Tahoma" pitchFamily="34" charset="-122"/>
                <a:cs typeface="Tahoma" pitchFamily="34" charset="-120"/>
              </a:rPr>
              <a:t>Ansible กำหนด desired state + EEM เฝ้าระวัง — แต่การวิเคราะห์ปัญหายังต้องใช้ความรู้ protocol</a:t>
            </a:r>
            <a:endParaRPr lang="en-US" sz="1300" dirty="0"/>
          </a:p>
        </p:txBody>
      </p:sp>
      <p:sp>
        <p:nvSpPr>
          <p:cNvPr id="16" name="Shape 14"/>
          <p:cNvSpPr/>
          <p:nvPr/>
        </p:nvSpPr>
        <p:spPr>
          <a:xfrm>
            <a:off x="8001000" y="1097280"/>
            <a:ext cx="3611880" cy="4480560"/>
          </a:xfrm>
          <a:prstGeom prst="roundRect">
            <a:avLst>
              <a:gd name="adj" fmla="val 3038"/>
            </a:avLst>
          </a:prstGeom>
          <a:solidFill>
            <a:srgbClr val="1B2F4F"/>
          </a:solidFill>
          <a:ln w="12700">
            <a:solidFill>
              <a:srgbClr val="1B2F4F"/>
            </a:solidFill>
            <a:prstDash val="solid"/>
          </a:ln>
        </p:spPr>
        <p:txBody>
          <a:bodyPr/>
          <a:lstStyle/>
          <a:p>
            <a:endParaRPr lang="en-TH"/>
          </a:p>
        </p:txBody>
      </p:sp>
      <p:pic>
        <p:nvPicPr>
          <p:cNvPr id="17" name="Image 0" descr="preencoded.png"/>
          <p:cNvPicPr>
            <a:picLocks noChangeAspect="1"/>
          </p:cNvPicPr>
          <p:nvPr/>
        </p:nvPicPr>
        <p:blipFill>
          <a:blip r:embed="rId3"/>
          <a:stretch>
            <a:fillRect/>
          </a:stretch>
        </p:blipFill>
        <p:spPr>
          <a:xfrm>
            <a:off x="9372600" y="1508760"/>
            <a:ext cx="868680" cy="868680"/>
          </a:xfrm>
          <a:prstGeom prst="rect">
            <a:avLst/>
          </a:prstGeom>
        </p:spPr>
      </p:pic>
      <p:sp>
        <p:nvSpPr>
          <p:cNvPr id="18" name="Text 15"/>
          <p:cNvSpPr txBox="1"/>
          <p:nvPr/>
        </p:nvSpPr>
        <p:spPr>
          <a:xfrm>
            <a:off x="8001000" y="2514600"/>
            <a:ext cx="3611880" cy="914400"/>
          </a:xfrm>
          <a:prstGeom prst="rect">
            <a:avLst/>
          </a:prstGeom>
          <a:noFill/>
          <a:ln/>
        </p:spPr>
        <p:txBody>
          <a:bodyPr wrap="square" lIns="0" tIns="0" rIns="0" bIns="0" rtlCol="0" anchor="ctr"/>
          <a:lstStyle/>
          <a:p>
            <a:pPr marL="0" indent="0" algn="ctr">
              <a:buNone/>
            </a:pPr>
            <a:r>
              <a:rPr lang="en-US" sz="5400" b="1" dirty="0">
                <a:solidFill>
                  <a:srgbClr val="FFFFFF"/>
                </a:solidFill>
                <a:latin typeface="Tahoma" pitchFamily="34" charset="0"/>
                <a:ea typeface="Tahoma" pitchFamily="34" charset="-122"/>
                <a:cs typeface="Tahoma" pitchFamily="34" charset="-120"/>
              </a:rPr>
              <a:t>Q &amp; A</a:t>
            </a:r>
            <a:endParaRPr lang="en-US" sz="5400" dirty="0"/>
          </a:p>
        </p:txBody>
      </p:sp>
      <p:sp>
        <p:nvSpPr>
          <p:cNvPr id="19" name="Text 16"/>
          <p:cNvSpPr txBox="1"/>
          <p:nvPr/>
        </p:nvSpPr>
        <p:spPr>
          <a:xfrm>
            <a:off x="8001000" y="3520440"/>
            <a:ext cx="3611880" cy="502920"/>
          </a:xfrm>
          <a:prstGeom prst="rect">
            <a:avLst/>
          </a:prstGeom>
          <a:noFill/>
          <a:ln/>
        </p:spPr>
        <p:txBody>
          <a:bodyPr wrap="square" lIns="0" tIns="0" rIns="0" bIns="0" rtlCol="0" anchor="ctr"/>
          <a:lstStyle/>
          <a:p>
            <a:pPr marL="0" indent="0" algn="ctr">
              <a:buNone/>
            </a:pPr>
            <a:r>
              <a:rPr lang="en-US" sz="2400" b="1" dirty="0">
                <a:solidFill>
                  <a:srgbClr val="D9BE82"/>
                </a:solidFill>
                <a:latin typeface="Tahoma" pitchFamily="34" charset="0"/>
                <a:ea typeface="Tahoma" pitchFamily="34" charset="-122"/>
                <a:cs typeface="Tahoma" pitchFamily="34" charset="-120"/>
              </a:rPr>
              <a:t>ขอบคุณ</a:t>
            </a:r>
            <a:endParaRPr lang="en-US" sz="2400" dirty="0"/>
          </a:p>
        </p:txBody>
      </p:sp>
      <p:sp>
        <p:nvSpPr>
          <p:cNvPr id="20" name="Text 17"/>
          <p:cNvSpPr txBox="1"/>
          <p:nvPr/>
        </p:nvSpPr>
        <p:spPr>
          <a:xfrm>
            <a:off x="8001000" y="4069080"/>
            <a:ext cx="3611880" cy="365760"/>
          </a:xfrm>
          <a:prstGeom prst="rect">
            <a:avLst/>
          </a:prstGeom>
          <a:noFill/>
          <a:ln/>
        </p:spPr>
        <p:txBody>
          <a:bodyPr wrap="square" lIns="0" tIns="0" rIns="0" bIns="0" rtlCol="0" anchor="ctr"/>
          <a:lstStyle/>
          <a:p>
            <a:pPr marL="0" indent="0" algn="ctr">
              <a:buNone/>
            </a:pPr>
            <a:r>
              <a:rPr lang="en-US" sz="1500" dirty="0">
                <a:solidFill>
                  <a:srgbClr val="C9D3E0"/>
                </a:solidFill>
                <a:latin typeface="Tahoma" pitchFamily="34" charset="0"/>
                <a:ea typeface="Tahoma" pitchFamily="34" charset="-122"/>
                <a:cs typeface="Tahoma" pitchFamily="34" charset="-120"/>
              </a:rPr>
              <a:t>คำถามและข้อเสนอแนะ</a:t>
            </a:r>
            <a:endParaRPr lang="en-US" sz="1500" dirty="0"/>
          </a:p>
        </p:txBody>
      </p:sp>
      <p:sp>
        <p:nvSpPr>
          <p:cNvPr id="21" name="Text 18"/>
          <p:cNvSpPr txBox="1"/>
          <p:nvPr/>
        </p:nvSpPr>
        <p:spPr>
          <a:xfrm>
            <a:off x="8001000" y="4846320"/>
            <a:ext cx="3611880" cy="320040"/>
          </a:xfrm>
          <a:prstGeom prst="rect">
            <a:avLst/>
          </a:prstGeom>
          <a:noFill/>
          <a:ln/>
        </p:spPr>
        <p:txBody>
          <a:bodyPr wrap="square" lIns="0" tIns="0" rIns="0" bIns="0" rtlCol="0" anchor="ctr"/>
          <a:lstStyle/>
          <a:p>
            <a:pPr marL="0" indent="0" algn="ctr">
              <a:buNone/>
            </a:pPr>
            <a:r>
              <a:rPr lang="en-US" sz="1100" dirty="0">
                <a:solidFill>
                  <a:srgbClr val="C9D3E0"/>
                </a:solidFill>
                <a:latin typeface="Tahoma" pitchFamily="34" charset="0"/>
                <a:ea typeface="Tahoma" pitchFamily="34" charset="-122"/>
                <a:cs typeface="Tahoma" pitchFamily="34" charset="-120"/>
              </a:rPr>
              <a:t>Cheat sheet: grp9-Automation-CheatSheet.pdf</a:t>
            </a:r>
            <a:endParaRPr lang="en-US" sz="1100" dirty="0"/>
          </a:p>
        </p:txBody>
      </p:sp>
      <p:sp>
        <p:nvSpPr>
          <p:cNvPr id="22" name="Text 19"/>
          <p:cNvSpPr txBox="1"/>
          <p:nvPr/>
        </p:nvSpPr>
        <p:spPr>
          <a:xfrm>
            <a:off x="731520" y="6172200"/>
            <a:ext cx="7315200" cy="274320"/>
          </a:xfrm>
          <a:prstGeom prst="rect">
            <a:avLst/>
          </a:prstGeom>
          <a:noFill/>
          <a:ln/>
        </p:spPr>
        <p:txBody>
          <a:bodyPr wrap="square" lIns="0" tIns="0" rIns="0" bIns="0" rtlCol="0" anchor="t"/>
          <a:lstStyle/>
          <a:p>
            <a:pPr marL="0" indent="0">
              <a:buNone/>
            </a:pPr>
            <a:r>
              <a:rPr lang="en-US" sz="1100" dirty="0">
                <a:solidFill>
                  <a:srgbClr val="C9D3E0"/>
                </a:solidFill>
                <a:latin typeface="Tahoma" pitchFamily="34" charset="0"/>
                <a:ea typeface="Tahoma" pitchFamily="34" charset="-122"/>
                <a:cs typeface="Tahoma" pitchFamily="34" charset="-120"/>
              </a:rPr>
              <a:t>CP353301 Internetworking  ·  Capstone Project Part I  ·  กลุ่ม 9</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Backup  ·  เตรียมตอบคำถาม</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คำถามที่คาดว่าจะถูกถาม</a:t>
            </a:r>
            <a:endParaRPr lang="en-US" sz="3000" dirty="0"/>
          </a:p>
        </p:txBody>
      </p:sp>
      <p:sp>
        <p:nvSpPr>
          <p:cNvPr id="4" name="Shape 2"/>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5" name="Text 3"/>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6" name="Shape 4"/>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7" name="Text 5"/>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8" name="Shape 6"/>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9" name="Text 7"/>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0" name="Shape 8"/>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1" name="Text 9"/>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2" name="Shape 10"/>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3" name="Text 11"/>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4" name="Shape 12"/>
          <p:cNvSpPr/>
          <p:nvPr/>
        </p:nvSpPr>
        <p:spPr>
          <a:xfrm>
            <a:off x="548640" y="1783080"/>
            <a:ext cx="5410048" cy="1389888"/>
          </a:xfrm>
          <a:prstGeom prst="roundRect">
            <a:avLst>
              <a:gd name="adj" fmla="val 5263"/>
            </a:avLst>
          </a:prstGeom>
          <a:solidFill>
            <a:srgbClr val="F3F5F8"/>
          </a:solidFill>
          <a:ln w="9525">
            <a:solidFill>
              <a:srgbClr val="D6DCE4"/>
            </a:solidFill>
            <a:prstDash val="solid"/>
          </a:ln>
        </p:spPr>
        <p:txBody>
          <a:bodyPr/>
          <a:lstStyle/>
          <a:p>
            <a:endParaRPr lang="en-TH"/>
          </a:p>
        </p:txBody>
      </p:sp>
      <p:sp>
        <p:nvSpPr>
          <p:cNvPr id="15" name="Shape 13"/>
          <p:cNvSpPr/>
          <p:nvPr/>
        </p:nvSpPr>
        <p:spPr>
          <a:xfrm>
            <a:off x="731520" y="1947672"/>
            <a:ext cx="420624" cy="420624"/>
          </a:xfrm>
          <a:prstGeom prst="roundRect">
            <a:avLst>
              <a:gd name="adj" fmla="val 13043"/>
            </a:avLst>
          </a:prstGeom>
          <a:solidFill>
            <a:srgbClr val="13233F"/>
          </a:solidFill>
          <a:ln w="12700">
            <a:solidFill>
              <a:srgbClr val="13233F"/>
            </a:solidFill>
            <a:prstDash val="solid"/>
          </a:ln>
        </p:spPr>
        <p:txBody>
          <a:bodyPr/>
          <a:lstStyle/>
          <a:p>
            <a:endParaRPr lang="en-TH"/>
          </a:p>
        </p:txBody>
      </p:sp>
      <p:sp>
        <p:nvSpPr>
          <p:cNvPr id="16" name="Text 14"/>
          <p:cNvSpPr txBox="1"/>
          <p:nvPr/>
        </p:nvSpPr>
        <p:spPr>
          <a:xfrm>
            <a:off x="731520" y="1947672"/>
            <a:ext cx="420624" cy="420624"/>
          </a:xfrm>
          <a:prstGeom prst="rect">
            <a:avLst/>
          </a:prstGeom>
          <a:noFill/>
          <a:ln/>
        </p:spPr>
        <p:txBody>
          <a:bodyPr wrap="square" lIns="0" tIns="0" rIns="0" bIns="0" rtlCol="0" anchor="ctr"/>
          <a:lstStyle/>
          <a:p>
            <a:pPr marL="0" indent="0" algn="ctr">
              <a:buNone/>
            </a:pPr>
            <a:r>
              <a:rPr lang="en-US" sz="1200" b="1" dirty="0">
                <a:solidFill>
                  <a:srgbClr val="D9BE82"/>
                </a:solidFill>
                <a:latin typeface="Tahoma" pitchFamily="34" charset="0"/>
                <a:ea typeface="Tahoma" pitchFamily="34" charset="-122"/>
                <a:cs typeface="Tahoma" pitchFamily="34" charset="-120"/>
              </a:rPr>
              <a:t>Q1</a:t>
            </a:r>
            <a:endParaRPr lang="en-US" sz="1200" dirty="0"/>
          </a:p>
        </p:txBody>
      </p:sp>
      <p:sp>
        <p:nvSpPr>
          <p:cNvPr id="17" name="Text 15"/>
          <p:cNvSpPr txBox="1"/>
          <p:nvPr/>
        </p:nvSpPr>
        <p:spPr>
          <a:xfrm>
            <a:off x="1298448" y="1929384"/>
            <a:ext cx="4495648" cy="457200"/>
          </a:xfrm>
          <a:prstGeom prst="rect">
            <a:avLst/>
          </a:prstGeom>
          <a:noFill/>
          <a:ln/>
        </p:spPr>
        <p:txBody>
          <a:bodyPr wrap="square" lIns="0" tIns="0" rIns="0" bIns="0" rtlCol="0" anchor="ctr"/>
          <a:lstStyle/>
          <a:p>
            <a:pPr marL="0" indent="0">
              <a:buNone/>
            </a:pPr>
            <a:r>
              <a:rPr lang="en-US" sz="1350" b="1" dirty="0">
                <a:solidFill>
                  <a:srgbClr val="13233F"/>
                </a:solidFill>
                <a:latin typeface="Tahoma" pitchFamily="34" charset="0"/>
                <a:ea typeface="Tahoma" pitchFamily="34" charset="-122"/>
                <a:cs typeface="Tahoma" pitchFamily="34" charset="-120"/>
              </a:rPr>
              <a:t>ทำไม R1 รู้ว่า neighbor ล่มช้ากว่า R2?</a:t>
            </a:r>
            <a:endParaRPr lang="en-US" sz="1350" dirty="0"/>
          </a:p>
        </p:txBody>
      </p:sp>
      <p:sp>
        <p:nvSpPr>
          <p:cNvPr id="18" name="Text 16"/>
          <p:cNvSpPr txBox="1"/>
          <p:nvPr/>
        </p:nvSpPr>
        <p:spPr>
          <a:xfrm>
            <a:off x="1298448" y="2404872"/>
            <a:ext cx="4495648" cy="713232"/>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R2 เห็น interface down จึงล้าง adjacency ทันที แต่ลิงก์ฝั่ง R1 ยัง up จึงต้องรอ Dead timer 40 วินาที (4 × Hello) — ลดเวลาได้ด้วย BFD (RFC 5880)</a:t>
            </a:r>
            <a:endParaRPr lang="en-US" sz="1150" dirty="0"/>
          </a:p>
        </p:txBody>
      </p:sp>
      <p:sp>
        <p:nvSpPr>
          <p:cNvPr id="19" name="Shape 17"/>
          <p:cNvSpPr/>
          <p:nvPr/>
        </p:nvSpPr>
        <p:spPr>
          <a:xfrm>
            <a:off x="6233008" y="1783080"/>
            <a:ext cx="5410048" cy="1389888"/>
          </a:xfrm>
          <a:prstGeom prst="roundRect">
            <a:avLst>
              <a:gd name="adj" fmla="val 5263"/>
            </a:avLst>
          </a:prstGeom>
          <a:solidFill>
            <a:srgbClr val="F3F5F8"/>
          </a:solidFill>
          <a:ln w="9525">
            <a:solidFill>
              <a:srgbClr val="D6DCE4"/>
            </a:solidFill>
            <a:prstDash val="solid"/>
          </a:ln>
        </p:spPr>
        <p:txBody>
          <a:bodyPr/>
          <a:lstStyle/>
          <a:p>
            <a:endParaRPr lang="en-TH"/>
          </a:p>
        </p:txBody>
      </p:sp>
      <p:sp>
        <p:nvSpPr>
          <p:cNvPr id="20" name="Shape 18"/>
          <p:cNvSpPr/>
          <p:nvPr/>
        </p:nvSpPr>
        <p:spPr>
          <a:xfrm>
            <a:off x="6415888" y="1947672"/>
            <a:ext cx="420624" cy="420624"/>
          </a:xfrm>
          <a:prstGeom prst="roundRect">
            <a:avLst>
              <a:gd name="adj" fmla="val 13043"/>
            </a:avLst>
          </a:prstGeom>
          <a:solidFill>
            <a:srgbClr val="13233F"/>
          </a:solidFill>
          <a:ln w="12700">
            <a:solidFill>
              <a:srgbClr val="13233F"/>
            </a:solidFill>
            <a:prstDash val="solid"/>
          </a:ln>
        </p:spPr>
        <p:txBody>
          <a:bodyPr/>
          <a:lstStyle/>
          <a:p>
            <a:endParaRPr lang="en-TH"/>
          </a:p>
        </p:txBody>
      </p:sp>
      <p:sp>
        <p:nvSpPr>
          <p:cNvPr id="21" name="Text 19"/>
          <p:cNvSpPr txBox="1"/>
          <p:nvPr/>
        </p:nvSpPr>
        <p:spPr>
          <a:xfrm>
            <a:off x="6415888" y="1947672"/>
            <a:ext cx="420624" cy="420624"/>
          </a:xfrm>
          <a:prstGeom prst="rect">
            <a:avLst/>
          </a:prstGeom>
          <a:noFill/>
          <a:ln/>
        </p:spPr>
        <p:txBody>
          <a:bodyPr wrap="square" lIns="0" tIns="0" rIns="0" bIns="0" rtlCol="0" anchor="ctr"/>
          <a:lstStyle/>
          <a:p>
            <a:pPr marL="0" indent="0" algn="ctr">
              <a:buNone/>
            </a:pPr>
            <a:r>
              <a:rPr lang="en-US" sz="1200" b="1" dirty="0">
                <a:solidFill>
                  <a:srgbClr val="D9BE82"/>
                </a:solidFill>
                <a:latin typeface="Tahoma" pitchFamily="34" charset="0"/>
                <a:ea typeface="Tahoma" pitchFamily="34" charset="-122"/>
                <a:cs typeface="Tahoma" pitchFamily="34" charset="-120"/>
              </a:rPr>
              <a:t>Q2</a:t>
            </a:r>
            <a:endParaRPr lang="en-US" sz="1200" dirty="0"/>
          </a:p>
        </p:txBody>
      </p:sp>
      <p:sp>
        <p:nvSpPr>
          <p:cNvPr id="22" name="Text 20"/>
          <p:cNvSpPr txBox="1"/>
          <p:nvPr/>
        </p:nvSpPr>
        <p:spPr>
          <a:xfrm>
            <a:off x="6982816" y="1929384"/>
            <a:ext cx="4495648" cy="457200"/>
          </a:xfrm>
          <a:prstGeom prst="rect">
            <a:avLst/>
          </a:prstGeom>
          <a:noFill/>
          <a:ln/>
        </p:spPr>
        <p:txBody>
          <a:bodyPr wrap="square" lIns="0" tIns="0" rIns="0" bIns="0" rtlCol="0" anchor="ctr"/>
          <a:lstStyle/>
          <a:p>
            <a:pPr marL="0" indent="0">
              <a:buNone/>
            </a:pPr>
            <a:r>
              <a:rPr lang="en-US" sz="1350" b="1" dirty="0">
                <a:solidFill>
                  <a:srgbClr val="13233F"/>
                </a:solidFill>
                <a:latin typeface="Tahoma" pitchFamily="34" charset="0"/>
                <a:ea typeface="Tahoma" pitchFamily="34" charset="-122"/>
                <a:cs typeface="Tahoma" pitchFamily="34" charset="-120"/>
              </a:rPr>
              <a:t>Control plane เปลี่ยนอย่างไรเมื่อกู้ลิงก์?</a:t>
            </a:r>
            <a:endParaRPr lang="en-US" sz="1350" dirty="0"/>
          </a:p>
        </p:txBody>
      </p:sp>
      <p:sp>
        <p:nvSpPr>
          <p:cNvPr id="23" name="Text 21"/>
          <p:cNvSpPr txBox="1"/>
          <p:nvPr/>
        </p:nvSpPr>
        <p:spPr>
          <a:xfrm>
            <a:off x="6982816" y="2404872"/>
            <a:ext cx="4495648" cy="713232"/>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Down → Init → 2-Way → ExStart → Exchange → Loading → Full แลก LSDB, รัน SPF แล้วติดตั้ง O 2.2.2.2 ลง RIB/FIB</a:t>
            </a:r>
            <a:endParaRPr lang="en-US" sz="1150" dirty="0"/>
          </a:p>
        </p:txBody>
      </p:sp>
      <p:sp>
        <p:nvSpPr>
          <p:cNvPr id="24" name="Shape 22"/>
          <p:cNvSpPr/>
          <p:nvPr/>
        </p:nvSpPr>
        <p:spPr>
          <a:xfrm>
            <a:off x="548640" y="3337560"/>
            <a:ext cx="5410048" cy="1389888"/>
          </a:xfrm>
          <a:prstGeom prst="roundRect">
            <a:avLst>
              <a:gd name="adj" fmla="val 5263"/>
            </a:avLst>
          </a:prstGeom>
          <a:solidFill>
            <a:srgbClr val="F3F5F8"/>
          </a:solidFill>
          <a:ln w="9525">
            <a:solidFill>
              <a:srgbClr val="D6DCE4"/>
            </a:solidFill>
            <a:prstDash val="solid"/>
          </a:ln>
        </p:spPr>
        <p:txBody>
          <a:bodyPr/>
          <a:lstStyle/>
          <a:p>
            <a:endParaRPr lang="en-TH"/>
          </a:p>
        </p:txBody>
      </p:sp>
      <p:sp>
        <p:nvSpPr>
          <p:cNvPr id="25" name="Shape 23"/>
          <p:cNvSpPr/>
          <p:nvPr/>
        </p:nvSpPr>
        <p:spPr>
          <a:xfrm>
            <a:off x="731520" y="3502152"/>
            <a:ext cx="420624" cy="420624"/>
          </a:xfrm>
          <a:prstGeom prst="roundRect">
            <a:avLst>
              <a:gd name="adj" fmla="val 13043"/>
            </a:avLst>
          </a:prstGeom>
          <a:solidFill>
            <a:srgbClr val="13233F"/>
          </a:solidFill>
          <a:ln w="12700">
            <a:solidFill>
              <a:srgbClr val="13233F"/>
            </a:solidFill>
            <a:prstDash val="solid"/>
          </a:ln>
        </p:spPr>
        <p:txBody>
          <a:bodyPr/>
          <a:lstStyle/>
          <a:p>
            <a:endParaRPr lang="en-TH"/>
          </a:p>
        </p:txBody>
      </p:sp>
      <p:sp>
        <p:nvSpPr>
          <p:cNvPr id="26" name="Text 24"/>
          <p:cNvSpPr txBox="1"/>
          <p:nvPr/>
        </p:nvSpPr>
        <p:spPr>
          <a:xfrm>
            <a:off x="731520" y="3502152"/>
            <a:ext cx="420624" cy="420624"/>
          </a:xfrm>
          <a:prstGeom prst="rect">
            <a:avLst/>
          </a:prstGeom>
          <a:noFill/>
          <a:ln/>
        </p:spPr>
        <p:txBody>
          <a:bodyPr wrap="square" lIns="0" tIns="0" rIns="0" bIns="0" rtlCol="0" anchor="ctr"/>
          <a:lstStyle/>
          <a:p>
            <a:pPr marL="0" indent="0" algn="ctr">
              <a:buNone/>
            </a:pPr>
            <a:r>
              <a:rPr lang="en-US" sz="1200" b="1" dirty="0">
                <a:solidFill>
                  <a:srgbClr val="D9BE82"/>
                </a:solidFill>
                <a:latin typeface="Tahoma" pitchFamily="34" charset="0"/>
                <a:ea typeface="Tahoma" pitchFamily="34" charset="-122"/>
                <a:cs typeface="Tahoma" pitchFamily="34" charset="-120"/>
              </a:rPr>
              <a:t>Q3</a:t>
            </a:r>
            <a:endParaRPr lang="en-US" sz="1200" dirty="0"/>
          </a:p>
        </p:txBody>
      </p:sp>
      <p:sp>
        <p:nvSpPr>
          <p:cNvPr id="27" name="Text 25"/>
          <p:cNvSpPr txBox="1"/>
          <p:nvPr/>
        </p:nvSpPr>
        <p:spPr>
          <a:xfrm>
            <a:off x="1298448" y="3483864"/>
            <a:ext cx="4495648" cy="457200"/>
          </a:xfrm>
          <a:prstGeom prst="rect">
            <a:avLst/>
          </a:prstGeom>
          <a:noFill/>
          <a:ln/>
        </p:spPr>
        <p:txBody>
          <a:bodyPr wrap="square" lIns="0" tIns="0" rIns="0" bIns="0" rtlCol="0" anchor="ctr"/>
          <a:lstStyle/>
          <a:p>
            <a:pPr marL="0" indent="0">
              <a:buNone/>
            </a:pPr>
            <a:r>
              <a:rPr lang="en-US" sz="1350" b="1" dirty="0">
                <a:solidFill>
                  <a:srgbClr val="13233F"/>
                </a:solidFill>
                <a:latin typeface="Tahoma" pitchFamily="34" charset="0"/>
                <a:ea typeface="Tahoma" pitchFamily="34" charset="-122"/>
                <a:cs typeface="Tahoma" pitchFamily="34" charset="-120"/>
              </a:rPr>
              <a:t>ทำไม applet มี “enable” และ “delete /force”?</a:t>
            </a:r>
            <a:endParaRPr lang="en-US" sz="1350" dirty="0"/>
          </a:p>
        </p:txBody>
      </p:sp>
      <p:sp>
        <p:nvSpPr>
          <p:cNvPr id="28" name="Text 26"/>
          <p:cNvSpPr txBox="1"/>
          <p:nvPr/>
        </p:nvSpPr>
        <p:spPr>
          <a:xfrm>
            <a:off x="1298448" y="3959352"/>
            <a:ext cx="4495648" cy="713232"/>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session ของ EEM เริ่มที่ user EXEC จึงต้อง enable ก่อน และ redirect จะถามยืนยันถ้ามีไฟล์เดิม ทำให้ applet ค้างจน abort (เจอจริงตอนซ้อม)</a:t>
            </a:r>
            <a:endParaRPr lang="en-US" sz="1150" dirty="0"/>
          </a:p>
        </p:txBody>
      </p:sp>
      <p:sp>
        <p:nvSpPr>
          <p:cNvPr id="29" name="Shape 27"/>
          <p:cNvSpPr/>
          <p:nvPr/>
        </p:nvSpPr>
        <p:spPr>
          <a:xfrm>
            <a:off x="6233008" y="3337560"/>
            <a:ext cx="5410048" cy="1389888"/>
          </a:xfrm>
          <a:prstGeom prst="roundRect">
            <a:avLst>
              <a:gd name="adj" fmla="val 5263"/>
            </a:avLst>
          </a:prstGeom>
          <a:solidFill>
            <a:srgbClr val="F3F5F8"/>
          </a:solidFill>
          <a:ln w="9525">
            <a:solidFill>
              <a:srgbClr val="D6DCE4"/>
            </a:solidFill>
            <a:prstDash val="solid"/>
          </a:ln>
        </p:spPr>
        <p:txBody>
          <a:bodyPr/>
          <a:lstStyle/>
          <a:p>
            <a:endParaRPr lang="en-TH"/>
          </a:p>
        </p:txBody>
      </p:sp>
      <p:sp>
        <p:nvSpPr>
          <p:cNvPr id="30" name="Shape 28"/>
          <p:cNvSpPr/>
          <p:nvPr/>
        </p:nvSpPr>
        <p:spPr>
          <a:xfrm>
            <a:off x="6415888" y="3502152"/>
            <a:ext cx="420624" cy="420624"/>
          </a:xfrm>
          <a:prstGeom prst="roundRect">
            <a:avLst>
              <a:gd name="adj" fmla="val 13043"/>
            </a:avLst>
          </a:prstGeom>
          <a:solidFill>
            <a:srgbClr val="13233F"/>
          </a:solidFill>
          <a:ln w="12700">
            <a:solidFill>
              <a:srgbClr val="13233F"/>
            </a:solidFill>
            <a:prstDash val="solid"/>
          </a:ln>
        </p:spPr>
        <p:txBody>
          <a:bodyPr/>
          <a:lstStyle/>
          <a:p>
            <a:endParaRPr lang="en-TH"/>
          </a:p>
        </p:txBody>
      </p:sp>
      <p:sp>
        <p:nvSpPr>
          <p:cNvPr id="31" name="Text 29"/>
          <p:cNvSpPr txBox="1"/>
          <p:nvPr/>
        </p:nvSpPr>
        <p:spPr>
          <a:xfrm>
            <a:off x="6415888" y="3502152"/>
            <a:ext cx="420624" cy="420624"/>
          </a:xfrm>
          <a:prstGeom prst="rect">
            <a:avLst/>
          </a:prstGeom>
          <a:noFill/>
          <a:ln/>
        </p:spPr>
        <p:txBody>
          <a:bodyPr wrap="square" lIns="0" tIns="0" rIns="0" bIns="0" rtlCol="0" anchor="ctr"/>
          <a:lstStyle/>
          <a:p>
            <a:pPr marL="0" indent="0" algn="ctr">
              <a:buNone/>
            </a:pPr>
            <a:r>
              <a:rPr lang="en-US" sz="1200" b="1" dirty="0">
                <a:solidFill>
                  <a:srgbClr val="D9BE82"/>
                </a:solidFill>
                <a:latin typeface="Tahoma" pitchFamily="34" charset="0"/>
                <a:ea typeface="Tahoma" pitchFamily="34" charset="-122"/>
                <a:cs typeface="Tahoma" pitchFamily="34" charset="-120"/>
              </a:rPr>
              <a:t>Q4</a:t>
            </a:r>
            <a:endParaRPr lang="en-US" sz="1200" dirty="0"/>
          </a:p>
        </p:txBody>
      </p:sp>
      <p:sp>
        <p:nvSpPr>
          <p:cNvPr id="32" name="Text 30"/>
          <p:cNvSpPr txBox="1"/>
          <p:nvPr/>
        </p:nvSpPr>
        <p:spPr>
          <a:xfrm>
            <a:off x="6982816" y="3483864"/>
            <a:ext cx="4495648" cy="457200"/>
          </a:xfrm>
          <a:prstGeom prst="rect">
            <a:avLst/>
          </a:prstGeom>
          <a:noFill/>
          <a:ln/>
        </p:spPr>
        <p:txBody>
          <a:bodyPr wrap="square" lIns="0" tIns="0" rIns="0" bIns="0" rtlCol="0" anchor="ctr"/>
          <a:lstStyle/>
          <a:p>
            <a:pPr marL="0" indent="0">
              <a:buNone/>
            </a:pPr>
            <a:r>
              <a:rPr lang="en-US" sz="1350" b="1" dirty="0">
                <a:solidFill>
                  <a:srgbClr val="13233F"/>
                </a:solidFill>
                <a:latin typeface="Tahoma" pitchFamily="34" charset="0"/>
                <a:ea typeface="Tahoma" pitchFamily="34" charset="-122"/>
                <a:cs typeface="Tahoma" pitchFamily="34" charset="-120"/>
              </a:rPr>
              <a:t>ทำไมต้อง wait 6 ก่อนเก็บ routing table?</a:t>
            </a:r>
            <a:endParaRPr lang="en-US" sz="1350" dirty="0"/>
          </a:p>
        </p:txBody>
      </p:sp>
      <p:sp>
        <p:nvSpPr>
          <p:cNvPr id="33" name="Text 31"/>
          <p:cNvSpPr txBox="1"/>
          <p:nvPr/>
        </p:nvSpPr>
        <p:spPr>
          <a:xfrm>
            <a:off x="6982816" y="3959352"/>
            <a:ext cx="4495648" cy="713232"/>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IOS หน่วง SPF ~5 วินาที (SPF throttle) ก่อนถอน route ถ้าเก็บทันทียังเห็น O 2.2.2.2 อยู่ (เจอจริงตอนซ้อม) · ratelimit 60 กันทำงานรัวตอน flap</a:t>
            </a:r>
            <a:endParaRPr lang="en-US" sz="1150" dirty="0"/>
          </a:p>
        </p:txBody>
      </p:sp>
      <p:sp>
        <p:nvSpPr>
          <p:cNvPr id="34" name="Shape 32"/>
          <p:cNvSpPr/>
          <p:nvPr/>
        </p:nvSpPr>
        <p:spPr>
          <a:xfrm>
            <a:off x="548640" y="4892040"/>
            <a:ext cx="5410048" cy="1389888"/>
          </a:xfrm>
          <a:prstGeom prst="roundRect">
            <a:avLst>
              <a:gd name="adj" fmla="val 5263"/>
            </a:avLst>
          </a:prstGeom>
          <a:solidFill>
            <a:srgbClr val="F3F5F8"/>
          </a:solidFill>
          <a:ln w="9525">
            <a:solidFill>
              <a:srgbClr val="D6DCE4"/>
            </a:solidFill>
            <a:prstDash val="solid"/>
          </a:ln>
        </p:spPr>
        <p:txBody>
          <a:bodyPr/>
          <a:lstStyle/>
          <a:p>
            <a:endParaRPr lang="en-TH"/>
          </a:p>
        </p:txBody>
      </p:sp>
      <p:sp>
        <p:nvSpPr>
          <p:cNvPr id="35" name="Shape 33"/>
          <p:cNvSpPr/>
          <p:nvPr/>
        </p:nvSpPr>
        <p:spPr>
          <a:xfrm>
            <a:off x="731520" y="5056632"/>
            <a:ext cx="420624" cy="420624"/>
          </a:xfrm>
          <a:prstGeom prst="roundRect">
            <a:avLst>
              <a:gd name="adj" fmla="val 13043"/>
            </a:avLst>
          </a:prstGeom>
          <a:solidFill>
            <a:srgbClr val="13233F"/>
          </a:solidFill>
          <a:ln w="12700">
            <a:solidFill>
              <a:srgbClr val="13233F"/>
            </a:solidFill>
            <a:prstDash val="solid"/>
          </a:ln>
        </p:spPr>
        <p:txBody>
          <a:bodyPr/>
          <a:lstStyle/>
          <a:p>
            <a:endParaRPr lang="en-TH"/>
          </a:p>
        </p:txBody>
      </p:sp>
      <p:sp>
        <p:nvSpPr>
          <p:cNvPr id="36" name="Text 34"/>
          <p:cNvSpPr txBox="1"/>
          <p:nvPr/>
        </p:nvSpPr>
        <p:spPr>
          <a:xfrm>
            <a:off x="731520" y="5056632"/>
            <a:ext cx="420624" cy="420624"/>
          </a:xfrm>
          <a:prstGeom prst="rect">
            <a:avLst/>
          </a:prstGeom>
          <a:noFill/>
          <a:ln/>
        </p:spPr>
        <p:txBody>
          <a:bodyPr wrap="square" lIns="0" tIns="0" rIns="0" bIns="0" rtlCol="0" anchor="ctr"/>
          <a:lstStyle/>
          <a:p>
            <a:pPr marL="0" indent="0" algn="ctr">
              <a:buNone/>
            </a:pPr>
            <a:r>
              <a:rPr lang="en-US" sz="1200" b="1" dirty="0">
                <a:solidFill>
                  <a:srgbClr val="D9BE82"/>
                </a:solidFill>
                <a:latin typeface="Tahoma" pitchFamily="34" charset="0"/>
                <a:ea typeface="Tahoma" pitchFamily="34" charset="-122"/>
                <a:cs typeface="Tahoma" pitchFamily="34" charset="-120"/>
              </a:rPr>
              <a:t>Q5</a:t>
            </a:r>
            <a:endParaRPr lang="en-US" sz="1200" dirty="0"/>
          </a:p>
        </p:txBody>
      </p:sp>
      <p:sp>
        <p:nvSpPr>
          <p:cNvPr id="37" name="Text 35"/>
          <p:cNvSpPr txBox="1"/>
          <p:nvPr/>
        </p:nvSpPr>
        <p:spPr>
          <a:xfrm>
            <a:off x="1298448" y="5038344"/>
            <a:ext cx="4495648" cy="457200"/>
          </a:xfrm>
          <a:prstGeom prst="rect">
            <a:avLst/>
          </a:prstGeom>
          <a:noFill/>
          <a:ln/>
        </p:spPr>
        <p:txBody>
          <a:bodyPr wrap="square" lIns="0" tIns="0" rIns="0" bIns="0" rtlCol="0" anchor="ctr"/>
          <a:lstStyle/>
          <a:p>
            <a:pPr marL="0" indent="0">
              <a:buNone/>
            </a:pPr>
            <a:r>
              <a:rPr lang="en-US" sz="1350" b="1" dirty="0">
                <a:solidFill>
                  <a:srgbClr val="13233F"/>
                </a:solidFill>
                <a:latin typeface="Tahoma" pitchFamily="34" charset="0"/>
                <a:ea typeface="Tahoma" pitchFamily="34" charset="-122"/>
                <a:cs typeface="Tahoma" pitchFamily="34" charset="-120"/>
              </a:rPr>
              <a:t>ทำไมไม่ใช้ ios_config สั่ง no shutdown?</a:t>
            </a:r>
            <a:endParaRPr lang="en-US" sz="1350" dirty="0"/>
          </a:p>
        </p:txBody>
      </p:sp>
      <p:sp>
        <p:nvSpPr>
          <p:cNvPr id="38" name="Text 36"/>
          <p:cNvSpPr txBox="1"/>
          <p:nvPr/>
        </p:nvSpPr>
        <p:spPr>
          <a:xfrm>
            <a:off x="1298448" y="5513832"/>
            <a:ext cx="4495648" cy="713232"/>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running-config ไม่แสดงบรรทัด “no shutdown” โมดูลจึงเห็นว่าต่างทุกครั้ง → changed ทุกรอบ (ไม่ idempotent)</a:t>
            </a:r>
            <a:endParaRPr lang="en-US" sz="1150" dirty="0"/>
          </a:p>
        </p:txBody>
      </p:sp>
      <p:sp>
        <p:nvSpPr>
          <p:cNvPr id="39" name="Shape 37"/>
          <p:cNvSpPr/>
          <p:nvPr/>
        </p:nvSpPr>
        <p:spPr>
          <a:xfrm>
            <a:off x="6233008" y="4892040"/>
            <a:ext cx="5410048" cy="1389888"/>
          </a:xfrm>
          <a:prstGeom prst="roundRect">
            <a:avLst>
              <a:gd name="adj" fmla="val 5263"/>
            </a:avLst>
          </a:prstGeom>
          <a:solidFill>
            <a:srgbClr val="F3F5F8"/>
          </a:solidFill>
          <a:ln w="9525">
            <a:solidFill>
              <a:srgbClr val="D6DCE4"/>
            </a:solidFill>
            <a:prstDash val="solid"/>
          </a:ln>
        </p:spPr>
        <p:txBody>
          <a:bodyPr/>
          <a:lstStyle/>
          <a:p>
            <a:endParaRPr lang="en-TH"/>
          </a:p>
        </p:txBody>
      </p:sp>
      <p:sp>
        <p:nvSpPr>
          <p:cNvPr id="40" name="Shape 38"/>
          <p:cNvSpPr/>
          <p:nvPr/>
        </p:nvSpPr>
        <p:spPr>
          <a:xfrm>
            <a:off x="6415888" y="5056632"/>
            <a:ext cx="420624" cy="420624"/>
          </a:xfrm>
          <a:prstGeom prst="roundRect">
            <a:avLst>
              <a:gd name="adj" fmla="val 13043"/>
            </a:avLst>
          </a:prstGeom>
          <a:solidFill>
            <a:srgbClr val="13233F"/>
          </a:solidFill>
          <a:ln w="12700">
            <a:solidFill>
              <a:srgbClr val="13233F"/>
            </a:solidFill>
            <a:prstDash val="solid"/>
          </a:ln>
        </p:spPr>
        <p:txBody>
          <a:bodyPr/>
          <a:lstStyle/>
          <a:p>
            <a:endParaRPr lang="en-TH"/>
          </a:p>
        </p:txBody>
      </p:sp>
      <p:sp>
        <p:nvSpPr>
          <p:cNvPr id="41" name="Text 39"/>
          <p:cNvSpPr txBox="1"/>
          <p:nvPr/>
        </p:nvSpPr>
        <p:spPr>
          <a:xfrm>
            <a:off x="6415888" y="5056632"/>
            <a:ext cx="420624" cy="420624"/>
          </a:xfrm>
          <a:prstGeom prst="rect">
            <a:avLst/>
          </a:prstGeom>
          <a:noFill/>
          <a:ln/>
        </p:spPr>
        <p:txBody>
          <a:bodyPr wrap="square" lIns="0" tIns="0" rIns="0" bIns="0" rtlCol="0" anchor="ctr"/>
          <a:lstStyle/>
          <a:p>
            <a:pPr marL="0" indent="0" algn="ctr">
              <a:buNone/>
            </a:pPr>
            <a:r>
              <a:rPr lang="en-US" sz="1200" b="1" dirty="0">
                <a:solidFill>
                  <a:srgbClr val="D9BE82"/>
                </a:solidFill>
                <a:latin typeface="Tahoma" pitchFamily="34" charset="0"/>
                <a:ea typeface="Tahoma" pitchFamily="34" charset="-122"/>
                <a:cs typeface="Tahoma" pitchFamily="34" charset="-120"/>
              </a:rPr>
              <a:t>Q6</a:t>
            </a:r>
            <a:endParaRPr lang="en-US" sz="1200" dirty="0"/>
          </a:p>
        </p:txBody>
      </p:sp>
      <p:sp>
        <p:nvSpPr>
          <p:cNvPr id="42" name="Text 40"/>
          <p:cNvSpPr txBox="1"/>
          <p:nvPr/>
        </p:nvSpPr>
        <p:spPr>
          <a:xfrm>
            <a:off x="6982816" y="5038344"/>
            <a:ext cx="4495648" cy="457200"/>
          </a:xfrm>
          <a:prstGeom prst="rect">
            <a:avLst/>
          </a:prstGeom>
          <a:noFill/>
          <a:ln/>
        </p:spPr>
        <p:txBody>
          <a:bodyPr wrap="square" lIns="0" tIns="0" rIns="0" bIns="0" rtlCol="0" anchor="ctr"/>
          <a:lstStyle/>
          <a:p>
            <a:pPr marL="0" indent="0">
              <a:buNone/>
            </a:pPr>
            <a:r>
              <a:rPr lang="en-US" sz="1350" b="1" dirty="0">
                <a:solidFill>
                  <a:srgbClr val="13233F"/>
                </a:solidFill>
                <a:latin typeface="Tahoma" pitchFamily="34" charset="0"/>
                <a:ea typeface="Tahoma" pitchFamily="34" charset="-122"/>
                <a:cs typeface="Tahoma" pitchFamily="34" charset="-120"/>
              </a:rPr>
              <a:t>EEM กับ Ansible ใช้ร่วมกันอย่างไร?</a:t>
            </a:r>
            <a:endParaRPr lang="en-US" sz="1350" dirty="0"/>
          </a:p>
        </p:txBody>
      </p:sp>
      <p:sp>
        <p:nvSpPr>
          <p:cNvPr id="43" name="Text 41"/>
          <p:cNvSpPr txBox="1"/>
          <p:nvPr/>
        </p:nvSpPr>
        <p:spPr>
          <a:xfrm>
            <a:off x="6982816" y="5513832"/>
            <a:ext cx="4495648" cy="713232"/>
          </a:xfrm>
          <a:prstGeom prst="rect">
            <a:avLst/>
          </a:prstGeom>
          <a:noFill/>
          <a:ln/>
        </p:spPr>
        <p:txBody>
          <a:bodyPr wrap="square" lIns="0" tIns="0" rIns="0" bIns="0" rtlCol="0" anchor="t"/>
          <a:lstStyle/>
          <a:p>
            <a:pPr marL="0" indent="0">
              <a:buNone/>
            </a:pPr>
            <a:r>
              <a:rPr lang="en-US" sz="1150" dirty="0">
                <a:solidFill>
                  <a:srgbClr val="1E2733"/>
                </a:solidFill>
                <a:latin typeface="Tahoma" pitchFamily="34" charset="0"/>
                <a:ea typeface="Tahoma" pitchFamily="34" charset="-122"/>
                <a:cs typeface="Tahoma" pitchFamily="34" charset="-120"/>
              </a:rPr>
              <a:t>EEM ตอบสนองทันทีในเครื่องและส่ง syslog → Event-Driven Ansible รับ event ไปแก้ไขหรือเปิด ticket ระดับเครือข่าย</a:t>
            </a:r>
            <a:endParaRPr lang="en-US" sz="1150" dirty="0"/>
          </a:p>
        </p:txBody>
      </p:sp>
      <p:sp>
        <p:nvSpPr>
          <p:cNvPr id="44" name="Text 42"/>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45" name="Text 43"/>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65760"/>
            <a:ext cx="8778240" cy="27432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Backup  ·  เอกสารอ้างอิง</a:t>
            </a:r>
            <a:endParaRPr lang="en-US" sz="1200" dirty="0"/>
          </a:p>
        </p:txBody>
      </p:sp>
      <p:sp>
        <p:nvSpPr>
          <p:cNvPr id="3" name="Text 1"/>
          <p:cNvSpPr txBox="1"/>
          <p:nvPr/>
        </p:nvSpPr>
        <p:spPr>
          <a:xfrm>
            <a:off x="548640" y="640080"/>
            <a:ext cx="9052560" cy="548640"/>
          </a:xfrm>
          <a:prstGeom prst="rect">
            <a:avLst/>
          </a:prstGeom>
          <a:noFill/>
          <a:ln/>
        </p:spPr>
        <p:txBody>
          <a:bodyPr wrap="square" lIns="0" tIns="0" rIns="0" bIns="0" rtlCol="0" anchor="ctr"/>
          <a:lstStyle/>
          <a:p>
            <a:pPr marL="0" indent="0">
              <a:buNone/>
            </a:pPr>
            <a:r>
              <a:rPr lang="en-US" sz="3000" b="1" dirty="0">
                <a:solidFill>
                  <a:srgbClr val="13233F"/>
                </a:solidFill>
                <a:latin typeface="Tahoma" pitchFamily="34" charset="0"/>
                <a:ea typeface="Tahoma" pitchFamily="34" charset="-122"/>
                <a:cs typeface="Tahoma" pitchFamily="34" charset="-120"/>
              </a:rPr>
              <a:t>แหล่งอ้างอิง</a:t>
            </a:r>
            <a:endParaRPr lang="en-US" sz="3000" dirty="0"/>
          </a:p>
        </p:txBody>
      </p:sp>
      <p:sp>
        <p:nvSpPr>
          <p:cNvPr id="4" name="Shape 2"/>
          <p:cNvSpPr/>
          <p:nvPr/>
        </p:nvSpPr>
        <p:spPr>
          <a:xfrm>
            <a:off x="9722815"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5" name="Text 3"/>
          <p:cNvSpPr txBox="1"/>
          <p:nvPr/>
        </p:nvSpPr>
        <p:spPr>
          <a:xfrm>
            <a:off x="9722815"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1</a:t>
            </a:r>
            <a:endParaRPr lang="en-US" sz="1100" dirty="0"/>
          </a:p>
        </p:txBody>
      </p:sp>
      <p:sp>
        <p:nvSpPr>
          <p:cNvPr id="6" name="Shape 4"/>
          <p:cNvSpPr/>
          <p:nvPr/>
        </p:nvSpPr>
        <p:spPr>
          <a:xfrm>
            <a:off x="10125151"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7" name="Text 5"/>
          <p:cNvSpPr txBox="1"/>
          <p:nvPr/>
        </p:nvSpPr>
        <p:spPr>
          <a:xfrm>
            <a:off x="10125151"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2</a:t>
            </a:r>
            <a:endParaRPr lang="en-US" sz="1100" dirty="0"/>
          </a:p>
        </p:txBody>
      </p:sp>
      <p:sp>
        <p:nvSpPr>
          <p:cNvPr id="8" name="Shape 6"/>
          <p:cNvSpPr/>
          <p:nvPr/>
        </p:nvSpPr>
        <p:spPr>
          <a:xfrm>
            <a:off x="10527487"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9" name="Text 7"/>
          <p:cNvSpPr txBox="1"/>
          <p:nvPr/>
        </p:nvSpPr>
        <p:spPr>
          <a:xfrm>
            <a:off x="10527487"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3</a:t>
            </a:r>
            <a:endParaRPr lang="en-US" sz="1100" dirty="0"/>
          </a:p>
        </p:txBody>
      </p:sp>
      <p:sp>
        <p:nvSpPr>
          <p:cNvPr id="10" name="Shape 8"/>
          <p:cNvSpPr/>
          <p:nvPr/>
        </p:nvSpPr>
        <p:spPr>
          <a:xfrm>
            <a:off x="10929823"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1" name="Text 9"/>
          <p:cNvSpPr txBox="1"/>
          <p:nvPr/>
        </p:nvSpPr>
        <p:spPr>
          <a:xfrm>
            <a:off x="10929823"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4</a:t>
            </a:r>
            <a:endParaRPr lang="en-US" sz="1100" dirty="0"/>
          </a:p>
        </p:txBody>
      </p:sp>
      <p:sp>
        <p:nvSpPr>
          <p:cNvPr id="12" name="Shape 10"/>
          <p:cNvSpPr/>
          <p:nvPr/>
        </p:nvSpPr>
        <p:spPr>
          <a:xfrm>
            <a:off x="11332159" y="384048"/>
            <a:ext cx="310896" cy="310896"/>
          </a:xfrm>
          <a:prstGeom prst="ellipse">
            <a:avLst/>
          </a:prstGeom>
          <a:solidFill>
            <a:srgbClr val="FFFFFF"/>
          </a:solidFill>
          <a:ln w="12700">
            <a:solidFill>
              <a:srgbClr val="D6DCE4"/>
            </a:solidFill>
            <a:prstDash val="solid"/>
          </a:ln>
        </p:spPr>
        <p:txBody>
          <a:bodyPr/>
          <a:lstStyle/>
          <a:p>
            <a:endParaRPr lang="en-TH"/>
          </a:p>
        </p:txBody>
      </p:sp>
      <p:sp>
        <p:nvSpPr>
          <p:cNvPr id="13" name="Text 11"/>
          <p:cNvSpPr txBox="1"/>
          <p:nvPr/>
        </p:nvSpPr>
        <p:spPr>
          <a:xfrm>
            <a:off x="11332159" y="384048"/>
            <a:ext cx="310896" cy="310896"/>
          </a:xfrm>
          <a:prstGeom prst="rect">
            <a:avLst/>
          </a:prstGeom>
          <a:noFill/>
          <a:ln/>
        </p:spPr>
        <p:txBody>
          <a:bodyPr wrap="square" lIns="0" tIns="0" rIns="0" bIns="0" rtlCol="0" anchor="ctr"/>
          <a:lstStyle/>
          <a:p>
            <a:pPr marL="0" indent="0" algn="ctr">
              <a:buNone/>
            </a:pPr>
            <a:r>
              <a:rPr lang="en-US" sz="1100" b="1" dirty="0">
                <a:solidFill>
                  <a:srgbClr val="5F6B7A"/>
                </a:solidFill>
                <a:latin typeface="Tahoma" pitchFamily="34" charset="0"/>
                <a:ea typeface="Tahoma" pitchFamily="34" charset="-122"/>
                <a:cs typeface="Tahoma" pitchFamily="34" charset="-120"/>
              </a:rPr>
              <a:t>5</a:t>
            </a:r>
            <a:endParaRPr lang="en-US" sz="1100" dirty="0"/>
          </a:p>
        </p:txBody>
      </p:sp>
      <p:sp>
        <p:nvSpPr>
          <p:cNvPr id="14" name="Shape 12"/>
          <p:cNvSpPr/>
          <p:nvPr/>
        </p:nvSpPr>
        <p:spPr>
          <a:xfrm>
            <a:off x="548640" y="1783080"/>
            <a:ext cx="548640" cy="548640"/>
          </a:xfrm>
          <a:prstGeom prst="ellipse">
            <a:avLst/>
          </a:prstGeom>
          <a:solidFill>
            <a:srgbClr val="13233F"/>
          </a:solidFill>
          <a:ln w="12700">
            <a:solidFill>
              <a:srgbClr val="13233F"/>
            </a:solidFill>
            <a:prstDash val="solid"/>
          </a:ln>
        </p:spPr>
        <p:txBody>
          <a:bodyPr/>
          <a:lstStyle/>
          <a:p>
            <a:endParaRPr lang="en-TH"/>
          </a:p>
        </p:txBody>
      </p:sp>
      <p:pic>
        <p:nvPicPr>
          <p:cNvPr id="15" name="Image 0" descr="preencoded.png"/>
          <p:cNvPicPr>
            <a:picLocks noChangeAspect="1"/>
          </p:cNvPicPr>
          <p:nvPr/>
        </p:nvPicPr>
        <p:blipFill>
          <a:blip r:embed="rId3"/>
          <a:stretch>
            <a:fillRect/>
          </a:stretch>
        </p:blipFill>
        <p:spPr>
          <a:xfrm>
            <a:off x="674827" y="1909267"/>
            <a:ext cx="296266" cy="296266"/>
          </a:xfrm>
          <a:prstGeom prst="rect">
            <a:avLst/>
          </a:prstGeom>
        </p:spPr>
      </p:pic>
      <p:sp>
        <p:nvSpPr>
          <p:cNvPr id="16" name="Text 13"/>
          <p:cNvSpPr txBox="1"/>
          <p:nvPr/>
        </p:nvSpPr>
        <p:spPr>
          <a:xfrm>
            <a:off x="1371600" y="1783080"/>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[1]</a:t>
            </a:r>
            <a:endParaRPr lang="en-US" sz="1200" dirty="0"/>
          </a:p>
        </p:txBody>
      </p:sp>
      <p:sp>
        <p:nvSpPr>
          <p:cNvPr id="17" name="Text 14"/>
          <p:cNvSpPr txBox="1"/>
          <p:nvPr/>
        </p:nvSpPr>
        <p:spPr>
          <a:xfrm>
            <a:off x="1828800" y="1783080"/>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Cisco Networking Academy. CCNP Enterprise: Core Networking — Chapter 29: Introduction to Automation Tools (Instructor Materials).</a:t>
            </a:r>
            <a:endParaRPr lang="en-US" sz="1200" dirty="0"/>
          </a:p>
        </p:txBody>
      </p:sp>
      <p:sp>
        <p:nvSpPr>
          <p:cNvPr id="18" name="Text 15"/>
          <p:cNvSpPr txBox="1"/>
          <p:nvPr/>
        </p:nvSpPr>
        <p:spPr>
          <a:xfrm>
            <a:off x="1371600" y="2267712"/>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[2]</a:t>
            </a:r>
            <a:endParaRPr lang="en-US" sz="1200" dirty="0"/>
          </a:p>
        </p:txBody>
      </p:sp>
      <p:sp>
        <p:nvSpPr>
          <p:cNvPr id="19" name="Text 16"/>
          <p:cNvSpPr txBox="1"/>
          <p:nvPr/>
        </p:nvSpPr>
        <p:spPr>
          <a:xfrm>
            <a:off x="1828800" y="2267712"/>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Edgeworth, B., Garza Rios, R., Gooley, J., &amp; Hucaby, D. CCNP and CCIE Enterprise Core ENCOR 350-401 Official Cert Guide. Cisco Press.</a:t>
            </a:r>
            <a:endParaRPr lang="en-US" sz="1200" dirty="0"/>
          </a:p>
        </p:txBody>
      </p:sp>
      <p:sp>
        <p:nvSpPr>
          <p:cNvPr id="20" name="Text 17"/>
          <p:cNvSpPr txBox="1"/>
          <p:nvPr/>
        </p:nvSpPr>
        <p:spPr>
          <a:xfrm>
            <a:off x="1371600" y="2752344"/>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[3]</a:t>
            </a:r>
            <a:endParaRPr lang="en-US" sz="1200" dirty="0"/>
          </a:p>
        </p:txBody>
      </p:sp>
      <p:sp>
        <p:nvSpPr>
          <p:cNvPr id="21" name="Text 18"/>
          <p:cNvSpPr txBox="1"/>
          <p:nvPr/>
        </p:nvSpPr>
        <p:spPr>
          <a:xfrm>
            <a:off x="1828800" y="2752344"/>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Cisco. System Management Configuration Guide, Cisco IOS XE 17.x — Embedded Event Manager Overview; Writing EEM Policies Using the Cisco IOS CLI.</a:t>
            </a:r>
            <a:endParaRPr lang="en-US" sz="1200" dirty="0"/>
          </a:p>
        </p:txBody>
      </p:sp>
      <p:sp>
        <p:nvSpPr>
          <p:cNvPr id="22" name="Text 19"/>
          <p:cNvSpPr txBox="1"/>
          <p:nvPr/>
        </p:nvSpPr>
        <p:spPr>
          <a:xfrm>
            <a:off x="1371600" y="3236976"/>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[4]</a:t>
            </a:r>
            <a:endParaRPr lang="en-US" sz="1200" dirty="0"/>
          </a:p>
        </p:txBody>
      </p:sp>
      <p:sp>
        <p:nvSpPr>
          <p:cNvPr id="23" name="Text 20"/>
          <p:cNvSpPr txBox="1"/>
          <p:nvPr/>
        </p:nvSpPr>
        <p:spPr>
          <a:xfrm>
            <a:off x="1828800" y="3236976"/>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Cisco. Troubleshoot and Test EEM Scripts (Document ID 217013) · EEM 4.0 Data Sheet · DevNet Sandbox: Cisco Modeling Labs.</a:t>
            </a:r>
            <a:endParaRPr lang="en-US" sz="1200" dirty="0"/>
          </a:p>
        </p:txBody>
      </p:sp>
      <p:sp>
        <p:nvSpPr>
          <p:cNvPr id="24" name="Text 21"/>
          <p:cNvSpPr txBox="1"/>
          <p:nvPr/>
        </p:nvSpPr>
        <p:spPr>
          <a:xfrm>
            <a:off x="1371600" y="3721608"/>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[5]</a:t>
            </a:r>
            <a:endParaRPr lang="en-US" sz="1200" dirty="0"/>
          </a:p>
        </p:txBody>
      </p:sp>
      <p:sp>
        <p:nvSpPr>
          <p:cNvPr id="25" name="Text 22"/>
          <p:cNvSpPr txBox="1"/>
          <p:nvPr/>
        </p:nvSpPr>
        <p:spPr>
          <a:xfrm>
            <a:off x="1828800" y="3721608"/>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Ansible Community Documentation — Network Automation (network_cli), cisco.ios collection · endoflife.date/ansible-core.</a:t>
            </a:r>
            <a:endParaRPr lang="en-US" sz="1200" dirty="0"/>
          </a:p>
        </p:txBody>
      </p:sp>
      <p:sp>
        <p:nvSpPr>
          <p:cNvPr id="26" name="Text 23"/>
          <p:cNvSpPr txBox="1"/>
          <p:nvPr/>
        </p:nvSpPr>
        <p:spPr>
          <a:xfrm>
            <a:off x="1371600" y="4206240"/>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[6]</a:t>
            </a:r>
            <a:endParaRPr lang="en-US" sz="1200" dirty="0"/>
          </a:p>
        </p:txBody>
      </p:sp>
      <p:sp>
        <p:nvSpPr>
          <p:cNvPr id="27" name="Text 24"/>
          <p:cNvSpPr txBox="1"/>
          <p:nvPr/>
        </p:nvSpPr>
        <p:spPr>
          <a:xfrm>
            <a:off x="1828800" y="4206240"/>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IETF RFC 2328 (OSPFv2), RFC 4251–4254 (SSH), RFC 5424 (Syslog), RFC 5880 (BFD), RFC 6241 (NETCONF), RFC 7950 (YANG 1.1), RFC 8040 (RESTCONF).</a:t>
            </a:r>
            <a:endParaRPr lang="en-US" sz="1200" dirty="0"/>
          </a:p>
        </p:txBody>
      </p:sp>
      <p:sp>
        <p:nvSpPr>
          <p:cNvPr id="28" name="Text 25"/>
          <p:cNvSpPr txBox="1"/>
          <p:nvPr/>
        </p:nvSpPr>
        <p:spPr>
          <a:xfrm>
            <a:off x="1371600" y="4690872"/>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[7]</a:t>
            </a:r>
            <a:endParaRPr lang="en-US" sz="1200" dirty="0"/>
          </a:p>
        </p:txBody>
      </p:sp>
      <p:sp>
        <p:nvSpPr>
          <p:cNvPr id="29" name="Text 26"/>
          <p:cNvSpPr txBox="1"/>
          <p:nvPr/>
        </p:nvSpPr>
        <p:spPr>
          <a:xfrm>
            <a:off x="1828800" y="4690872"/>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Vox Pupuli — OpenVox Project · Salt Project — Salt 3008 release notes · Progress — Introducing Chef Infra Client 19.</a:t>
            </a:r>
            <a:endParaRPr lang="en-US" sz="1200" dirty="0"/>
          </a:p>
        </p:txBody>
      </p:sp>
      <p:sp>
        <p:nvSpPr>
          <p:cNvPr id="30" name="Text 27"/>
          <p:cNvSpPr txBox="1"/>
          <p:nvPr/>
        </p:nvSpPr>
        <p:spPr>
          <a:xfrm>
            <a:off x="1371600" y="5175504"/>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[8]</a:t>
            </a:r>
            <a:endParaRPr lang="en-US" sz="1200" dirty="0"/>
          </a:p>
        </p:txBody>
      </p:sp>
      <p:sp>
        <p:nvSpPr>
          <p:cNvPr id="31" name="Text 28"/>
          <p:cNvSpPr txBox="1"/>
          <p:nvPr/>
        </p:nvSpPr>
        <p:spPr>
          <a:xfrm>
            <a:off x="1828800" y="5175504"/>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Gartner (18 Sep 2024). Gartner Says 30% of Enterprises Will Automate More Than Half of Their Network Activities by 2026.</a:t>
            </a:r>
            <a:endParaRPr lang="en-US" sz="1200" dirty="0"/>
          </a:p>
        </p:txBody>
      </p:sp>
      <p:sp>
        <p:nvSpPr>
          <p:cNvPr id="32" name="Text 29"/>
          <p:cNvSpPr txBox="1"/>
          <p:nvPr/>
        </p:nvSpPr>
        <p:spPr>
          <a:xfrm>
            <a:off x="1371600" y="5660136"/>
            <a:ext cx="457200" cy="411480"/>
          </a:xfrm>
          <a:prstGeom prst="rect">
            <a:avLst/>
          </a:prstGeom>
          <a:noFill/>
          <a:ln/>
        </p:spPr>
        <p:txBody>
          <a:bodyPr wrap="square" lIns="0" tIns="0" rIns="0" bIns="0" rtlCol="0" anchor="t"/>
          <a:lstStyle/>
          <a:p>
            <a:pPr marL="0" indent="0">
              <a:buNone/>
            </a:pPr>
            <a:r>
              <a:rPr lang="en-US" sz="1200" b="1" dirty="0">
                <a:solidFill>
                  <a:srgbClr val="A9812F"/>
                </a:solidFill>
                <a:latin typeface="Tahoma" pitchFamily="34" charset="0"/>
                <a:ea typeface="Tahoma" pitchFamily="34" charset="-122"/>
                <a:cs typeface="Tahoma" pitchFamily="34" charset="-120"/>
              </a:rPr>
              <a:t>[9]</a:t>
            </a:r>
            <a:endParaRPr lang="en-US" sz="1200" dirty="0"/>
          </a:p>
        </p:txBody>
      </p:sp>
      <p:sp>
        <p:nvSpPr>
          <p:cNvPr id="33" name="Text 30"/>
          <p:cNvSpPr txBox="1"/>
          <p:nvPr/>
        </p:nvSpPr>
        <p:spPr>
          <a:xfrm>
            <a:off x="1828800" y="5660136"/>
            <a:ext cx="9814255" cy="411480"/>
          </a:xfrm>
          <a:prstGeom prst="rect">
            <a:avLst/>
          </a:prstGeom>
          <a:noFill/>
          <a:ln/>
        </p:spPr>
        <p:txBody>
          <a:bodyPr wrap="square" lIns="0" tIns="0" rIns="0" bIns="0" rtlCol="0" anchor="t"/>
          <a:lstStyle/>
          <a:p>
            <a:pPr marL="0" indent="0">
              <a:buNone/>
            </a:pPr>
            <a:r>
              <a:rPr lang="en-US" sz="1200" dirty="0">
                <a:solidFill>
                  <a:srgbClr val="1E2733"/>
                </a:solidFill>
                <a:latin typeface="Tahoma" pitchFamily="34" charset="0"/>
                <a:ea typeface="Tahoma" pitchFamily="34" charset="-122"/>
                <a:cs typeface="Tahoma" pitchFamily="34" charset="-120"/>
              </a:rPr>
              <a:t>Cisco Blogs (Learning &amp; Certifications). CCNP Automation: A Renamed Certification, Reimagined.</a:t>
            </a:r>
            <a:endParaRPr lang="en-US" sz="1200" dirty="0"/>
          </a:p>
        </p:txBody>
      </p:sp>
      <p:sp>
        <p:nvSpPr>
          <p:cNvPr id="34" name="Text 31"/>
          <p:cNvSpPr txBox="1"/>
          <p:nvPr/>
        </p:nvSpPr>
        <p:spPr>
          <a:xfrm>
            <a:off x="548640" y="6428232"/>
            <a:ext cx="7315200" cy="228600"/>
          </a:xfrm>
          <a:prstGeom prst="rect">
            <a:avLst/>
          </a:prstGeom>
          <a:noFill/>
          <a:ln/>
        </p:spPr>
        <p:txBody>
          <a:bodyPr wrap="square" lIns="0" tIns="0" rIns="0" bIns="0" rtlCol="0" anchor="ctr"/>
          <a:lstStyle/>
          <a:p>
            <a:pPr marL="0" indent="0">
              <a:buNone/>
            </a:pPr>
            <a:r>
              <a:rPr lang="en-US" sz="900" dirty="0">
                <a:solidFill>
                  <a:srgbClr val="5F6B7A"/>
                </a:solidFill>
                <a:latin typeface="Tahoma" pitchFamily="34" charset="0"/>
                <a:ea typeface="Tahoma" pitchFamily="34" charset="-122"/>
                <a:cs typeface="Tahoma" pitchFamily="34" charset="-120"/>
              </a:rPr>
              <a:t>CP353301 Internetworking  ·  กลุ่ม 9  ·  Introduction to Automation Tools</a:t>
            </a:r>
            <a:endParaRPr lang="en-US" sz="900" dirty="0"/>
          </a:p>
        </p:txBody>
      </p:sp>
      <p:sp>
        <p:nvSpPr>
          <p:cNvPr id="35" name="Text 32"/>
          <p:cNvSpPr txBox="1"/>
          <p:nvPr/>
        </p:nvSpPr>
        <p:spPr>
          <a:xfrm>
            <a:off x="10728655" y="6428232"/>
            <a:ext cx="914400" cy="228600"/>
          </a:xfrm>
          <a:prstGeom prst="rect">
            <a:avLst/>
          </a:prstGeom>
          <a:noFill/>
          <a:ln/>
        </p:spPr>
        <p:txBody>
          <a:bodyPr wrap="square" lIns="0" tIns="0" rIns="0" bIns="0" rtlCol="0" anchor="ctr"/>
          <a:lstStyle/>
          <a:p>
            <a:pPr marL="0" indent="0" algn="r">
              <a:buNone/>
            </a:pPr>
            <a:r>
              <a:rPr lang="en-US" sz="900" dirty="0">
                <a:solidFill>
                  <a:srgbClr val="5F6B7A"/>
                </a:solidFill>
                <a:latin typeface="Tahoma" pitchFamily="34" charset="0"/>
                <a:ea typeface="Tahoma" pitchFamily="34" charset="-122"/>
                <a:cs typeface="Tahoma" pitchFamily="34" charset="-120"/>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708</TotalTime>
  <Words>8747</Words>
  <Application>Microsoft Macintosh PowerPoint</Application>
  <PresentationFormat>Widescreen</PresentationFormat>
  <Paragraphs>1086</Paragraphs>
  <Slides>27</Slides>
  <Notes>25</Notes>
  <HiddenSlides>1</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Courier New</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Automation Tools — Capstone Project Part I</dc:title>
  <dc:subject>EEM, Agent-Based and Agentless Automation Tools</dc:subject>
  <dc:creator>กลุ่ม 9 — CP353301 Internetworking</dc:creator>
  <cp:lastModifiedBy>Kriangkrai Prasert</cp:lastModifiedBy>
  <cp:revision>3</cp:revision>
  <dcterms:created xsi:type="dcterms:W3CDTF">2026-09-16T23:53:40Z</dcterms:created>
  <dcterms:modified xsi:type="dcterms:W3CDTF">2026-09-17T11:46:04Z</dcterms:modified>
</cp:coreProperties>
</file>